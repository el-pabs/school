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6" r:id="rId2"/>
    <p:sldId id="431" r:id="rId3"/>
    <p:sldId id="402" r:id="rId4"/>
    <p:sldId id="403" r:id="rId5"/>
    <p:sldId id="404" r:id="rId6"/>
    <p:sldId id="405" r:id="rId7"/>
    <p:sldId id="406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396" r:id="rId17"/>
    <p:sldId id="395" r:id="rId18"/>
    <p:sldId id="418" r:id="rId19"/>
    <p:sldId id="275" r:id="rId20"/>
    <p:sldId id="417" r:id="rId21"/>
    <p:sldId id="420" r:id="rId22"/>
    <p:sldId id="422" r:id="rId23"/>
    <p:sldId id="421" r:id="rId24"/>
    <p:sldId id="274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430" r:id="rId33"/>
    <p:sldId id="43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B4E7"/>
    <a:srgbClr val="C91317"/>
    <a:srgbClr val="2B2B2B"/>
    <a:srgbClr val="9E2E5A"/>
    <a:srgbClr val="D4641A"/>
    <a:srgbClr val="1573B6"/>
    <a:srgbClr val="243A9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95726" autoAdjust="0"/>
  </p:normalViewPr>
  <p:slideViewPr>
    <p:cSldViewPr snapToGrid="0">
      <p:cViewPr>
        <p:scale>
          <a:sx n="100" d="100"/>
          <a:sy n="100" d="100"/>
        </p:scale>
        <p:origin x="160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4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D3EB8-6AD6-4DF3-B16B-A9E0B517D683}" type="datetimeFigureOut">
              <a:rPr lang="fr-BE" smtClean="0"/>
              <a:t>26-05-25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2A0B0-4FDA-48D8-A9AB-C715A138D15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95977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AF6-C27A-47C0-BCF6-EC35CFE95046}" type="datetimeFigureOut">
              <a:rPr lang="fr-BE" smtClean="0"/>
              <a:t>26-05-25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2FF5F-0C64-4FEE-B2DF-F912BCEEA8E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68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29567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41292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0500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61202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3267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9010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869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A2E52712-542C-4861-8486-8C858B7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16969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l"/>
            <a:r>
              <a:rPr lang="fr-FR" sz="4000" b="1">
                <a:solidFill>
                  <a:srgbClr val="2B2B2B"/>
                </a:solidFill>
                <a:latin typeface="Roboto" panose="02000000000000000000" pitchFamily="2" charset="0"/>
              </a:rPr>
              <a:t>Modifiez le style du titre</a:t>
            </a:r>
            <a:endParaRPr lang="fr-BE" sz="4000" b="1" dirty="0">
              <a:solidFill>
                <a:srgbClr val="2B2B2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A9EC390-C245-44B2-9757-6A655C8E38EA}"/>
              </a:ext>
            </a:extLst>
          </p:cNvPr>
          <p:cNvSpPr/>
          <p:nvPr userDrawn="1"/>
        </p:nvSpPr>
        <p:spPr>
          <a:xfrm>
            <a:off x="1266825" y="3652838"/>
            <a:ext cx="101699" cy="101699"/>
          </a:xfrm>
          <a:prstGeom prst="ellipse">
            <a:avLst/>
          </a:prstGeom>
          <a:solidFill>
            <a:srgbClr val="C9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5B2A0E2-6813-486D-9BFB-68658524F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093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7" y="1898361"/>
            <a:ext cx="8539273" cy="407641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94AA50C-7222-461E-8AD0-4AEDB98C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DB69894-CF4A-49E7-AB8A-2E7987C06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28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825625"/>
            <a:ext cx="4094864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4286250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249BFAD-C788-41B2-BB4B-D7F32CD3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B86179-DD5C-452E-B116-146F34DEC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757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500" y="1819386"/>
            <a:ext cx="4094864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819386"/>
            <a:ext cx="4286249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027A339-3B89-4CDB-9455-030617AA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587D5F-FDBB-4EB1-A522-C7E11E30E6C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85750" y="2690037"/>
            <a:ext cx="4094864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56E0546-6F03-4C97-9834-2DAEDD20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690037"/>
            <a:ext cx="4286250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381CD9-00CC-417F-9EA9-ACF2A1414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653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00A9C74-3B0E-442F-9551-373DA2D7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CF80F7D-B5F8-4569-9F90-3912FF987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885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B3F24F-F9CE-48E5-8E78-0EAD4E00D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771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4020" y="1756064"/>
            <a:ext cx="3294999" cy="4112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0"/>
          </p:nvPr>
        </p:nvSpPr>
        <p:spPr>
          <a:xfrm>
            <a:off x="3782292" y="1756065"/>
            <a:ext cx="5077688" cy="4112924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 sz="1800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 sz="1400"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723936F-B140-4856-8235-EC2D80F4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B9BBB8-6FF0-4B19-ABA7-E48EDDA4C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443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6000" y="1776845"/>
            <a:ext cx="6572250" cy="40842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 i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1" y="1776845"/>
            <a:ext cx="1885950" cy="40921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43EE628-A185-4A6D-BE88-14EFD8F4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18CF9C-FA09-400B-8A6D-3B4F71D1C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79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142E7-FD62-4A3B-BA3B-F57F13E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CDE9CF-4445-4195-AB8F-98D37C850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7093D8-5537-49FE-9E58-DD113F96A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850" y="3109912"/>
            <a:ext cx="5553075" cy="63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120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DBFD8E-0DC8-4C60-850D-B6271FE2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10343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10DA80-EF2E-4A94-8BB7-3A6AF98E4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8475" y="60801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3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5EA5D-AC64-41C5-A86A-8CEC6C3E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062699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Mathématiques appliquées à l'informatique</a:t>
            </a:r>
            <a:endParaRPr lang="fr-BE" sz="4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893DFD-C04B-4489-8111-E1C33A2FF174}"/>
              </a:ext>
            </a:extLst>
          </p:cNvPr>
          <p:cNvSpPr txBox="1"/>
          <p:nvPr/>
        </p:nvSpPr>
        <p:spPr>
          <a:xfrm>
            <a:off x="1573427" y="3505200"/>
            <a:ext cx="7400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BA2 Informatique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Johan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Depréter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– johan.depreter@heh.be</a:t>
            </a:r>
            <a:endParaRPr lang="fr-B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3B3C02-371C-4836-9681-7DD0EFCB3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358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/>
          <a:lstStyle/>
          <a:p>
            <a:r>
              <a:rPr lang="fr-FR" sz="4400" dirty="0"/>
              <a:t>Complexité calculatoire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010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F98779C-0D69-47B8-A261-AF5D7EC8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C’est une instruction en langage de haut niveau</a:t>
            </a:r>
          </a:p>
          <a:p>
            <a:endParaRPr lang="fr-FR" dirty="0"/>
          </a:p>
          <a:p>
            <a:r>
              <a:rPr lang="fr-FR" dirty="0"/>
              <a:t>Elle représente un nombre constant d’opérations élémentaires exécutées par le processeur</a:t>
            </a:r>
          </a:p>
          <a:p>
            <a:endParaRPr lang="fr-FR" dirty="0"/>
          </a:p>
          <a:p>
            <a:r>
              <a:rPr lang="fr-FR" dirty="0"/>
              <a:t>Exemples :</a:t>
            </a:r>
          </a:p>
          <a:p>
            <a:pPr marL="457200" lvl="1" indent="0">
              <a:buNone/>
            </a:pPr>
            <a:r>
              <a:rPr lang="fr-FR" dirty="0"/>
              <a:t>Une affectation, une comparaison, un embranchement, une opération arithmétique, un accès à un tableau, un return, un appel de fonction, …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5EB700D-EC6C-4E56-B3BC-5E3267FA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 primitive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E90375-C3FE-45BF-8C75-CDB8199E1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7556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D576D3C-2E8A-4A17-9854-E9023A50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655805"/>
            <a:ext cx="8539273" cy="4318968"/>
          </a:xfrm>
        </p:spPr>
        <p:txBody>
          <a:bodyPr/>
          <a:lstStyle/>
          <a:p>
            <a:r>
              <a:rPr lang="fr-FR" dirty="0"/>
              <a:t>On peut imaginer qu’une opération primitive se fait en 1 nanoseconde.</a:t>
            </a:r>
          </a:p>
          <a:p>
            <a:endParaRPr lang="fr-FR" dirty="0"/>
          </a:p>
          <a:p>
            <a:r>
              <a:rPr lang="fr-FR" dirty="0"/>
              <a:t>Si n = 1000 combien de temps prend le programme pour s’exécuter en fonction de f(n)</a:t>
            </a:r>
          </a:p>
          <a:p>
            <a:endParaRPr lang="fr-FR" dirty="0"/>
          </a:p>
          <a:p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D33C344-D76D-49EE-B23B-EA80B434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Temps d’exécution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708F2E-273A-4167-B2FC-AA13347B1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4</a:t>
            </a:fld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4AECA5B4-1E9D-458C-BD6F-128EBA441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6541687"/>
                  </p:ext>
                </p:extLst>
              </p:nvPr>
            </p:nvGraphicFramePr>
            <p:xfrm>
              <a:off x="1524000" y="3936567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62331975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6393977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F(n)</a:t>
                          </a:r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Temps</a:t>
                          </a:r>
                          <a:endParaRPr lang="fr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083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n</a:t>
                          </a:r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0.000 001 s</a:t>
                          </a:r>
                          <a:endParaRPr lang="fr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5959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400 n</a:t>
                          </a:r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0.000 4 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602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0.002 s</a:t>
                          </a:r>
                          <a:endParaRPr lang="fr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4306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BE" dirty="0"/>
                            <a:t>≈ 11.5 jours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8440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4AECA5B4-1E9D-458C-BD6F-128EBA441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6541687"/>
                  </p:ext>
                </p:extLst>
              </p:nvPr>
            </p:nvGraphicFramePr>
            <p:xfrm>
              <a:off x="1524000" y="3936567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362331975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6393977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F(n)</a:t>
                          </a:r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Temps</a:t>
                          </a:r>
                          <a:endParaRPr lang="fr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083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n</a:t>
                          </a:r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0.000 001 s</a:t>
                          </a:r>
                          <a:endParaRPr lang="fr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5959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400 n</a:t>
                          </a:r>
                          <a:endParaRPr lang="fr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0.000 4 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602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00" t="-306557" r="-101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0.002 s</a:t>
                          </a:r>
                          <a:endParaRPr lang="fr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4306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00" t="-406557" r="-101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BE" dirty="0"/>
                            <a:t>≈ 11.5 jours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8440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03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C9AC2BD-A99E-45B2-9E94-9459C6B5F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67481"/>
            <a:ext cx="8539273" cy="4607292"/>
          </a:xfrm>
        </p:spPr>
        <p:txBody>
          <a:bodyPr/>
          <a:lstStyle/>
          <a:p>
            <a:r>
              <a:rPr lang="fr-FR" dirty="0"/>
              <a:t>Prenons un exemple concret.</a:t>
            </a:r>
          </a:p>
          <a:p>
            <a:endParaRPr lang="fr-BE" dirty="0"/>
          </a:p>
          <a:p>
            <a:pPr marL="0" indent="0">
              <a:buNone/>
            </a:pPr>
            <a:r>
              <a:rPr lang="fr-BE" dirty="0"/>
              <a:t>On a un algorithme suivant qui permet de renvoyer le premier entier négatif d’une liste de n entiers.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Il se passe quoi si A vaut [-1]; [2,4,-3,6]; [5,9,4,7,-8]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FBA14E9-4A82-4CDE-95E8-360CEE89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Notions de cas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44D9CA-2FA0-4A3F-A49C-9BF643B14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5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8A6BD9-5919-4201-A92E-CAD729BCC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975" y="3138014"/>
            <a:ext cx="2790050" cy="196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6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9219462-68A4-4F2E-941A-08B1FA682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instances sont importantes pour l’efficacité des algorithmes.</a:t>
            </a:r>
          </a:p>
          <a:p>
            <a:endParaRPr lang="fr-FR" dirty="0"/>
          </a:p>
          <a:p>
            <a:r>
              <a:rPr lang="fr-FR" dirty="0"/>
              <a:t>Infinité d’instances</a:t>
            </a:r>
          </a:p>
          <a:p>
            <a:endParaRPr lang="fr-FR" dirty="0"/>
          </a:p>
          <a:p>
            <a:r>
              <a:rPr lang="fr-FR" dirty="0"/>
              <a:t>On va classer selon si on est dans le meilleur, pire, moyen cas.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02564E9-16DB-43CE-936D-D9599611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instances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E7BCF4-77BA-4E04-8B9D-9E358725E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720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203F81D-8B94-4901-9AB0-5E1829AFE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cs typeface="Arial" panose="020B0604020202020204" pitchFamily="34" charset="0"/>
              </a:rPr>
              <a:t>Toujours considérer des problèmes d’une même taille</a:t>
            </a:r>
          </a:p>
          <a:p>
            <a:endParaRPr lang="fr-FR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tx1"/>
                </a:solidFill>
                <a:cs typeface="Arial" panose="020B0604020202020204" pitchFamily="34" charset="0"/>
              </a:rPr>
              <a:t>Travailler avec des données spécifiques</a:t>
            </a:r>
          </a:p>
          <a:p>
            <a:endParaRPr lang="fr-FR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tx1"/>
                </a:solidFill>
                <a:cs typeface="Arial" panose="020B0604020202020204" pitchFamily="34" charset="0"/>
              </a:rPr>
              <a:t>Chercher les limites : </a:t>
            </a:r>
          </a:p>
          <a:p>
            <a:pPr marL="457200" lvl="1" indent="0">
              <a:buNone/>
            </a:pPr>
            <a:r>
              <a:rPr lang="fr-BE" dirty="0">
                <a:solidFill>
                  <a:schemeClr val="tx1"/>
                </a:solidFill>
                <a:cs typeface="Arial" panose="020B0604020202020204" pitchFamily="34" charset="0"/>
              </a:rPr>
              <a:t>Exemples de petites tailles ;</a:t>
            </a:r>
          </a:p>
          <a:p>
            <a:pPr marL="457200" lvl="1" indent="0">
              <a:buNone/>
            </a:pPr>
            <a:r>
              <a:rPr lang="fr-BE" dirty="0">
                <a:solidFill>
                  <a:schemeClr val="tx1"/>
                </a:solidFill>
                <a:cs typeface="Arial" panose="020B0604020202020204" pitchFamily="34" charset="0"/>
              </a:rPr>
              <a:t>Cas d’égalité ;</a:t>
            </a:r>
          </a:p>
          <a:p>
            <a:pPr marL="457200" lvl="1" indent="0">
              <a:buNone/>
            </a:pPr>
            <a:r>
              <a:rPr lang="fr-BE" dirty="0">
                <a:solidFill>
                  <a:schemeClr val="tx1"/>
                </a:solidFill>
                <a:cs typeface="Arial" panose="020B0604020202020204" pitchFamily="34" charset="0"/>
              </a:rPr>
              <a:t>Très grands, très petits, déjà trié en sens inverse, que des valeurs négatives, </a:t>
            </a:r>
            <a:r>
              <a:rPr lang="fr-BE" dirty="0" err="1">
                <a:solidFill>
                  <a:schemeClr val="tx1"/>
                </a:solidFill>
                <a:cs typeface="Arial" panose="020B0604020202020204" pitchFamily="34" charset="0"/>
              </a:rPr>
              <a:t>etc</a:t>
            </a:r>
            <a:endParaRPr lang="fr-BE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183E522-5179-4A0C-907C-1F4A67AC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Identifier le pire cas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63CDDE-5ED5-49EE-8A9D-E573CA0AE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2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67B8E57-4C58-471B-99E6-D0AA02C8D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898361"/>
            <a:ext cx="4063553" cy="4076412"/>
          </a:xfrm>
        </p:spPr>
        <p:txBody>
          <a:bodyPr/>
          <a:lstStyle/>
          <a:p>
            <a:pPr marL="0" indent="0" algn="l">
              <a:buNone/>
            </a:pPr>
            <a:r>
              <a:rPr lang="fr-BE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Algorithme : </a:t>
            </a:r>
            <a:r>
              <a:rPr lang="fr-BE" sz="1800" b="0" i="0" u="none" strike="noStrike" baseline="0" dirty="0" err="1">
                <a:solidFill>
                  <a:srgbClr val="000000"/>
                </a:solidFill>
                <a:latin typeface="LMSans10-Regular-Identity-H"/>
              </a:rPr>
              <a:t>arrayMax</a:t>
            </a:r>
            <a:endParaRPr lang="fr-BE" sz="1800" b="0" i="0" u="none" strike="noStrike" baseline="0" dirty="0">
              <a:solidFill>
                <a:srgbClr val="000000"/>
              </a:solidFill>
              <a:latin typeface="LMSans10-Regular-Identity-H"/>
            </a:endParaRPr>
          </a:p>
          <a:p>
            <a:pPr marL="0" indent="0" algn="l">
              <a:buNone/>
            </a:pPr>
            <a:r>
              <a:rPr lang="fr-FR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Entrée :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A 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LMSans10-Regular-Identity-H"/>
              </a:rPr>
              <a:t>un tableau de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n 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LMSans10-Regular-Identity-H"/>
              </a:rPr>
              <a:t>entiers (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n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MathItalic10-Regular"/>
              </a:rPr>
              <a:t>&gt; 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10-Regular-Identity-H"/>
              </a:rPr>
              <a:t>0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LMSans10-Regular-Identity-H"/>
              </a:rPr>
              <a:t>)</a:t>
            </a:r>
          </a:p>
          <a:p>
            <a:pPr marL="0" indent="0" algn="l">
              <a:buNone/>
            </a:pPr>
            <a:r>
              <a:rPr lang="fr-FR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Sortie : 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LMSans10-Regular-Identity-H"/>
              </a:rPr>
              <a:t>La valeur maximale dans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A</a:t>
            </a:r>
          </a:p>
          <a:p>
            <a:pPr marL="0" indent="0" algn="l">
              <a:buNone/>
            </a:pPr>
            <a:r>
              <a:rPr lang="fr-FR" sz="1800" b="0" i="1" u="none" strike="noStrike" baseline="0" dirty="0" err="1">
                <a:solidFill>
                  <a:srgbClr val="2F6C9C"/>
                </a:solidFill>
                <a:latin typeface="LMSans10-Oblique-Identity-H"/>
              </a:rPr>
              <a:t>currentMax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MathSymbols10-Regular"/>
              </a:rPr>
              <a:t>←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A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10-Regular"/>
              </a:rPr>
              <a:t>[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10-Regular-Identity-H"/>
              </a:rPr>
              <a:t>0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10-Regular"/>
              </a:rPr>
              <a:t>]</a:t>
            </a:r>
          </a:p>
          <a:p>
            <a:pPr marL="0" indent="0" algn="l">
              <a:buNone/>
            </a:pPr>
            <a:r>
              <a:rPr lang="pt-BR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for 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i 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MathSymbols10-Regular"/>
              </a:rPr>
              <a:t>←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10-Regular-Identity-H"/>
              </a:rPr>
              <a:t>1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to 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n 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MathSymbols10-Regular"/>
              </a:rPr>
              <a:t>−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10-Regular-Identity-H"/>
              </a:rPr>
              <a:t>1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do</a:t>
            </a:r>
          </a:p>
          <a:p>
            <a:pPr marL="0" indent="0" algn="l">
              <a:buNone/>
            </a:pPr>
            <a:r>
              <a:rPr lang="pt-BR" sz="1800" b="1" dirty="0">
                <a:solidFill>
                  <a:srgbClr val="000000"/>
                </a:solidFill>
                <a:latin typeface="LMSans10-Bold-Identity-H"/>
              </a:rPr>
              <a:t>	</a:t>
            </a:r>
            <a:r>
              <a:rPr lang="fr-BE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if </a:t>
            </a:r>
            <a:r>
              <a:rPr lang="fr-BE" sz="1800" b="0" i="1" u="none" strike="noStrike" baseline="0" dirty="0" err="1">
                <a:solidFill>
                  <a:srgbClr val="2F6C9C"/>
                </a:solidFill>
                <a:latin typeface="LMSans10-Oblique-Identity-H"/>
              </a:rPr>
              <a:t>currentMax</a:t>
            </a:r>
            <a:r>
              <a:rPr lang="fr-BE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 </a:t>
            </a:r>
            <a:r>
              <a:rPr lang="fr-BE" sz="1800" b="0" i="1" u="none" strike="noStrike" baseline="0" dirty="0">
                <a:solidFill>
                  <a:srgbClr val="2F6C9C"/>
                </a:solidFill>
                <a:latin typeface="LMMathItalic10-Regular"/>
              </a:rPr>
              <a:t>&lt; </a:t>
            </a:r>
            <a:r>
              <a:rPr lang="fr-BE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A</a:t>
            </a:r>
            <a:r>
              <a:rPr lang="fr-BE" sz="1800" b="0" i="0" u="none" strike="noStrike" baseline="0" dirty="0">
                <a:solidFill>
                  <a:srgbClr val="2F6C9C"/>
                </a:solidFill>
                <a:latin typeface="LMSans10-Regular"/>
              </a:rPr>
              <a:t>[</a:t>
            </a:r>
            <a:r>
              <a:rPr lang="fr-BE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i</a:t>
            </a:r>
            <a:r>
              <a:rPr lang="fr-BE" sz="1800" b="0" i="0" u="none" strike="noStrike" baseline="0" dirty="0">
                <a:solidFill>
                  <a:srgbClr val="2F6C9C"/>
                </a:solidFill>
                <a:latin typeface="LMSans10-Regular"/>
              </a:rPr>
              <a:t>] </a:t>
            </a:r>
            <a:r>
              <a:rPr lang="fr-BE" sz="1800" b="1" i="0" u="none" strike="noStrike" baseline="0" dirty="0" err="1">
                <a:solidFill>
                  <a:srgbClr val="000000"/>
                </a:solidFill>
                <a:latin typeface="LMSans10-Bold-Identity-H"/>
              </a:rPr>
              <a:t>then</a:t>
            </a:r>
            <a:r>
              <a:rPr lang="fr-BE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 </a:t>
            </a:r>
            <a:endParaRPr lang="fr-BE" sz="1800" b="1" dirty="0">
              <a:solidFill>
                <a:srgbClr val="000000"/>
              </a:solidFill>
              <a:latin typeface="LMSans10-Bold-Identity-H"/>
            </a:endParaRPr>
          </a:p>
          <a:p>
            <a:pPr marL="0" indent="0" algn="l">
              <a:buNone/>
            </a:pPr>
            <a:r>
              <a:rPr lang="fr-BE" sz="1800" b="1" i="1" u="none" strike="noStrike" baseline="0" dirty="0">
                <a:solidFill>
                  <a:srgbClr val="000000"/>
                </a:solidFill>
                <a:latin typeface="LMSans10-Bold-Identity-H"/>
              </a:rPr>
              <a:t>		</a:t>
            </a:r>
            <a:r>
              <a:rPr lang="fr-FR" sz="1800" b="0" i="1" u="none" strike="noStrike" baseline="0" dirty="0" err="1">
                <a:solidFill>
                  <a:srgbClr val="2F6C9C"/>
                </a:solidFill>
                <a:latin typeface="LMSans10-Oblique-Identity-H"/>
              </a:rPr>
              <a:t>currentMax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MathSymbols10-Regular"/>
              </a:rPr>
              <a:t>←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A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10-Regular"/>
              </a:rPr>
              <a:t>[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i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10-Regular"/>
              </a:rPr>
              <a:t>] </a:t>
            </a:r>
            <a:endParaRPr lang="fr-FR" sz="1800" dirty="0">
              <a:solidFill>
                <a:srgbClr val="2F6C9C"/>
              </a:solidFill>
              <a:latin typeface="LMSans10-Regular"/>
            </a:endParaRPr>
          </a:p>
          <a:p>
            <a:pPr marL="0" indent="0" algn="l">
              <a:buNone/>
            </a:pPr>
            <a:r>
              <a:rPr lang="fr-BE" sz="1800" b="1" i="0" u="none" strike="noStrike" baseline="0" dirty="0">
                <a:solidFill>
                  <a:srgbClr val="000000"/>
                </a:solidFill>
                <a:latin typeface="LMSans10-Bold-Identity-H"/>
              </a:rPr>
              <a:t>return </a:t>
            </a:r>
            <a:r>
              <a:rPr lang="fr-BE" sz="1800" b="0" i="1" u="none" strike="noStrike" baseline="0" dirty="0" err="1">
                <a:solidFill>
                  <a:srgbClr val="2F6C9C"/>
                </a:solidFill>
                <a:latin typeface="LMSans10-Oblique-Identity-H"/>
              </a:rPr>
              <a:t>currentMax</a:t>
            </a:r>
            <a:r>
              <a:rPr lang="fr-BE" sz="1800" b="0" i="1" u="none" strike="noStrike" baseline="0" dirty="0">
                <a:solidFill>
                  <a:srgbClr val="2F6C9C"/>
                </a:solidFill>
                <a:latin typeface="LMSans10-Oblique-Identity-H"/>
              </a:rPr>
              <a:t> 					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B1DED66-371D-4E49-829D-A2512FAF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Calculer le nombre d’opérations primitives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5C7D4B-48F1-4176-8E18-2B3899A09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8</a:t>
            </a:fld>
            <a:endParaRPr lang="fr-BE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613F50-21AD-49B1-A5C2-6106E6981274}"/>
              </a:ext>
            </a:extLst>
          </p:cNvPr>
          <p:cNvSpPr txBox="1"/>
          <p:nvPr/>
        </p:nvSpPr>
        <p:spPr>
          <a:xfrm>
            <a:off x="4860324" y="2943624"/>
            <a:ext cx="3734573" cy="198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// </a:t>
            </a:r>
            <a:r>
              <a:rPr lang="fr-BE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2 </a:t>
            </a:r>
            <a:r>
              <a:rPr lang="fr-BE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opérations</a:t>
            </a:r>
          </a:p>
          <a:p>
            <a:pPr>
              <a:lnSpc>
                <a:spcPct val="150000"/>
              </a:lnSpc>
            </a:pPr>
            <a:r>
              <a:rPr lang="pt-B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//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1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"/>
              </a:rPr>
              <a:t>+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2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MathItalic9-Regular"/>
              </a:rPr>
              <a:t>.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"/>
              </a:rPr>
              <a:t>(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Sans9-Oblique-Identity-H"/>
              </a:rPr>
              <a:t>n 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MathSymbols9-Regular"/>
              </a:rPr>
              <a:t>−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1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"/>
              </a:rPr>
              <a:t>) + </a:t>
            </a:r>
            <a:r>
              <a:rPr lang="pt-B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2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MathItalic9-Regular"/>
              </a:rPr>
              <a:t>.</a:t>
            </a:r>
            <a:r>
              <a:rPr lang="pt-BR" sz="1800" b="0" i="1" u="none" strike="noStrike" baseline="0" dirty="0">
                <a:solidFill>
                  <a:srgbClr val="2F6C9C"/>
                </a:solidFill>
                <a:latin typeface="LMSans9-Oblique-Identity-H"/>
              </a:rPr>
              <a:t>n </a:t>
            </a:r>
            <a:r>
              <a:rPr lang="pt-B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op</a:t>
            </a:r>
            <a:endParaRPr lang="fr-BE" dirty="0">
              <a:solidFill>
                <a:srgbClr val="5DB4E7"/>
              </a:solidFill>
              <a:latin typeface="LMMono9-Regular-Identity-H"/>
            </a:endParaRPr>
          </a:p>
          <a:p>
            <a:pPr>
              <a:lnSpc>
                <a:spcPct val="150000"/>
              </a:lnSpc>
            </a:pPr>
            <a:r>
              <a:rPr lang="fr-F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// 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3 </a:t>
            </a:r>
            <a:r>
              <a:rPr lang="fr-F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op., exécutées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9-Oblique-Identity-H"/>
              </a:rPr>
              <a:t>n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MathSymbols9-Regular"/>
              </a:rPr>
              <a:t>− 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1 </a:t>
            </a:r>
            <a:r>
              <a:rPr lang="fr-F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fois</a:t>
            </a:r>
          </a:p>
          <a:p>
            <a:pPr>
              <a:lnSpc>
                <a:spcPct val="150000"/>
              </a:lnSpc>
            </a:pPr>
            <a:r>
              <a:rPr lang="fr-F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// 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2 </a:t>
            </a:r>
            <a:r>
              <a:rPr lang="fr-F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op., exécutées au plus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Sans9-Oblique-Identity-H"/>
              </a:rPr>
              <a:t>n </a:t>
            </a:r>
            <a:r>
              <a:rPr lang="fr-FR" sz="1800" b="0" i="1" u="none" strike="noStrike" baseline="0" dirty="0">
                <a:solidFill>
                  <a:srgbClr val="2F6C9C"/>
                </a:solidFill>
                <a:latin typeface="LMMathSymbols9-Regular"/>
              </a:rPr>
              <a:t>− </a:t>
            </a:r>
            <a:r>
              <a:rPr lang="fr-FR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1 </a:t>
            </a:r>
            <a:r>
              <a:rPr lang="fr-FR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fois</a:t>
            </a:r>
            <a:endParaRPr lang="fr-FR" dirty="0">
              <a:solidFill>
                <a:srgbClr val="5DB4E7"/>
              </a:solidFill>
              <a:latin typeface="LMMono9-Regular-Identity-H"/>
            </a:endParaRPr>
          </a:p>
          <a:p>
            <a:pPr>
              <a:lnSpc>
                <a:spcPct val="150000"/>
              </a:lnSpc>
            </a:pPr>
            <a:r>
              <a:rPr lang="fr-BE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// </a:t>
            </a:r>
            <a:r>
              <a:rPr lang="fr-BE" sz="1800" b="0" i="0" u="none" strike="noStrike" baseline="0" dirty="0">
                <a:solidFill>
                  <a:srgbClr val="2F6C9C"/>
                </a:solidFill>
                <a:latin typeface="LMSans9-Regular-Identity-H"/>
              </a:rPr>
              <a:t>1 </a:t>
            </a:r>
            <a:r>
              <a:rPr lang="fr-BE" sz="1800" b="0" i="0" u="none" strike="noStrike" baseline="0" dirty="0">
                <a:solidFill>
                  <a:srgbClr val="5DB4E7"/>
                </a:solidFill>
                <a:latin typeface="LMMono9-Regular-Identity-H"/>
              </a:rPr>
              <a:t>opération</a:t>
            </a:r>
            <a:endParaRPr lang="fr-BE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BF0A51-2D6F-4636-A91B-1D89F8280CBA}"/>
              </a:ext>
            </a:extLst>
          </p:cNvPr>
          <p:cNvSpPr txBox="1"/>
          <p:nvPr/>
        </p:nvSpPr>
        <p:spPr>
          <a:xfrm>
            <a:off x="1650852" y="5182539"/>
            <a:ext cx="554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Dans le pire des cas (A en ordre croissant) → 9n – 3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Dans le meilleur (A en ordre décroissant) → 7n - 1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2294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B39BFBD-72B0-4475-80FA-AA4A4DF96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on devait déterminer f(n) dans notre exemple précédent on aurait 2 possibilités :</a:t>
            </a:r>
          </a:p>
          <a:p>
            <a:endParaRPr lang="fr-FR" dirty="0"/>
          </a:p>
          <a:p>
            <a:pPr marL="457200" lvl="1" indent="0">
              <a:buNone/>
            </a:pPr>
            <a:r>
              <a:rPr lang="fr-FR" dirty="0"/>
              <a:t>F(n) = 7n – 1</a:t>
            </a:r>
          </a:p>
          <a:p>
            <a:pPr marL="457200" lvl="1" indent="0">
              <a:buNone/>
            </a:pPr>
            <a:r>
              <a:rPr lang="fr-FR" dirty="0"/>
              <a:t>F(n) = 9n – 3 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Borne supérieure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981835B-6620-4013-9E7D-1CC65692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Lequel choisir ?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EE9DD0-A050-4595-86A4-316A0EE24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107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468A0B-0E00-4EC4-8383-992A99998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« Grand O »</a:t>
            </a:r>
          </a:p>
          <a:p>
            <a:pPr marL="0" indent="0" algn="ctr">
              <a:buNone/>
            </a:pP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f 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(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)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∈ O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(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g 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(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)) </a:t>
            </a:r>
            <a:r>
              <a:rPr lang="pt-BR" b="0" i="0" u="none" strike="noStrike" baseline="0" dirty="0">
                <a:solidFill>
                  <a:srgbClr val="000000"/>
                </a:solidFill>
                <a:latin typeface="LMSans10-Regular-Identity-H"/>
              </a:rPr>
              <a:t>si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∃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c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Italic10-Regular"/>
              </a:rPr>
              <a:t>&gt; 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-Identity-H"/>
              </a:rPr>
              <a:t>0</a:t>
            </a:r>
            <a:r>
              <a:rPr lang="pt-BR" b="0" i="0" u="none" strike="noStrike" baseline="0" dirty="0">
                <a:solidFill>
                  <a:srgbClr val="000000"/>
                </a:solidFill>
                <a:latin typeface="LMSans10-Regular-Identity-H"/>
              </a:rPr>
              <a:t>,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∃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8-Regular-Identity-H"/>
              </a:rPr>
              <a:t>0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≥ 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-Identity-H"/>
              </a:rPr>
              <a:t>1 </a:t>
            </a:r>
            <a:r>
              <a:rPr lang="pt-BR" b="0" i="0" u="none" strike="noStrike" baseline="0" dirty="0">
                <a:solidFill>
                  <a:srgbClr val="000000"/>
                </a:solidFill>
                <a:latin typeface="LMSans10-Regular-Identity-H"/>
              </a:rPr>
              <a:t>tels que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f 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(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)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≤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c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Italic10-Regular"/>
              </a:rPr>
              <a:t>.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g 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(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10-Regular"/>
              </a:rPr>
              <a:t>)</a:t>
            </a:r>
            <a:r>
              <a:rPr lang="pt-BR" b="0" i="0" u="none" strike="noStrike" baseline="0" dirty="0">
                <a:solidFill>
                  <a:srgbClr val="000000"/>
                </a:solidFill>
                <a:latin typeface="LMSans10-Regular-Identity-H"/>
              </a:rPr>
              <a:t>,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∀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MathSymbols10-Regular"/>
              </a:rPr>
              <a:t>≥ </a:t>
            </a:r>
            <a:r>
              <a:rPr lang="pt-BR" b="0" i="1" u="none" strike="noStrike" baseline="0" dirty="0">
                <a:solidFill>
                  <a:srgbClr val="2F6C9C"/>
                </a:solidFill>
                <a:latin typeface="LMSans10-Oblique-Identity-H"/>
              </a:rPr>
              <a:t>n</a:t>
            </a:r>
            <a:r>
              <a:rPr lang="pt-BR" b="0" i="0" u="none" strike="noStrike" baseline="0" dirty="0">
                <a:solidFill>
                  <a:srgbClr val="2F6C9C"/>
                </a:solidFill>
                <a:latin typeface="LMSans8-Regular-Identity-H"/>
              </a:rPr>
              <a:t>0</a:t>
            </a:r>
            <a:endParaRPr lang="fr-FR" dirty="0"/>
          </a:p>
          <a:p>
            <a:endParaRPr lang="fr-BE" dirty="0"/>
          </a:p>
          <a:p>
            <a:endParaRPr lang="fr-BE" dirty="0"/>
          </a:p>
          <a:p>
            <a:r>
              <a:rPr lang="fr-BE" dirty="0"/>
              <a:t>Autrement dit :</a:t>
            </a:r>
          </a:p>
          <a:p>
            <a:pPr marL="457200" lvl="1" indent="0">
              <a:buNone/>
            </a:pPr>
            <a:r>
              <a:rPr lang="fr-BE" dirty="0"/>
              <a:t>G(n) est une borne supérieure de f(n)</a:t>
            </a:r>
          </a:p>
          <a:p>
            <a:pPr marL="457200" lvl="1" indent="0">
              <a:buNone/>
            </a:pPr>
            <a:r>
              <a:rPr lang="fr-BE" dirty="0"/>
              <a:t>Elle se « situe » à une constante multiplicative près</a:t>
            </a:r>
          </a:p>
          <a:p>
            <a:pPr marL="457200" lvl="1" indent="0">
              <a:buNone/>
            </a:pPr>
            <a:endParaRPr lang="fr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E40998FF-171D-400B-ADBB-2DE577A858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dirty="0"/>
                  <a:t>Notation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endParaRPr lang="fr-BE" sz="3600" dirty="0">
                  <a:latin typeface="LMMathSymbols10-Regular"/>
                </a:endParaRPr>
              </a:p>
            </p:txBody>
          </p:sp>
        </mc:Choice>
        <mc:Fallback xmlns="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E40998FF-171D-400B-ADBB-2DE577A85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125" b="-191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766F22-67AF-42F9-B544-8E82DE62B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33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4E154AC-97EC-4EA0-8DE5-6707993E3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CDA42B-526E-43F6-BEAC-E96D3CE0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4F5A0E-E186-4E6D-B5DA-F21233A95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11</a:t>
            </a:fld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82EE616-0A48-4B6B-84CC-F771ED5A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02" y="1439217"/>
            <a:ext cx="7106996" cy="499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89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FEABDF2-9204-439F-9EBB-247F0CE0B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va s’intéresser à la borne la plus simple et strict possible</a:t>
            </a:r>
          </a:p>
          <a:p>
            <a:endParaRPr lang="fr-FR" dirty="0"/>
          </a:p>
          <a:p>
            <a:r>
              <a:rPr lang="fr-FR" dirty="0"/>
              <a:t>Dans l’exemple précédent, n est une borne supérieure de 9n – 3 à une constante multiplicative près</a:t>
            </a:r>
          </a:p>
          <a:p>
            <a:endParaRPr lang="fr-FR" dirty="0"/>
          </a:p>
          <a:p>
            <a:r>
              <a:rPr lang="fr-FR" dirty="0"/>
              <a:t>On ne garde que les termes dominants et on supprime les constantes.</a:t>
            </a:r>
            <a:endParaRPr lang="fr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677419DF-8E5C-4E0E-94E9-4F2A75DD91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/>
                  <a:t>Notation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677419DF-8E5C-4E0E-94E9-4F2A75DD9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125" b="-318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3F1EB8-2585-4D1D-BB35-A2589C98D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982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A42353D-C748-47A4-A477-15DB56F1D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008214C-4479-4BFA-9302-FE2F7CDA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3645A8-EB29-4DB7-81B0-2B4398221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13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EDD1ED-3D5D-41E3-8501-8FB1B7632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41" y="1264749"/>
            <a:ext cx="6808718" cy="481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9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E4F857A-0F11-4EA7-B04B-EF819D3DD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Notation </a:t>
            </a:r>
            <a:r>
              <a:rPr lang="el-GR" dirty="0"/>
              <a:t>Ω</a:t>
            </a:r>
            <a:endParaRPr lang="fr-FR" dirty="0"/>
          </a:p>
          <a:p>
            <a:pPr marL="457200" lvl="1" indent="0">
              <a:buNone/>
            </a:pPr>
            <a:r>
              <a:rPr lang="fr-FR" dirty="0"/>
              <a:t>Borne inférieure</a:t>
            </a:r>
          </a:p>
          <a:p>
            <a:endParaRPr lang="fr-FR" dirty="0"/>
          </a:p>
          <a:p>
            <a:r>
              <a:rPr lang="fr-FR" dirty="0"/>
              <a:t>Notation </a:t>
            </a:r>
            <a:r>
              <a:rPr lang="el-GR" dirty="0"/>
              <a:t>Θ</a:t>
            </a:r>
            <a:endParaRPr lang="fr-FR" dirty="0"/>
          </a:p>
          <a:p>
            <a:pPr marL="457200" lvl="1" indent="0">
              <a:buNone/>
            </a:pPr>
            <a:r>
              <a:rPr lang="fr-FR" dirty="0"/>
              <a:t>Borne exacte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469F3B0-9B93-4F24-9079-0583DFD8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D’autres notations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C46E82-BE2A-4677-BD57-3BE8909D5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5298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D5F2D06-A846-4834-93B2-1D7AE5FA0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288" y="2819315"/>
            <a:ext cx="2105319" cy="1219370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392CF574-7FC3-4FE2-8612-9ECB7CDB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18" y="228600"/>
            <a:ext cx="4485032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Les boucles imbriquées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8158FE-1F17-44CF-9DF5-8BFB63B09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15</a:t>
            </a:fld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14A63E0-9D26-49BD-B392-72ABCAECE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184" y="2709762"/>
            <a:ext cx="1838582" cy="143847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409DAE0-90FC-4A76-8788-97F6D4A1F57F}"/>
              </a:ext>
            </a:extLst>
          </p:cNvPr>
          <p:cNvSpPr txBox="1"/>
          <p:nvPr/>
        </p:nvSpPr>
        <p:spPr>
          <a:xfrm>
            <a:off x="3961426" y="2644170"/>
            <a:ext cx="11529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9600" dirty="0"/>
              <a:t>≠</a:t>
            </a:r>
          </a:p>
        </p:txBody>
      </p:sp>
    </p:spTree>
    <p:extLst>
      <p:ext uri="{BB962C8B-B14F-4D97-AF65-F5344CB8AC3E}">
        <p14:creationId xmlns:p14="http://schemas.microsoft.com/office/powerpoint/2010/main" val="252629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C3F808D-0DD9-4F77-8205-E9FD38937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16</a:t>
            </a:fld>
            <a:endParaRPr lang="fr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797C2-ED85-4E01-91C2-ADA9F675C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56" y="1017895"/>
            <a:ext cx="8134088" cy="524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87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Espace réservé du contenu 4">
                <a:extLst>
                  <a:ext uri="{FF2B5EF4-FFF2-40B4-BE49-F238E27FC236}">
                    <a16:creationId xmlns:a16="http://schemas.microsoft.com/office/drawing/2014/main" id="{2A9BA5D4-4285-4D69-B15B-0E495ACA3EA7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1411" y="1591957"/>
              <a:ext cx="7481178" cy="4087057"/>
            </p:xfrm>
            <a:graphic>
              <a:graphicData uri="http://schemas.openxmlformats.org/drawingml/2006/table">
                <a:tbl>
                  <a:tblPr/>
                  <a:tblGrid>
                    <a:gridCol w="3740589">
                      <a:extLst>
                        <a:ext uri="{9D8B030D-6E8A-4147-A177-3AD203B41FA5}">
                          <a16:colId xmlns:a16="http://schemas.microsoft.com/office/drawing/2014/main" val="400339787"/>
                        </a:ext>
                      </a:extLst>
                    </a:gridCol>
                    <a:gridCol w="3740589">
                      <a:extLst>
                        <a:ext uri="{9D8B030D-6E8A-4147-A177-3AD203B41FA5}">
                          <a16:colId xmlns:a16="http://schemas.microsoft.com/office/drawing/2014/main" val="1131045066"/>
                        </a:ext>
                      </a:extLst>
                    </a:gridCol>
                  </a:tblGrid>
                  <a:tr h="3469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BE" sz="1700" dirty="0">
                              <a:effectLst/>
                            </a:rPr>
                            <a:t>Notation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BE" sz="1700">
                              <a:effectLst/>
                            </a:rPr>
                            <a:t>Type de complexité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836083"/>
                      </a:ext>
                    </a:extLst>
                  </a:tr>
                  <a:tr h="60716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700" dirty="0">
                              <a:effectLst/>
                            </a:rPr>
                            <a:t>complexité constante (indépendante de la taille de la donnée)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288151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7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logarithmique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563505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linéaire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921816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𝑛𝑙𝑜𝑔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quasi linéaire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0260361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²)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quadratique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384636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³)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cubique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3426988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polynomiale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881130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fr-FR" sz="1700" b="0" i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quasi polynomiale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414344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fr-FR" sz="17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exponentielle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7889877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7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!)</m:t>
                                </m:r>
                              </m:oMath>
                            </m:oMathPara>
                          </a14:m>
                          <a:endParaRPr lang="fr-BE" sz="1700" dirty="0">
                            <a:effectLst/>
                          </a:endParaRP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 dirty="0">
                              <a:effectLst/>
                            </a:rPr>
                            <a:t>complexité factorielle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17493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Espace réservé du contenu 4">
                <a:extLst>
                  <a:ext uri="{FF2B5EF4-FFF2-40B4-BE49-F238E27FC236}">
                    <a16:creationId xmlns:a16="http://schemas.microsoft.com/office/drawing/2014/main" id="{2A9BA5D4-4285-4D69-B15B-0E495ACA3EA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54557227"/>
                  </p:ext>
                </p:extLst>
              </p:nvPr>
            </p:nvGraphicFramePr>
            <p:xfrm>
              <a:off x="831411" y="1591957"/>
              <a:ext cx="7481178" cy="4087057"/>
            </p:xfrm>
            <a:graphic>
              <a:graphicData uri="http://schemas.openxmlformats.org/drawingml/2006/table">
                <a:tbl>
                  <a:tblPr/>
                  <a:tblGrid>
                    <a:gridCol w="3740589">
                      <a:extLst>
                        <a:ext uri="{9D8B030D-6E8A-4147-A177-3AD203B41FA5}">
                          <a16:colId xmlns:a16="http://schemas.microsoft.com/office/drawing/2014/main" val="400339787"/>
                        </a:ext>
                      </a:extLst>
                    </a:gridCol>
                    <a:gridCol w="3740589">
                      <a:extLst>
                        <a:ext uri="{9D8B030D-6E8A-4147-A177-3AD203B41FA5}">
                          <a16:colId xmlns:a16="http://schemas.microsoft.com/office/drawing/2014/main" val="1131045066"/>
                        </a:ext>
                      </a:extLst>
                    </a:gridCol>
                  </a:tblGrid>
                  <a:tr h="3469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BE" sz="1700" dirty="0">
                              <a:effectLst/>
                            </a:rPr>
                            <a:t>Notation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BE" sz="1700">
                              <a:effectLst/>
                            </a:rPr>
                            <a:t>Type de complexité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836083"/>
                      </a:ext>
                    </a:extLst>
                  </a:tr>
                  <a:tr h="607168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60000" r="-100163" b="-5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700" dirty="0">
                              <a:effectLst/>
                            </a:rPr>
                            <a:t>complexité constante (indépendante de la taille de la donnée)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288151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280702" r="-100163" b="-8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logarithmique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563505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380702" r="-100163" b="-7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linéaire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921816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480702" r="-100163" b="-6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quasi linéaire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0260361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591071" r="-100163" b="-5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quadratique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384636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678947" r="-100163" b="-428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cubique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3426988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778947" r="-100163" b="-328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polynomiale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881130"/>
                      </a:ext>
                    </a:extLst>
                  </a:tr>
                  <a:tr h="357312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849153" r="-100163" b="-2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quasi polynomiale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414344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982456" r="-100163" b="-124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>
                              <a:effectLst/>
                            </a:rPr>
                            <a:t>complexité exponentielle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7889877"/>
                      </a:ext>
                    </a:extLst>
                  </a:tr>
                  <a:tr h="34695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" t="-1082456" r="-100163" b="-24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BE" sz="1700" dirty="0">
                              <a:effectLst/>
                            </a:rPr>
                            <a:t>complexité factorielle</a:t>
                          </a:r>
                        </a:p>
                      </a:txBody>
                      <a:tcPr marL="86738" marR="86738" marT="43369" marB="43369" anchor="ctr">
                        <a:lnL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17493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7F37CF0E-B71F-4871-A498-B624CAC0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228600"/>
            <a:ext cx="4705699" cy="962247"/>
          </a:xfrm>
        </p:spPr>
        <p:txBody>
          <a:bodyPr>
            <a:normAutofit/>
          </a:bodyPr>
          <a:lstStyle/>
          <a:p>
            <a:r>
              <a:rPr lang="fr-FR" dirty="0"/>
              <a:t>La complexité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F04EB2-36B1-452D-A6D7-B3909B792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26998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D5D4EE0-78BF-43AF-93A6-A3A73373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8CA0EA0-8954-4106-85DB-5866DA40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2B86A1-3C1E-4F8A-8FFC-772774E2C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18</a:t>
            </a:fld>
            <a:endParaRPr lang="fr-BE"/>
          </a:p>
        </p:txBody>
      </p:sp>
      <p:pic>
        <p:nvPicPr>
          <p:cNvPr id="2050" name="Picture 2" descr="a man in a tie is sitting at a table with his mouth open .">
            <a:extLst>
              <a:ext uri="{FF2B5EF4-FFF2-40B4-BE49-F238E27FC236}">
                <a16:creationId xmlns:a16="http://schemas.microsoft.com/office/drawing/2014/main" id="{7D35A0A1-B5A2-4EA3-8E71-1A506E75D4D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154" y="1964374"/>
            <a:ext cx="6157692" cy="394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095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/>
          <a:lstStyle/>
          <a:p>
            <a:r>
              <a:rPr lang="fr-FR" sz="4400" dirty="0"/>
              <a:t>Exercices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01603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D4DB7F8-1F5E-40DC-9E31-636A3E33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Réaliser le calcul de complexité du tri à bulles en utilisant l’algorithme suivant :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88EBC26-4305-441A-801D-27A9D937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 à bulles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D9D78A-F673-4F37-8F36-E549AC89A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20</a:t>
            </a:fld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364F5DC-F546-43EB-9C9F-FD9309FAB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49" y="2921012"/>
            <a:ext cx="539190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41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D4DB7F8-1F5E-40DC-9E31-636A3E33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Réaliser le calcul de complexité du tri par insertion en utilisant l’algorithme suivant :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88EBC26-4305-441A-801D-27A9D937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 par insertion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D9D78A-F673-4F37-8F36-E549AC89A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21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625877-7096-47EF-8B1F-B8C74998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26" y="2864762"/>
            <a:ext cx="7901747" cy="283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37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D47AD7E-DFEF-4B3C-966F-CB8EA2D27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F3FDDEE-97FF-487C-89F5-5CB721B1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F51FD2-131A-4861-99B5-79C04E4D4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18004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>
            <a:normAutofit/>
          </a:bodyPr>
          <a:lstStyle/>
          <a:p>
            <a:r>
              <a:rPr lang="fr-FR" sz="4400" dirty="0"/>
              <a:t>La récurrence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53352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9593ACE-83B2-45D4-B4AD-777A4F0C8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8" y="2372896"/>
            <a:ext cx="8539162" cy="3128207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4601000-4231-4449-8224-CA2E4D41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tours de Hanoï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AF825F-8FE2-4C74-9436-012F034EA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3131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A3EA7E8A-DC53-4EBA-B781-59196B7DD8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On va imaginer le problème pour n disques.</a:t>
                </a:r>
              </a:p>
              <a:p>
                <a:endParaRPr lang="fr-FR" dirty="0"/>
              </a:p>
              <a:p>
                <a:r>
                  <a:rPr lang="fr-FR" dirty="0"/>
                  <a:t>On aura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BE" dirty="0"/>
                  <a:t> qui est le nombre minimum de coups pour transférer n disques.</a:t>
                </a:r>
              </a:p>
              <a:p>
                <a:endParaRPr lang="fr-BE" dirty="0"/>
              </a:p>
              <a:p>
                <a:r>
                  <a:rPr lang="fr-BE" dirty="0"/>
                  <a:t>On peut assez facilement déterminer qu’alors 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B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A3EA7E8A-DC53-4EBA-B781-59196B7DD8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26" t="-103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E1BF525-B46E-440C-9206-32300EB51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tours de Hanoï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59B6AF-B748-4D9B-B28F-AC1F8748E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1421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E8A5932-1097-4576-AFCD-C461C86C8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351722"/>
                <a:ext cx="8539273" cy="4623051"/>
              </a:xfrm>
            </p:spPr>
            <p:txBody>
              <a:bodyPr/>
              <a:lstStyle/>
              <a:p>
                <a:r>
                  <a:rPr lang="fr-FR" dirty="0"/>
                  <a:t>A 3 disques, on va :</a:t>
                </a:r>
              </a:p>
              <a:p>
                <a:pPr marL="457200" lvl="1" indent="0">
                  <a:buNone/>
                </a:pPr>
                <a:r>
                  <a:rPr lang="fr-FR" dirty="0"/>
                  <a:t>1. Transférer les 2 premiers disques sur un piquet</a:t>
                </a:r>
              </a:p>
              <a:p>
                <a:pPr marL="457200" lvl="1" indent="0">
                  <a:buNone/>
                </a:pPr>
                <a:r>
                  <a:rPr lang="fr-BE" dirty="0"/>
                  <a:t>2. Déplacer le disque 3</a:t>
                </a:r>
              </a:p>
              <a:p>
                <a:pPr marL="457200" lvl="1" indent="0">
                  <a:buNone/>
                </a:pPr>
                <a:r>
                  <a:rPr lang="fr-BE" dirty="0"/>
                  <a:t>3. Retransférer les 2 premiers disques sur le piquet du disque 3</a:t>
                </a:r>
              </a:p>
              <a:p>
                <a:pPr marL="457200" lvl="1" indent="0">
                  <a:buNone/>
                </a:pPr>
                <a:endParaRPr lang="fr-BE" dirty="0"/>
              </a:p>
              <a:p>
                <a:r>
                  <a:rPr lang="fr-BE" dirty="0"/>
                  <a:t>Comment on fait pour n disques alors ?</a:t>
                </a:r>
              </a:p>
              <a:p>
                <a:pPr marL="457200" lvl="1" indent="0">
                  <a:buNone/>
                </a:pPr>
                <a:r>
                  <a:rPr lang="fr-BE" dirty="0"/>
                  <a:t>1. Transférer les n-1 disques sur un piquet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b="0" dirty="0"/>
              </a:p>
              <a:p>
                <a:pPr marL="457200" lvl="1" indent="0">
                  <a:buNone/>
                </a:pPr>
                <a:r>
                  <a:rPr lang="fr-BE" dirty="0"/>
                  <a:t>2. Déplacer le plus grand disque (1 déplacement)</a:t>
                </a:r>
              </a:p>
              <a:p>
                <a:pPr marL="457200" lvl="1" indent="0">
                  <a:buNone/>
                </a:pPr>
                <a:r>
                  <a:rPr lang="fr-BE" dirty="0"/>
                  <a:t>3. Retransférer les n-1 disques sur le piquet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endParaRPr lang="fr-BE" dirty="0"/>
              </a:p>
              <a:p>
                <a:r>
                  <a:rPr lang="fr-BE" dirty="0"/>
                  <a:t>On obtient donc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E8A5932-1097-4576-AFCD-C461C86C8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351722"/>
                <a:ext cx="8539273" cy="4623051"/>
              </a:xfrm>
              <a:blipFill>
                <a:blip r:embed="rId2"/>
                <a:stretch>
                  <a:fillRect l="-2926" t="-9103" r="-5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1CC5B022-AF54-428A-B76B-8C89F292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plus grand ?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8FA85F-D330-4BB5-BFB6-F21A5CB79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545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DD47435-04D5-4B66-A36E-1660AB335E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≤2∗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BE" dirty="0"/>
                  <a:t> </a:t>
                </a:r>
              </a:p>
              <a:p>
                <a:endParaRPr lang="fr-BE" dirty="0"/>
              </a:p>
              <a:p>
                <a:r>
                  <a:rPr lang="fr-BE" dirty="0"/>
                  <a:t>On peut assez facilement montrer qu’il n’y a pas moins de mouvement possible</a:t>
                </a:r>
              </a:p>
              <a:p>
                <a:endParaRPr lang="fr-BE" dirty="0"/>
              </a:p>
              <a:p>
                <a:r>
                  <a:rPr lang="fr-BE" dirty="0"/>
                  <a:t>On peut donc écrire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≥2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BE" dirty="0"/>
                  <a:t> 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DD47435-04D5-4B66-A36E-1660AB335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926" t="-103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4D3C1EA-591B-4817-B8D0-02D75CE1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Pour n disques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BA0258-F346-4D8D-9CFA-DA0205242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4402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850069A-F3E6-4D6B-B379-2B14D9691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On a donc 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≤2∗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BE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≥2∗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BE" dirty="0"/>
                  <a:t> </a:t>
                </a:r>
              </a:p>
              <a:p>
                <a:pPr lvl="1"/>
                <a:endParaRPr lang="fr-BE" dirty="0"/>
              </a:p>
              <a:p>
                <a:r>
                  <a:rPr lang="fr-FR" dirty="0"/>
                  <a:t>On peut aussi affirmer assez facilement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endParaRPr lang="fr-BE" dirty="0"/>
              </a:p>
              <a:p>
                <a:r>
                  <a:rPr lang="fr-BE" dirty="0"/>
                  <a:t>On pourra alors écrire la récurrence suivante 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BE" dirty="0"/>
                  <a:t> </a:t>
                </a:r>
              </a:p>
              <a:p>
                <a:pPr marL="457200" lvl="1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850069A-F3E6-4D6B-B379-2B14D9691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26" t="-103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5BDBE48-3A37-4BE2-8959-722FF99D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Récurrence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CD941B-7366-48F0-A9EF-087E3B10E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901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03FF6444-4EB7-4189-804D-AE4E1866B8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BE" dirty="0"/>
                  <a:t>On a le système d’équations de récurrence suivantes 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BE" dirty="0"/>
                  <a:t> </a:t>
                </a:r>
              </a:p>
              <a:p>
                <a:endParaRPr lang="fr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+1=1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+1=2∗1+1=3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+1=2∗3+1=7</m:t>
                    </m:r>
                  </m:oMath>
                </a14:m>
                <a:endParaRPr lang="fr-FR" b="0" dirty="0"/>
              </a:p>
              <a:p>
                <a:r>
                  <a:rPr lang="fr-BE" dirty="0"/>
                  <a:t>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+1= ?</m:t>
                    </m:r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03FF6444-4EB7-4189-804D-AE4E1866B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26" t="-10314" b="-254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17C8C1DC-5EFF-408E-BEC2-D57AC15F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262" y="228600"/>
            <a:ext cx="4981988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Application et vérifications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63CF2F-D477-463D-B321-9AC772254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382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D1ADC94B-B778-4962-9788-6890C6C5C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Le système d’équations de récurrence est indirecte et locale.</a:t>
                </a:r>
              </a:p>
              <a:p>
                <a:endParaRPr lang="fr-FR" dirty="0"/>
              </a:p>
              <a:p>
                <a:r>
                  <a:rPr lang="fr-FR" dirty="0"/>
                  <a:t>On veut trouver une expression qui ne dépend de rien d’autre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fr-FR" dirty="0"/>
              </a:p>
              <a:p>
                <a:endParaRPr lang="fr-BE" dirty="0"/>
              </a:p>
              <a:p>
                <a:r>
                  <a:rPr lang="fr-BE" dirty="0"/>
                  <a:t>Une solution :</a:t>
                </a:r>
              </a:p>
              <a:p>
                <a:pPr lvl="1"/>
                <a:r>
                  <a:rPr lang="fr-BE" dirty="0"/>
                  <a:t>« Deviner la solution correcte »</a:t>
                </a:r>
              </a:p>
              <a:p>
                <a:pPr lvl="1"/>
                <a:r>
                  <a:rPr lang="fr-BE" dirty="0"/>
                  <a:t>Prouver que la supposition est correcte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D1ADC94B-B778-4962-9788-6890C6C5C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26" t="-103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594C003-DA8B-4FD0-BDE6-CC920D23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Récurrence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69CA7D-D661-4635-B1B9-D2491DBE9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6292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874D5B71-5F85-4208-8017-9833B0ED1F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Ici, pour deviner on va de nouveau s’intéresser aux petits exemples :</a:t>
                </a: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=2∗3+1=7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=2∗7+1=15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=2∗15+1=31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  <a:p>
                <a:r>
                  <a:rPr lang="fr-FR" dirty="0"/>
                  <a:t>On dirait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0&lt;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≤6</m:t>
                    </m:r>
                  </m:oMath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874D5B71-5F85-4208-8017-9833B0ED1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26" t="-103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F5B205BF-93D4-4A4A-B655-8AAF67AF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Récurrence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5B5D9C-F491-4CFD-8EF4-1F00D06F6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70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9DD254E-4AA0-4823-A571-E5A2C248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C’est le fait de prouver une affirmation générale à partir de cas particuliers</a:t>
            </a:r>
          </a:p>
          <a:p>
            <a:endParaRPr lang="fr-FR" dirty="0"/>
          </a:p>
          <a:p>
            <a:r>
              <a:rPr lang="fr-FR" dirty="0"/>
              <a:t>Très efficace pour prouver l’exactitude d’un algorithme récursif</a:t>
            </a:r>
          </a:p>
          <a:p>
            <a:endParaRPr lang="fr-FR" dirty="0"/>
          </a:p>
          <a:p>
            <a:r>
              <a:rPr lang="fr-FR" dirty="0"/>
              <a:t>On va prouver que la première étape est correcte, et qu’a chaque étape on peut toujours passer à la suivante selon le même principe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16DE8A0-4A03-40D5-9E3A-4B7FFD59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Induction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432327-B034-4A0B-AFB4-49C4B0DB1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2614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ADAD27C-3824-4164-B5E6-78ACD35D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498F9D7-38E9-43F0-A124-ABDC22D0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AB5D3E-DDB8-4E9A-9325-A21AE663A6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829551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-de-presentation-HEHbe--Sciences-et-technologies--2020" id="{A498BD53-F83B-4021-AAB3-AA6C29EFDC9D}" vid="{7280D352-7A7E-41A1-9B4F-543AFC5CCCB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10000</TotalTime>
  <Words>1142</Words>
  <Application>Microsoft Office PowerPoint</Application>
  <PresentationFormat>Affichage à l'écran (4:3)</PresentationFormat>
  <Paragraphs>234</Paragraphs>
  <Slides>33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53" baseType="lpstr">
      <vt:lpstr>Arial</vt:lpstr>
      <vt:lpstr>Calibri</vt:lpstr>
      <vt:lpstr>Cambria Math</vt:lpstr>
      <vt:lpstr>LMMathItalic10-Regular</vt:lpstr>
      <vt:lpstr>LMMathItalic9-Regular</vt:lpstr>
      <vt:lpstr>LMMathSymbols10-Regular</vt:lpstr>
      <vt:lpstr>LMMathSymbols9-Regular</vt:lpstr>
      <vt:lpstr>LMMono9-Regular-Identity-H</vt:lpstr>
      <vt:lpstr>LMSans10-Bold-Identity-H</vt:lpstr>
      <vt:lpstr>LMSans10-Oblique-Identity-H</vt:lpstr>
      <vt:lpstr>LMSans10-Regular</vt:lpstr>
      <vt:lpstr>LMSans10-Regular-Identity-H</vt:lpstr>
      <vt:lpstr>LMSans8-Regular-Identity-H</vt:lpstr>
      <vt:lpstr>LMSans9-Oblique-Identity-H</vt:lpstr>
      <vt:lpstr>LMSans9-Regular</vt:lpstr>
      <vt:lpstr>LMSans9-Regular-Identity-H</vt:lpstr>
      <vt:lpstr>Roboto</vt:lpstr>
      <vt:lpstr>Roboto </vt:lpstr>
      <vt:lpstr>Roboto Condensed</vt:lpstr>
      <vt:lpstr>Thème Office</vt:lpstr>
      <vt:lpstr>Mathématiques appliquées à l'informatique</vt:lpstr>
      <vt:lpstr>Complexité calculatoire</vt:lpstr>
      <vt:lpstr>Opération primitive</vt:lpstr>
      <vt:lpstr>Temps d’exécution</vt:lpstr>
      <vt:lpstr>Notions de cas</vt:lpstr>
      <vt:lpstr>Les instances</vt:lpstr>
      <vt:lpstr>Identifier le pire cas</vt:lpstr>
      <vt:lpstr>Calculer le nombre d’opérations primitives</vt:lpstr>
      <vt:lpstr>Lequel choisir ?</vt:lpstr>
      <vt:lpstr>Notation ϑ</vt:lpstr>
      <vt:lpstr>Présentation PowerPoint</vt:lpstr>
      <vt:lpstr>Notation ϑ</vt:lpstr>
      <vt:lpstr>Présentation PowerPoint</vt:lpstr>
      <vt:lpstr>D’autres notations</vt:lpstr>
      <vt:lpstr>Les boucles imbriquées</vt:lpstr>
      <vt:lpstr>Présentation PowerPoint</vt:lpstr>
      <vt:lpstr>La complexité</vt:lpstr>
      <vt:lpstr>Présentation PowerPoint</vt:lpstr>
      <vt:lpstr>Exercices</vt:lpstr>
      <vt:lpstr>Tri à bulles</vt:lpstr>
      <vt:lpstr>Tri par insertion</vt:lpstr>
      <vt:lpstr>Présentation PowerPoint</vt:lpstr>
      <vt:lpstr>La récurrence</vt:lpstr>
      <vt:lpstr>Les tours de Hanoï</vt:lpstr>
      <vt:lpstr>Les tours de Hanoï</vt:lpstr>
      <vt:lpstr>Et plus grand ?</vt:lpstr>
      <vt:lpstr>Pour n disques</vt:lpstr>
      <vt:lpstr>Récurrence</vt:lpstr>
      <vt:lpstr>Application et vérifications</vt:lpstr>
      <vt:lpstr>Récurrence</vt:lpstr>
      <vt:lpstr>Récurrence</vt:lpstr>
      <vt:lpstr>Induction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DEPRETER Johan</dc:creator>
  <cp:lastModifiedBy>GILLARD Robin</cp:lastModifiedBy>
  <cp:revision>83</cp:revision>
  <dcterms:created xsi:type="dcterms:W3CDTF">2022-01-27T22:00:53Z</dcterms:created>
  <dcterms:modified xsi:type="dcterms:W3CDTF">2025-05-26T16:42:43Z</dcterms:modified>
</cp:coreProperties>
</file>