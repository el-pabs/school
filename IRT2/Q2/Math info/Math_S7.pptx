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0"/>
  </p:notesMasterIdLst>
  <p:handoutMasterIdLst>
    <p:handoutMasterId r:id="rId31"/>
  </p:handoutMasterIdLst>
  <p:sldIdLst>
    <p:sldId id="256" r:id="rId2"/>
    <p:sldId id="431" r:id="rId3"/>
    <p:sldId id="432" r:id="rId4"/>
    <p:sldId id="438" r:id="rId5"/>
    <p:sldId id="436" r:id="rId6"/>
    <p:sldId id="433" r:id="rId7"/>
    <p:sldId id="434" r:id="rId8"/>
    <p:sldId id="435" r:id="rId9"/>
    <p:sldId id="441" r:id="rId10"/>
    <p:sldId id="442" r:id="rId11"/>
    <p:sldId id="443" r:id="rId12"/>
    <p:sldId id="444" r:id="rId13"/>
    <p:sldId id="439" r:id="rId14"/>
    <p:sldId id="437" r:id="rId15"/>
    <p:sldId id="445" r:id="rId16"/>
    <p:sldId id="440" r:id="rId17"/>
    <p:sldId id="446" r:id="rId18"/>
    <p:sldId id="447" r:id="rId19"/>
    <p:sldId id="448" r:id="rId20"/>
    <p:sldId id="449" r:id="rId21"/>
    <p:sldId id="450" r:id="rId22"/>
    <p:sldId id="451" r:id="rId23"/>
    <p:sldId id="452" r:id="rId24"/>
    <p:sldId id="453" r:id="rId25"/>
    <p:sldId id="454" r:id="rId26"/>
    <p:sldId id="455" r:id="rId27"/>
    <p:sldId id="456" r:id="rId28"/>
    <p:sldId id="457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DB4E7"/>
    <a:srgbClr val="C91317"/>
    <a:srgbClr val="2B2B2B"/>
    <a:srgbClr val="9E2E5A"/>
    <a:srgbClr val="D4641A"/>
    <a:srgbClr val="1573B6"/>
    <a:srgbClr val="243A90"/>
    <a:srgbClr val="5F5F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660B408-B3CF-4A94-85FC-2B1E0A45F4A2}" styleName="Style foncé 2 - Accentuation 1/Accentuation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7CE84F3-28C3-443E-9E96-99CF82512B78}" styleName="Style foncé 1 - Accentuation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2833802-FEF1-4C79-8D5D-14CF1EAF98D9}" styleName="Style léger 2 - Accentuation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466" autoAdjust="0"/>
    <p:restoredTop sz="71236" autoAdjust="0"/>
  </p:normalViewPr>
  <p:slideViewPr>
    <p:cSldViewPr snapToGrid="0">
      <p:cViewPr varScale="1">
        <p:scale>
          <a:sx n="82" d="100"/>
          <a:sy n="82" d="100"/>
        </p:scale>
        <p:origin x="206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9" d="100"/>
          <a:sy n="69" d="100"/>
        </p:scale>
        <p:origin x="241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8D3EB8-6AD6-4DF3-B16B-A9E0B517D683}" type="datetimeFigureOut">
              <a:rPr lang="fr-BE" smtClean="0"/>
              <a:t>13-04-25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D2A0B0-4FDA-48D8-A9AB-C715A138D155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39597780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702AF6-C27A-47C0-BCF6-EC35CFE95046}" type="datetimeFigureOut">
              <a:rPr lang="fr-BE" smtClean="0"/>
              <a:t>13-04-25</a:t>
            </a:fld>
            <a:endParaRPr lang="fr-BE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BE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02FF5F-0C64-4FEE-B2DF-F912BCEEA8E0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757689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2FF5F-0C64-4FEE-B2DF-F912BCEEA8E0}" type="slidenum">
              <a:rPr lang="fr-BE" smtClean="0"/>
              <a:t>1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7508126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2FF5F-0C64-4FEE-B2DF-F912BCEEA8E0}" type="slidenum">
              <a:rPr lang="fr-BE" smtClean="0"/>
              <a:t>18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7344967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1" dirty="0"/>
              <a:t>🔍 Technique utilisée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b="1" dirty="0" err="1"/>
              <a:t>Differential</a:t>
            </a:r>
            <a:r>
              <a:rPr lang="fr-FR" b="1" dirty="0"/>
              <a:t> Path Construction</a:t>
            </a:r>
            <a:r>
              <a:rPr lang="fr-FR" dirty="0"/>
              <a:t> : comme pour MD5, mais adaptée à SHA-1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SHA-1 fonctionne par blocs de 512 bits → collision sur deux blocs</a:t>
            </a:r>
          </a:p>
          <a:p>
            <a:r>
              <a:rPr lang="fr-FR" b="1" dirty="0"/>
              <a:t>🔋 Ressources utilisées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b="1" dirty="0"/>
              <a:t>9 223 372 036 854 775 808</a:t>
            </a:r>
            <a:r>
              <a:rPr lang="fr-FR" dirty="0"/>
              <a:t> SHA-1 calculés (~2⁶³)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Environ </a:t>
            </a:r>
            <a:r>
              <a:rPr lang="fr-FR" b="1" dirty="0"/>
              <a:t>110 années CPU cumulées</a:t>
            </a:r>
            <a:r>
              <a:rPr lang="fr-FR" dirty="0"/>
              <a:t> (GPU + CPU)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Environ </a:t>
            </a:r>
            <a:r>
              <a:rPr lang="fr-FR" b="1" dirty="0"/>
              <a:t>110 000 $</a:t>
            </a:r>
            <a:r>
              <a:rPr lang="fr-FR" dirty="0"/>
              <a:t> de coût estimé</a:t>
            </a:r>
          </a:p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2FF5F-0C64-4FEE-B2DF-F912BCEEA8E0}" type="slidenum">
              <a:rPr lang="fr-BE" smtClean="0"/>
              <a:t>25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3655449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A2E52712-542C-4861-8486-8C858B7AC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7581" y="2248912"/>
            <a:ext cx="7886700" cy="116969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 algn="l"/>
            <a:r>
              <a:rPr lang="fr-FR" sz="4000" b="1">
                <a:solidFill>
                  <a:srgbClr val="2B2B2B"/>
                </a:solidFill>
                <a:latin typeface="Roboto" panose="02000000000000000000" pitchFamily="2" charset="0"/>
              </a:rPr>
              <a:t>Modifiez le style du titre</a:t>
            </a:r>
            <a:endParaRPr lang="fr-BE" sz="4000" b="1" dirty="0">
              <a:solidFill>
                <a:srgbClr val="2B2B2B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A9EC390-C245-44B2-9757-6A655C8E38EA}"/>
              </a:ext>
            </a:extLst>
          </p:cNvPr>
          <p:cNvSpPr/>
          <p:nvPr userDrawn="1"/>
        </p:nvSpPr>
        <p:spPr>
          <a:xfrm>
            <a:off x="1266825" y="3652838"/>
            <a:ext cx="101699" cy="101699"/>
          </a:xfrm>
          <a:prstGeom prst="ellipse">
            <a:avLst/>
          </a:prstGeom>
          <a:solidFill>
            <a:srgbClr val="C913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 dirty="0">
              <a:highlight>
                <a:srgbClr val="FFFF00"/>
              </a:highlight>
              <a:latin typeface="Arial" panose="020B0604020202020204" pitchFamily="34" charset="0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85B2A0E2-6813-486D-9BFB-68658524FC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060938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8977" y="1898361"/>
            <a:ext cx="8539273" cy="4076412"/>
          </a:xfrm>
          <a:prstGeom prst="rect">
            <a:avLst/>
          </a:prstGeom>
        </p:spPr>
        <p:txBody>
          <a:bodyPr/>
          <a:lstStyle>
            <a:lvl1pPr>
              <a:buClr>
                <a:srgbClr val="C91317"/>
              </a:buClr>
              <a:buSzPct val="200000"/>
              <a:defRPr>
                <a:solidFill>
                  <a:srgbClr val="2B2B2B"/>
                </a:solidFill>
                <a:latin typeface="Arial" panose="020B0604020202020204" pitchFamily="34" charset="0"/>
              </a:defRPr>
            </a:lvl1pPr>
            <a:lvl2pPr>
              <a:buClr>
                <a:srgbClr val="C91317"/>
              </a:buClr>
              <a:buSzPct val="200000"/>
              <a:defRPr>
                <a:solidFill>
                  <a:srgbClr val="2B2B2B"/>
                </a:solidFill>
                <a:latin typeface="Arial" panose="020B0604020202020204" pitchFamily="34" charset="0"/>
              </a:defRPr>
            </a:lvl2pPr>
            <a:lvl3pPr>
              <a:buClr>
                <a:srgbClr val="C91317"/>
              </a:buClr>
              <a:buSzPct val="200000"/>
              <a:defRPr>
                <a:solidFill>
                  <a:srgbClr val="2B2B2B"/>
                </a:solidFill>
                <a:latin typeface="Arial" panose="020B0604020202020204" pitchFamily="34" charset="0"/>
              </a:defRPr>
            </a:lvl3pPr>
            <a:lvl4pPr>
              <a:buClr>
                <a:srgbClr val="C91317"/>
              </a:buClr>
              <a:buSzPct val="200000"/>
              <a:defRPr>
                <a:solidFill>
                  <a:srgbClr val="2B2B2B"/>
                </a:solidFill>
                <a:latin typeface="Arial" panose="020B0604020202020204" pitchFamily="34" charset="0"/>
              </a:defRPr>
            </a:lvl4pPr>
            <a:lvl5pPr>
              <a:buClr>
                <a:srgbClr val="C91317"/>
              </a:buClr>
              <a:buSzPct val="200000"/>
              <a:defRPr>
                <a:solidFill>
                  <a:srgbClr val="2B2B2B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C94AA50C-7222-461E-8AD0-4AEDB98C0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0" y="228600"/>
            <a:ext cx="4286249" cy="962247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fr-FR" sz="2500">
                <a:solidFill>
                  <a:srgbClr val="2B2B2B"/>
                </a:solidFill>
                <a:latin typeface="Roboto "/>
              </a:rPr>
              <a:t>Modifiez le style du titre</a:t>
            </a:r>
            <a:endParaRPr lang="fr-BE" sz="2500" dirty="0">
              <a:solidFill>
                <a:srgbClr val="2B2B2B"/>
              </a:solidFill>
              <a:latin typeface="Roboto "/>
            </a:endParaRP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6DB69894-CF4A-49E7-AB8A-2E7987C06B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300281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85750" y="1825625"/>
            <a:ext cx="4094864" cy="4201102"/>
          </a:xfrm>
          <a:prstGeom prst="rect">
            <a:avLst/>
          </a:prstGeom>
        </p:spPr>
        <p:txBody>
          <a:bodyPr/>
          <a:lstStyle>
            <a:lvl1pPr>
              <a:buClr>
                <a:srgbClr val="C91317"/>
              </a:buClr>
              <a:buSzPct val="200000"/>
              <a:defRPr>
                <a:solidFill>
                  <a:srgbClr val="2B2B2B"/>
                </a:solidFill>
                <a:latin typeface="Arial" panose="020B0604020202020204" pitchFamily="34" charset="0"/>
              </a:defRPr>
            </a:lvl1pPr>
            <a:lvl2pPr>
              <a:buClr>
                <a:srgbClr val="C91317"/>
              </a:buClr>
              <a:buSzPct val="200000"/>
              <a:defRPr>
                <a:solidFill>
                  <a:srgbClr val="2B2B2B"/>
                </a:solidFill>
                <a:latin typeface="Arial" panose="020B0604020202020204" pitchFamily="34" charset="0"/>
              </a:defRPr>
            </a:lvl2pPr>
            <a:lvl3pPr>
              <a:buClr>
                <a:srgbClr val="C91317"/>
              </a:buClr>
              <a:buSzPct val="200000"/>
              <a:defRPr>
                <a:solidFill>
                  <a:srgbClr val="2B2B2B"/>
                </a:solidFill>
                <a:latin typeface="Arial" panose="020B0604020202020204" pitchFamily="34" charset="0"/>
              </a:defRPr>
            </a:lvl3pPr>
            <a:lvl4pPr>
              <a:buClr>
                <a:srgbClr val="C91317"/>
              </a:buClr>
              <a:buSzPct val="200000"/>
              <a:defRPr>
                <a:solidFill>
                  <a:srgbClr val="2B2B2B"/>
                </a:solidFill>
                <a:latin typeface="Arial" panose="020B0604020202020204" pitchFamily="34" charset="0"/>
              </a:defRPr>
            </a:lvl4pPr>
            <a:lvl5pPr>
              <a:buClr>
                <a:srgbClr val="C91317"/>
              </a:buClr>
              <a:buSzPct val="200000"/>
              <a:defRPr>
                <a:solidFill>
                  <a:srgbClr val="2B2B2B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0" y="1825625"/>
            <a:ext cx="4286250" cy="4201102"/>
          </a:xfrm>
          <a:prstGeom prst="rect">
            <a:avLst/>
          </a:prstGeom>
        </p:spPr>
        <p:txBody>
          <a:bodyPr/>
          <a:lstStyle>
            <a:lvl1pPr>
              <a:buClr>
                <a:srgbClr val="C91317"/>
              </a:buClr>
              <a:buSzPct val="200000"/>
              <a:defRPr>
                <a:solidFill>
                  <a:srgbClr val="2B2B2B"/>
                </a:solidFill>
                <a:latin typeface="Arial" panose="020B0604020202020204" pitchFamily="34" charset="0"/>
              </a:defRPr>
            </a:lvl1pPr>
            <a:lvl2pPr>
              <a:buClr>
                <a:srgbClr val="C91317"/>
              </a:buClr>
              <a:buSzPct val="200000"/>
              <a:defRPr>
                <a:solidFill>
                  <a:srgbClr val="2B2B2B"/>
                </a:solidFill>
                <a:latin typeface="Arial" panose="020B0604020202020204" pitchFamily="34" charset="0"/>
              </a:defRPr>
            </a:lvl2pPr>
            <a:lvl3pPr>
              <a:buClr>
                <a:srgbClr val="C91317"/>
              </a:buClr>
              <a:buSzPct val="200000"/>
              <a:defRPr>
                <a:solidFill>
                  <a:srgbClr val="2B2B2B"/>
                </a:solidFill>
                <a:latin typeface="Arial" panose="020B0604020202020204" pitchFamily="34" charset="0"/>
              </a:defRPr>
            </a:lvl3pPr>
            <a:lvl4pPr>
              <a:buClr>
                <a:srgbClr val="C91317"/>
              </a:buClr>
              <a:buSzPct val="200000"/>
              <a:defRPr>
                <a:solidFill>
                  <a:srgbClr val="2B2B2B"/>
                </a:solidFill>
                <a:latin typeface="Arial" panose="020B0604020202020204" pitchFamily="34" charset="0"/>
              </a:defRPr>
            </a:lvl4pPr>
            <a:lvl5pPr>
              <a:buClr>
                <a:srgbClr val="C91317"/>
              </a:buClr>
              <a:buSzPct val="200000"/>
              <a:defRPr>
                <a:solidFill>
                  <a:srgbClr val="2B2B2B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8249BFAD-C788-41B2-BB4B-D7F32CD3D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0" y="228600"/>
            <a:ext cx="4286249" cy="962247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fr-FR" sz="2500">
                <a:solidFill>
                  <a:srgbClr val="2B2B2B"/>
                </a:solidFill>
                <a:latin typeface="Roboto "/>
              </a:rPr>
              <a:t>Modifiez le style du titre</a:t>
            </a:r>
            <a:endParaRPr lang="fr-BE" sz="2500" dirty="0">
              <a:solidFill>
                <a:srgbClr val="2B2B2B"/>
              </a:solidFill>
              <a:latin typeface="Roboto 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A0B86179-DD5C-452E-B116-146F34DEC1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7575776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0500" y="1819386"/>
            <a:ext cx="4094864" cy="77818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100" b="1">
                <a:solidFill>
                  <a:srgbClr val="2B2B2B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1999" y="1819386"/>
            <a:ext cx="4286249" cy="77818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100" b="1">
                <a:solidFill>
                  <a:srgbClr val="2B2B2B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C027A339-3B89-4CDB-9455-030617AAC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0" y="228600"/>
            <a:ext cx="4286249" cy="962247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fr-FR" sz="2500">
                <a:solidFill>
                  <a:srgbClr val="2B2B2B"/>
                </a:solidFill>
                <a:latin typeface="Roboto "/>
              </a:rPr>
              <a:t>Modifiez le style du titre</a:t>
            </a:r>
            <a:endParaRPr lang="fr-BE" sz="2500" dirty="0">
              <a:solidFill>
                <a:srgbClr val="2B2B2B"/>
              </a:solidFill>
              <a:latin typeface="Roboto 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7587D5F-FDBB-4EB1-A522-C7E11E30E6C3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285750" y="2690037"/>
            <a:ext cx="4094864" cy="3336690"/>
          </a:xfrm>
          <a:prstGeom prst="rect">
            <a:avLst/>
          </a:prstGeom>
        </p:spPr>
        <p:txBody>
          <a:bodyPr/>
          <a:lstStyle>
            <a:lvl1pPr>
              <a:buClr>
                <a:srgbClr val="C91317"/>
              </a:buClr>
              <a:buSzPct val="200000"/>
              <a:defRPr>
                <a:solidFill>
                  <a:srgbClr val="2B2B2B"/>
                </a:solidFill>
                <a:latin typeface="Arial" panose="020B0604020202020204" pitchFamily="34" charset="0"/>
              </a:defRPr>
            </a:lvl1pPr>
            <a:lvl2pPr>
              <a:buClr>
                <a:srgbClr val="C91317"/>
              </a:buClr>
              <a:buSzPct val="200000"/>
              <a:defRPr>
                <a:solidFill>
                  <a:srgbClr val="2B2B2B"/>
                </a:solidFill>
                <a:latin typeface="Arial" panose="020B0604020202020204" pitchFamily="34" charset="0"/>
              </a:defRPr>
            </a:lvl2pPr>
            <a:lvl3pPr>
              <a:buClr>
                <a:srgbClr val="C91317"/>
              </a:buClr>
              <a:buSzPct val="200000"/>
              <a:defRPr>
                <a:solidFill>
                  <a:srgbClr val="2B2B2B"/>
                </a:solidFill>
                <a:latin typeface="Arial" panose="020B0604020202020204" pitchFamily="34" charset="0"/>
              </a:defRPr>
            </a:lvl3pPr>
            <a:lvl4pPr>
              <a:buClr>
                <a:srgbClr val="C91317"/>
              </a:buClr>
              <a:buSzPct val="200000"/>
              <a:defRPr>
                <a:solidFill>
                  <a:srgbClr val="2B2B2B"/>
                </a:solidFill>
                <a:latin typeface="Arial" panose="020B0604020202020204" pitchFamily="34" charset="0"/>
              </a:defRPr>
            </a:lvl4pPr>
            <a:lvl5pPr>
              <a:buClr>
                <a:srgbClr val="C91317"/>
              </a:buClr>
              <a:buSzPct val="200000"/>
              <a:defRPr>
                <a:solidFill>
                  <a:srgbClr val="2B2B2B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356E0546-6F03-4C97-9834-2DAEDD2006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2690037"/>
            <a:ext cx="4286250" cy="3336690"/>
          </a:xfrm>
          <a:prstGeom prst="rect">
            <a:avLst/>
          </a:prstGeom>
        </p:spPr>
        <p:txBody>
          <a:bodyPr/>
          <a:lstStyle>
            <a:lvl1pPr>
              <a:buClr>
                <a:srgbClr val="C91317"/>
              </a:buClr>
              <a:buSzPct val="200000"/>
              <a:defRPr>
                <a:solidFill>
                  <a:srgbClr val="2B2B2B"/>
                </a:solidFill>
                <a:latin typeface="Arial" panose="020B0604020202020204" pitchFamily="34" charset="0"/>
              </a:defRPr>
            </a:lvl1pPr>
            <a:lvl2pPr>
              <a:buClr>
                <a:srgbClr val="C91317"/>
              </a:buClr>
              <a:buSzPct val="200000"/>
              <a:defRPr>
                <a:solidFill>
                  <a:srgbClr val="2B2B2B"/>
                </a:solidFill>
                <a:latin typeface="Arial" panose="020B0604020202020204" pitchFamily="34" charset="0"/>
              </a:defRPr>
            </a:lvl2pPr>
            <a:lvl3pPr>
              <a:buClr>
                <a:srgbClr val="C91317"/>
              </a:buClr>
              <a:buSzPct val="200000"/>
              <a:defRPr>
                <a:solidFill>
                  <a:srgbClr val="2B2B2B"/>
                </a:solidFill>
                <a:latin typeface="Arial" panose="020B0604020202020204" pitchFamily="34" charset="0"/>
              </a:defRPr>
            </a:lvl3pPr>
            <a:lvl4pPr>
              <a:buClr>
                <a:srgbClr val="C91317"/>
              </a:buClr>
              <a:buSzPct val="200000"/>
              <a:defRPr>
                <a:solidFill>
                  <a:srgbClr val="2B2B2B"/>
                </a:solidFill>
                <a:latin typeface="Arial" panose="020B0604020202020204" pitchFamily="34" charset="0"/>
              </a:defRPr>
            </a:lvl4pPr>
            <a:lvl5pPr>
              <a:buClr>
                <a:srgbClr val="C91317"/>
              </a:buClr>
              <a:buSzPct val="200000"/>
              <a:defRPr>
                <a:solidFill>
                  <a:srgbClr val="2B2B2B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3381CD9-00CC-417F-9EA9-ACF2A1414A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046532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1">
            <a:extLst>
              <a:ext uri="{FF2B5EF4-FFF2-40B4-BE49-F238E27FC236}">
                <a16:creationId xmlns:a16="http://schemas.microsoft.com/office/drawing/2014/main" id="{C00A9C74-3B0E-442F-9551-373DA2D7A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0" y="228600"/>
            <a:ext cx="4286249" cy="962247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fr-FR" sz="2500">
                <a:solidFill>
                  <a:srgbClr val="2B2B2B"/>
                </a:solidFill>
                <a:latin typeface="Roboto "/>
              </a:rPr>
              <a:t>Modifiez le style du titre</a:t>
            </a:r>
            <a:endParaRPr lang="fr-BE" sz="2500" dirty="0">
              <a:solidFill>
                <a:srgbClr val="2B2B2B"/>
              </a:solidFill>
              <a:latin typeface="Roboto 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8CF80F7D-B5F8-4569-9F90-3912FF9870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7288523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13B3F24F-F9CE-48E5-8E78-0EAD4E00D7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217710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4020" y="1756064"/>
            <a:ext cx="3294999" cy="411292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>
                <a:solidFill>
                  <a:srgbClr val="2B2B2B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half" idx="10"/>
          </p:nvPr>
        </p:nvSpPr>
        <p:spPr>
          <a:xfrm>
            <a:off x="3782292" y="1756065"/>
            <a:ext cx="5077688" cy="4112924"/>
          </a:xfrm>
          <a:prstGeom prst="rect">
            <a:avLst/>
          </a:prstGeom>
        </p:spPr>
        <p:txBody>
          <a:bodyPr/>
          <a:lstStyle>
            <a:lvl1pPr>
              <a:buClr>
                <a:srgbClr val="C91317"/>
              </a:buClr>
              <a:buSzPct val="200000"/>
              <a:defRPr sz="1800">
                <a:solidFill>
                  <a:srgbClr val="2B2B2B"/>
                </a:solidFill>
                <a:latin typeface="Arial" panose="020B0604020202020204" pitchFamily="34" charset="0"/>
              </a:defRPr>
            </a:lvl1pPr>
            <a:lvl2pPr>
              <a:buClr>
                <a:srgbClr val="C91317"/>
              </a:buClr>
              <a:buSzPct val="200000"/>
              <a:defRPr sz="1600">
                <a:solidFill>
                  <a:srgbClr val="2B2B2B"/>
                </a:solidFill>
                <a:latin typeface="Arial" panose="020B0604020202020204" pitchFamily="34" charset="0"/>
              </a:defRPr>
            </a:lvl2pPr>
            <a:lvl3pPr>
              <a:buClr>
                <a:srgbClr val="C91317"/>
              </a:buClr>
              <a:buSzPct val="200000"/>
              <a:defRPr sz="1600">
                <a:solidFill>
                  <a:srgbClr val="2B2B2B"/>
                </a:solidFill>
                <a:latin typeface="Arial" panose="020B0604020202020204" pitchFamily="34" charset="0"/>
              </a:defRPr>
            </a:lvl3pPr>
            <a:lvl4pPr>
              <a:buClr>
                <a:srgbClr val="C91317"/>
              </a:buClr>
              <a:buSzPct val="200000"/>
              <a:defRPr sz="1600">
                <a:solidFill>
                  <a:srgbClr val="2B2B2B"/>
                </a:solidFill>
                <a:latin typeface="Arial" panose="020B0604020202020204" pitchFamily="34" charset="0"/>
              </a:defRPr>
            </a:lvl4pPr>
            <a:lvl5pPr>
              <a:buClr>
                <a:srgbClr val="C91317"/>
              </a:buClr>
              <a:buSzPct val="200000"/>
              <a:defRPr sz="1400">
                <a:solidFill>
                  <a:srgbClr val="2B2B2B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B723936F-B140-4856-8235-EC2D80F47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0" y="228600"/>
            <a:ext cx="4286249" cy="962247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fr-FR" sz="2500">
                <a:solidFill>
                  <a:srgbClr val="2B2B2B"/>
                </a:solidFill>
                <a:latin typeface="Roboto "/>
              </a:rPr>
              <a:t>Modifiez le style du titre</a:t>
            </a:r>
            <a:endParaRPr lang="fr-BE" sz="2500" dirty="0">
              <a:solidFill>
                <a:srgbClr val="2B2B2B"/>
              </a:solidFill>
              <a:latin typeface="Roboto 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81B9BBB8-6FF0-4B19-ABA7-E48EDDA4C81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304431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6000" y="1776845"/>
            <a:ext cx="6572250" cy="4084206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400" i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5751" y="1776845"/>
            <a:ext cx="1885950" cy="409214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b="1">
                <a:solidFill>
                  <a:srgbClr val="2B2B2B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F43EE628-A185-4A6D-BE88-14EFD8F49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0" y="228600"/>
            <a:ext cx="4286249" cy="962247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fr-FR" sz="2500">
                <a:solidFill>
                  <a:srgbClr val="2B2B2B"/>
                </a:solidFill>
                <a:latin typeface="Roboto "/>
              </a:rPr>
              <a:t>Modifiez le style du titre</a:t>
            </a:r>
            <a:endParaRPr lang="fr-BE" sz="2500" dirty="0">
              <a:solidFill>
                <a:srgbClr val="2B2B2B"/>
              </a:solidFill>
              <a:latin typeface="Roboto 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6B18CF9C-FA09-400B-8A6D-3B4F71D1C4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6357990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5142E7-FD62-4A3B-BA3B-F57F13E80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68CDE9CF-4445-4195-AB8F-98D37C850D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‹N°›</a:t>
            </a:fld>
            <a:endParaRPr lang="fr-BE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17093D8-5537-49FE-9E58-DD113F96AAD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85850" y="3109912"/>
            <a:ext cx="5553075" cy="63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4012097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E8DBFD8E-0DC8-4C60-850D-B6271FE2C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850" y="2103437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4A10DA80-EF2E-4A94-8BB7-3A6AF98E46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848475" y="608012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DF9506-C750-44C3-8E12-610AD4C8F1FD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846317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70" r:id="rId8"/>
    <p:sldLayoutId id="2147483671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500" kern="1200">
          <a:solidFill>
            <a:schemeClr val="tx1"/>
          </a:solidFill>
          <a:latin typeface="Roboto Condensed" panose="02000000000000000000" pitchFamily="2" charset="0"/>
          <a:ea typeface="Roboto Condensed" panose="02000000000000000000" pitchFamily="2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Roboto Condensed" panose="02000000000000000000" pitchFamily="2" charset="0"/>
          <a:ea typeface="Roboto Condensed" panose="02000000000000000000" pitchFamily="2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Roboto Condensed" panose="02000000000000000000" pitchFamily="2" charset="0"/>
          <a:ea typeface="Roboto Condensed" panose="02000000000000000000" pitchFamily="2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Roboto Condensed" panose="02000000000000000000" pitchFamily="2" charset="0"/>
          <a:ea typeface="Roboto Condensed" panose="02000000000000000000" pitchFamily="2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oboto Condensed" panose="02000000000000000000" pitchFamily="2" charset="0"/>
          <a:ea typeface="Roboto Condensed" panose="02000000000000000000" pitchFamily="2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Roboto Condensed" panose="02000000000000000000" pitchFamily="2" charset="0"/>
          <a:ea typeface="Roboto Condensed" panose="02000000000000000000" pitchFamily="2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A75EA5D-AC64-41C5-A86A-8CEC6C3E3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7581" y="2248912"/>
            <a:ext cx="7886700" cy="1062699"/>
          </a:xfrm>
        </p:spPr>
        <p:txBody>
          <a:bodyPr>
            <a:normAutofit fontScale="90000"/>
          </a:bodyPr>
          <a:lstStyle/>
          <a:p>
            <a:r>
              <a:rPr lang="fr-FR" sz="4400" dirty="0"/>
              <a:t>Mathématiques appliquées à l'informatique</a:t>
            </a:r>
            <a:endParaRPr lang="fr-BE" sz="4400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B893DFD-C04B-4489-8111-E1C33A2FF174}"/>
              </a:ext>
            </a:extLst>
          </p:cNvPr>
          <p:cNvSpPr txBox="1"/>
          <p:nvPr/>
        </p:nvSpPr>
        <p:spPr>
          <a:xfrm>
            <a:off x="1573427" y="3505200"/>
            <a:ext cx="74008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>
                    <a:lumMod val="50000"/>
                  </a:schemeClr>
                </a:solidFill>
              </a:rPr>
              <a:t>BA2 Informatique</a:t>
            </a:r>
          </a:p>
          <a:p>
            <a:r>
              <a:rPr lang="fr-FR" dirty="0">
                <a:solidFill>
                  <a:schemeClr val="bg1">
                    <a:lumMod val="50000"/>
                  </a:schemeClr>
                </a:solidFill>
              </a:rPr>
              <a:t>Johan </a:t>
            </a:r>
            <a:r>
              <a:rPr lang="fr-FR" dirty="0" err="1">
                <a:solidFill>
                  <a:schemeClr val="bg1">
                    <a:lumMod val="50000"/>
                  </a:schemeClr>
                </a:solidFill>
              </a:rPr>
              <a:t>Depréter</a:t>
            </a:r>
            <a:r>
              <a:rPr lang="fr-FR" dirty="0">
                <a:solidFill>
                  <a:schemeClr val="bg1">
                    <a:lumMod val="50000"/>
                  </a:schemeClr>
                </a:solidFill>
              </a:rPr>
              <a:t> – johan.depreter@heh.be</a:t>
            </a:r>
            <a:endParaRPr lang="fr-BE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83B3C02-371C-4836-9681-7DD0EFCB39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1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8335873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987B051-16F8-4B50-803C-8505DBE9E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9843" y="3110491"/>
            <a:ext cx="7886700" cy="1169698"/>
          </a:xfrm>
        </p:spPr>
        <p:txBody>
          <a:bodyPr/>
          <a:lstStyle/>
          <a:p>
            <a:r>
              <a:rPr lang="fr-FR" sz="4400" dirty="0"/>
              <a:t>Hachage et implications</a:t>
            </a:r>
            <a:endParaRPr lang="fr-BE" sz="4400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E92B0AA5-3545-4384-864F-D1FEEA8C72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2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7501055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5C929DAE-8C54-4F0F-975A-EDC1F382096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fr-FR" dirty="0"/>
                  <a:t>C’est une application 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: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fr-BE" dirty="0"/>
              </a:p>
              <a:p>
                <a:pPr marL="0" indent="0">
                  <a:buNone/>
                </a:pPr>
                <a:r>
                  <a:rPr lang="fr-BE" dirty="0"/>
                  <a:t>Où D est une donnée quelconque et H un espace fini.</a:t>
                </a:r>
              </a:p>
              <a:p>
                <a:pPr marL="0" indent="0">
                  <a:buNone/>
                </a:pPr>
                <a:endParaRPr lang="fr-BE" dirty="0"/>
              </a:p>
              <a:p>
                <a:pPr marL="0" indent="0">
                  <a:buNone/>
                </a:pPr>
                <a:r>
                  <a:rPr lang="fr-BE" dirty="0"/>
                  <a:t>Utilisations :</a:t>
                </a:r>
              </a:p>
              <a:p>
                <a:pPr marL="0" indent="0">
                  <a:buNone/>
                </a:pPr>
                <a:r>
                  <a:rPr lang="fr-BE" dirty="0"/>
                  <a:t>	- Vérification d’intégrité</a:t>
                </a:r>
              </a:p>
              <a:p>
                <a:pPr marL="0" indent="0">
                  <a:buNone/>
                </a:pPr>
                <a:r>
                  <a:rPr lang="fr-BE" dirty="0"/>
                  <a:t>	- Mots de passe</a:t>
                </a:r>
              </a:p>
              <a:p>
                <a:pPr marL="0" indent="0">
                  <a:buNone/>
                </a:pPr>
                <a:r>
                  <a:rPr lang="fr-BE" dirty="0"/>
                  <a:t>	- Signatures numériques</a:t>
                </a:r>
              </a:p>
              <a:p>
                <a:pPr marL="0" indent="0">
                  <a:buNone/>
                </a:pPr>
                <a:r>
                  <a:rPr lang="fr-BE" dirty="0"/>
                  <a:t>	- Tables de hachage</a:t>
                </a:r>
              </a:p>
            </p:txBody>
          </p:sp>
        </mc:Choice>
        <mc:Fallback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5C929DAE-8C54-4F0F-975A-EDC1F38209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71" t="-1943" b="-149"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re 2">
            <a:extLst>
              <a:ext uri="{FF2B5EF4-FFF2-40B4-BE49-F238E27FC236}">
                <a16:creationId xmlns:a16="http://schemas.microsoft.com/office/drawing/2014/main" id="{58081C72-3DB0-4E9F-91C3-97AA9E26B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Définition d’une fonction de hachage</a:t>
            </a: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450F8EE-1A88-4A9B-98F4-C6DE2B70F6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3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078788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C0CCE788-9B98-4AEF-A54E-2F03DEA50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Principe du Dirichlet</a:t>
            </a: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CE44B5F-5516-41C6-B684-1AFEB0A6EF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4</a:t>
            </a:fld>
            <a:endParaRPr lang="fr-BE"/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00A57C82-6BC1-40BF-B9EF-77C66B05101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4031" y="1898650"/>
            <a:ext cx="5029275" cy="4076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03811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F6195875-C172-40A1-98A4-C61568965D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MD5 – 128 bits (obsolète)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SHA-1 – 160 bits (cassé)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SHA-256 – 256 bits</a:t>
            </a:r>
          </a:p>
          <a:p>
            <a:pPr marL="0" indent="0">
              <a:buNone/>
            </a:pPr>
            <a:br>
              <a:rPr lang="fr-FR" dirty="0"/>
            </a:br>
            <a:r>
              <a:rPr lang="fr-FR" dirty="0"/>
              <a:t>SHA-3, BLAKE3 – 256 bits</a:t>
            </a:r>
            <a:endParaRPr lang="fr-BE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3CD82A48-8386-4918-9741-268BA7B8E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Exemples de Hash</a:t>
            </a: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D619F54-A168-4E9A-995E-D1A2D6E87D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5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573212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CCF3FDFE-AA1B-4BB5-BFEB-488A0DF6C69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18977" y="1453662"/>
                <a:ext cx="8539273" cy="4521111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fr-FR" dirty="0"/>
                  <a:t>Déterministe</a:t>
                </a:r>
              </a:p>
              <a:p>
                <a:pPr marL="0" indent="0">
                  <a:buNone/>
                </a:pPr>
                <a:r>
                  <a:rPr lang="fr-FR" dirty="0"/>
                  <a:t>« à une même entrée, la fonction produit toujours la même sortie. »</a:t>
                </a:r>
              </a:p>
              <a:p>
                <a:endParaRPr lang="fr-FR" dirty="0"/>
              </a:p>
              <a:p>
                <a:pPr marL="0" indent="0">
                  <a:buNone/>
                </a:pPr>
                <a:r>
                  <a:rPr lang="fr-BE" dirty="0"/>
                  <a:t>Résistance à la pré-image</a:t>
                </a:r>
              </a:p>
              <a:p>
                <a:pPr marL="0" indent="0">
                  <a:buNone/>
                </a:pPr>
                <a:r>
                  <a:rPr lang="fr-BE" dirty="0"/>
                  <a:t>« </a:t>
                </a:r>
                <a:r>
                  <a:rPr lang="fr-FR" dirty="0"/>
                  <a:t>il est </a:t>
                </a:r>
                <a:r>
                  <a:rPr lang="fr-FR" b="1" dirty="0" err="1"/>
                  <a:t>incomputable</a:t>
                </a:r>
                <a:r>
                  <a:rPr lang="fr-FR" b="1" dirty="0"/>
                  <a:t> (ou extrêmement difficile)</a:t>
                </a:r>
                <a:r>
                  <a:rPr lang="fr-FR" dirty="0"/>
                  <a:t> de retrouver le message d'origine à partir d'un hash. »</a:t>
                </a:r>
              </a:p>
              <a:p>
                <a:pPr marL="0" indent="0">
                  <a:buNone/>
                </a:pPr>
                <a:endParaRPr lang="fr-FR" dirty="0"/>
              </a:p>
              <a:p>
                <a:pPr marL="0" indent="0">
                  <a:buNone/>
                </a:pPr>
                <a:r>
                  <a:rPr lang="fr-FR" dirty="0"/>
                  <a:t>Résistance à la seconde pré-image</a:t>
                </a:r>
              </a:p>
              <a:p>
                <a:pPr marL="0" indent="0">
                  <a:buNone/>
                </a:pPr>
                <a:r>
                  <a:rPr lang="fr-BE" dirty="0"/>
                  <a:t>« </a:t>
                </a:r>
                <a:r>
                  <a:rPr lang="fr-FR" dirty="0"/>
                  <a:t>étant donné un message x, il est difficile de trouver un autre message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fr-FR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fr-FR" b="0" i="1" dirty="0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fr-FR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fr-FR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dirty="0"/>
                  <a:t>tel que </a:t>
                </a:r>
                <a14:m>
                  <m:oMath xmlns:m="http://schemas.openxmlformats.org/officeDocument/2006/math">
                    <m:r>
                      <a:rPr lang="fr-FR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fr-FR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fr-FR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fr-FR" i="1" dirty="0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fr-FR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fr-FR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fr-FR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fr-FR" i="1" dirty="0" smtClean="0">
                        <a:latin typeface="Cambria Math" panose="02040503050406030204" pitchFamily="18" charset="0"/>
                      </a:rPr>
                      <m:t>′). </m:t>
                    </m:r>
                  </m:oMath>
                </a14:m>
                <a:r>
                  <a:rPr lang="fr-FR" dirty="0"/>
                  <a:t>»</a:t>
                </a:r>
                <a:endParaRPr lang="fr-BE" dirty="0"/>
              </a:p>
              <a:p>
                <a:pPr marL="0" indent="0">
                  <a:buNone/>
                </a:pPr>
                <a:endParaRPr lang="fr-BE" dirty="0"/>
              </a:p>
            </p:txBody>
          </p:sp>
        </mc:Choice>
        <mc:Fallback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CCF3FDFE-AA1B-4BB5-BFEB-488A0DF6C6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8977" y="1453662"/>
                <a:ext cx="8539273" cy="4521111"/>
              </a:xfrm>
              <a:blipFill>
                <a:blip r:embed="rId2"/>
                <a:stretch>
                  <a:fillRect l="-1071" t="-1752" r="-1642" b="-5795"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re 2">
            <a:extLst>
              <a:ext uri="{FF2B5EF4-FFF2-40B4-BE49-F238E27FC236}">
                <a16:creationId xmlns:a16="http://schemas.microsoft.com/office/drawing/2014/main" id="{0B1FAD16-FC8D-45C3-B9BD-B6BA86F88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Rappel des propriétés</a:t>
            </a: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CFB3E31-3323-4817-AE11-7C6F1B1DDC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6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72343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F88350DB-F962-469C-AF67-D4D1229CCC5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18977" y="1430215"/>
                <a:ext cx="8539273" cy="454455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fr-FR" dirty="0"/>
                  <a:t>Résistance aux collisions</a:t>
                </a:r>
              </a:p>
              <a:p>
                <a:pPr marL="0" indent="0">
                  <a:buNone/>
                </a:pPr>
                <a:r>
                  <a:rPr lang="fr-FR" dirty="0"/>
                  <a:t>« c’est difficile de trouver </a:t>
                </a:r>
                <a:r>
                  <a:rPr lang="fr-FR" b="1" dirty="0"/>
                  <a:t>2 messages distincts </a:t>
                </a:r>
                <a14:m>
                  <m:oMath xmlns:m="http://schemas.openxmlformats.org/officeDocument/2006/math">
                    <m:r>
                      <a:rPr lang="fr-FR" i="1" dirty="0" err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fr-FR" b="0" i="1" dirty="0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fr-FR" i="1" dirty="0" err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fr-FR" i="1" dirty="0" smtClean="0">
                        <a:latin typeface="Cambria Math" panose="02040503050406030204" pitchFamily="18" charset="0"/>
                      </a:rPr>
                      <m:t>′ </m:t>
                    </m:r>
                  </m:oMath>
                </a14:m>
                <a:r>
                  <a:rPr lang="fr-FR" dirty="0"/>
                  <a:t>tels que </a:t>
                </a:r>
                <a14:m>
                  <m:oMath xmlns:m="http://schemas.openxmlformats.org/officeDocument/2006/math">
                    <m:r>
                      <a:rPr lang="fr-FR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fr-FR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fr-FR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fr-FR" i="1" dirty="0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fr-FR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fr-FR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fr-FR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fr-FR" i="1" dirty="0" smtClean="0">
                        <a:latin typeface="Cambria Math" panose="02040503050406030204" pitchFamily="18" charset="0"/>
                      </a:rPr>
                      <m:t>′)</m:t>
                    </m:r>
                  </m:oMath>
                </a14:m>
                <a:r>
                  <a:rPr lang="fr-BE" dirty="0"/>
                  <a:t> »</a:t>
                </a:r>
              </a:p>
              <a:p>
                <a:pPr marL="0" indent="0">
                  <a:buNone/>
                </a:pPr>
                <a:endParaRPr lang="fr-BE" dirty="0"/>
              </a:p>
              <a:p>
                <a:pPr marL="0" indent="0">
                  <a:buNone/>
                </a:pPr>
                <a:r>
                  <a:rPr lang="fr-BE" dirty="0"/>
                  <a:t>Diffusion</a:t>
                </a:r>
              </a:p>
              <a:p>
                <a:pPr marL="0" indent="0">
                  <a:buNone/>
                </a:pPr>
                <a:r>
                  <a:rPr lang="fr-BE" dirty="0"/>
                  <a:t>« </a:t>
                </a:r>
                <a:r>
                  <a:rPr lang="fr-FR" dirty="0"/>
                  <a:t>Une </a:t>
                </a:r>
                <a:r>
                  <a:rPr lang="fr-FR" b="1" dirty="0"/>
                  <a:t>petite modification</a:t>
                </a:r>
                <a:r>
                  <a:rPr lang="fr-FR" dirty="0"/>
                  <a:t> de l’entrée provoque une </a:t>
                </a:r>
                <a:r>
                  <a:rPr lang="fr-FR" b="1" dirty="0"/>
                  <a:t>modification radicale</a:t>
                </a:r>
                <a:r>
                  <a:rPr lang="fr-FR" dirty="0"/>
                  <a:t> du hash. »</a:t>
                </a:r>
              </a:p>
              <a:p>
                <a:pPr marL="0" indent="0">
                  <a:buNone/>
                </a:pPr>
                <a:endParaRPr lang="fr-FR" dirty="0"/>
              </a:p>
              <a:p>
                <a:pPr marL="0" indent="0">
                  <a:buNone/>
                </a:pPr>
                <a:r>
                  <a:rPr lang="fr-FR" dirty="0"/>
                  <a:t>Uniformité</a:t>
                </a:r>
              </a:p>
              <a:p>
                <a:pPr marL="0" indent="0">
                  <a:buNone/>
                </a:pPr>
                <a:r>
                  <a:rPr lang="fr-BE" dirty="0"/>
                  <a:t>« </a:t>
                </a:r>
                <a:r>
                  <a:rPr lang="fr-FR" dirty="0"/>
                  <a:t>La sortie du hash doit être </a:t>
                </a:r>
                <a:r>
                  <a:rPr lang="fr-FR" b="1" dirty="0"/>
                  <a:t>uniformément répartie</a:t>
                </a:r>
                <a:r>
                  <a:rPr lang="fr-FR" dirty="0"/>
                  <a:t> dans l’espace de sortie H »</a:t>
                </a:r>
                <a:endParaRPr lang="fr-BE" dirty="0"/>
              </a:p>
            </p:txBody>
          </p:sp>
        </mc:Choice>
        <mc:Fallback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F88350DB-F962-469C-AF67-D4D1229CCC5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8977" y="1430215"/>
                <a:ext cx="8539273" cy="4544558"/>
              </a:xfrm>
              <a:blipFill>
                <a:blip r:embed="rId2"/>
                <a:stretch>
                  <a:fillRect l="-1071" t="-1745" b="-4430"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re 2">
            <a:extLst>
              <a:ext uri="{FF2B5EF4-FFF2-40B4-BE49-F238E27FC236}">
                <a16:creationId xmlns:a16="http://schemas.microsoft.com/office/drawing/2014/main" id="{540AC3F3-9566-4B97-89E3-D7238177D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Rappel des propriétés</a:t>
            </a: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840BD72-D570-4D05-9044-4EF46F5274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7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23789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au 5">
            <a:extLst>
              <a:ext uri="{FF2B5EF4-FFF2-40B4-BE49-F238E27FC236}">
                <a16:creationId xmlns:a16="http://schemas.microsoft.com/office/drawing/2014/main" id="{AA599932-19B3-46BC-879B-305C98942C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82243837"/>
              </p:ext>
            </p:extLst>
          </p:nvPr>
        </p:nvGraphicFramePr>
        <p:xfrm>
          <a:off x="319088" y="1898650"/>
          <a:ext cx="8539162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69581">
                  <a:extLst>
                    <a:ext uri="{9D8B030D-6E8A-4147-A177-3AD203B41FA5}">
                      <a16:colId xmlns:a16="http://schemas.microsoft.com/office/drawing/2014/main" val="2524890697"/>
                    </a:ext>
                  </a:extLst>
                </a:gridCol>
                <a:gridCol w="4269581">
                  <a:extLst>
                    <a:ext uri="{9D8B030D-6E8A-4147-A177-3AD203B41FA5}">
                      <a16:colId xmlns:a16="http://schemas.microsoft.com/office/drawing/2014/main" val="13611239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BE" dirty="0"/>
                        <a:t>Propriété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BE" dirty="0"/>
                        <a:t>But principal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62185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Déterminisme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Fiabilité du hachage</a:t>
                      </a:r>
                      <a:endParaRPr lang="fr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84175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Résistance à la préimage</a:t>
                      </a:r>
                      <a:endParaRPr lang="fr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Mot de passe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66633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Résistance à la deuxième préimage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Protection contre faux</a:t>
                      </a:r>
                      <a:endParaRPr lang="fr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16950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Résistance aux collisions</a:t>
                      </a:r>
                      <a:endParaRPr lang="fr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Intégrité, crypto</a:t>
                      </a:r>
                      <a:endParaRPr lang="fr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27808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Diffusion</a:t>
                      </a:r>
                      <a:endParaRPr lang="fr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Obfuscation, sécurité</a:t>
                      </a:r>
                      <a:endParaRPr lang="fr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331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Uniformité</a:t>
                      </a:r>
                      <a:endParaRPr lang="fr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Moins de collisions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05840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Efficacité</a:t>
                      </a:r>
                      <a:endParaRPr lang="fr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Applicabilité</a:t>
                      </a:r>
                      <a:endParaRPr lang="fr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9660790"/>
                  </a:ext>
                </a:extLst>
              </a:tr>
            </a:tbl>
          </a:graphicData>
        </a:graphic>
      </p:graphicFrame>
      <p:sp>
        <p:nvSpPr>
          <p:cNvPr id="3" name="Titre 2">
            <a:extLst>
              <a:ext uri="{FF2B5EF4-FFF2-40B4-BE49-F238E27FC236}">
                <a16:creationId xmlns:a16="http://schemas.microsoft.com/office/drawing/2014/main" id="{FDB3B664-6BCB-4188-B4BE-C4DADB1FD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Récapitulatif</a:t>
            </a: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41952CA-3DF9-4377-BFF6-CF88164652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8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9722965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E2FF81B1-AE85-4D84-A553-03DB05276C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Utilisation de « Construction en éponge »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BE" dirty="0"/>
              <a:t>	</a:t>
            </a:r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r>
              <a:rPr lang="fr-BE" dirty="0"/>
              <a:t>Nombre importants de permutation qui empêche d’inverse directement la fonction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25611BD8-45FF-44D6-B7E8-6AD03FFB8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Résistance à la préimage</a:t>
            </a: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CB58647-04AB-408E-819C-E139395F12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9</a:t>
            </a:fld>
            <a:endParaRPr lang="fr-BE"/>
          </a:p>
        </p:txBody>
      </p:sp>
      <p:pic>
        <p:nvPicPr>
          <p:cNvPr id="3074" name="Picture 2" descr="Illustration of the sponge construction">
            <a:extLst>
              <a:ext uri="{FF2B5EF4-FFF2-40B4-BE49-F238E27FC236}">
                <a16:creationId xmlns:a16="http://schemas.microsoft.com/office/drawing/2014/main" id="{4C420A9A-672A-422C-BC21-10A542961C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1877" y="2332825"/>
            <a:ext cx="4900246" cy="2192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7859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78A5EEF1-99D4-4613-98BC-8DFD898ABF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Encodage de la longueur du message (</a:t>
            </a:r>
            <a:r>
              <a:rPr lang="fr-FR" dirty="0" err="1"/>
              <a:t>Merkle-Damg</a:t>
            </a:r>
            <a:r>
              <a:rPr lang="fr-BE" dirty="0" err="1"/>
              <a:t>ård</a:t>
            </a:r>
            <a:r>
              <a:rPr lang="fr-BE" dirty="0"/>
              <a:t>)</a:t>
            </a:r>
          </a:p>
          <a:p>
            <a:pPr marL="0" indent="0">
              <a:buNone/>
            </a:pPr>
            <a:r>
              <a:rPr lang="fr-BE" dirty="0"/>
              <a:t>	On va ajouter la longueur du message à la fin du 	message</a:t>
            </a:r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r>
              <a:rPr lang="fr-BE" dirty="0"/>
              <a:t>	Un peu comme une signature et une date à une lettre 	identique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E8E65A40-6CD0-4F43-AC6A-837B80E04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Résistance à la seconde préimage</a:t>
            </a: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A93B9EB-140F-4103-837E-96EFE13719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10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49957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161A82D3-281A-41E2-8F2D-C3A77B9C338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fr-FR" dirty="0"/>
                  <a:t>Utilisations de XOR, de changement de bits et de rotation de bits</a:t>
                </a:r>
              </a:p>
              <a:p>
                <a:pPr marL="0" indent="0">
                  <a:buNone/>
                </a:pPr>
                <a:endParaRPr lang="fr-FR" dirty="0"/>
              </a:p>
              <a:p>
                <a:pPr marL="0" indent="0">
                  <a:buNone/>
                </a:pPr>
                <a:r>
                  <a:rPr lang="fr-FR" dirty="0"/>
                  <a:t>Exemples 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𝑀𝐷</m:t>
                      </m:r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5(« </m:t>
                      </m:r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𝑏𝑜𝑛𝑗𝑜𝑢𝑟</m:t>
                      </m:r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 ») = </m:t>
                      </m:r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02368945726</m:t>
                      </m:r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𝑓𝑐</m:t>
                      </m:r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14</m:t>
                      </m:r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𝑒𝑏</m:t>
                      </m:r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576</m:t>
                      </m:r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7276</m:t>
                      </m:r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fr-FR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𝑀𝐷</m:t>
                      </m:r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5(« </m:t>
                      </m:r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𝐵𝑜𝑛𝑗𝑜𝑢𝑟</m:t>
                      </m:r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 ») = </m:t>
                      </m:r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𝑒𝑏𝑐</m:t>
                      </m:r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58</m:t>
                      </m:r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𝑎𝑏</m:t>
                      </m:r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𝑐𝑏</m:t>
                      </m:r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4848</m:t>
                      </m:r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04</m:t>
                      </m:r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𝑒𝑐</m:t>
                      </m:r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23</m:t>
                      </m:r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83</m:t>
                      </m:r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𝑑𝑑𝑓</m:t>
                      </m:r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985</m:t>
                      </m:r>
                    </m:oMath>
                  </m:oMathPara>
                </a14:m>
                <a:endParaRPr lang="fr-BE" dirty="0"/>
              </a:p>
              <a:p>
                <a:pPr marL="0" indent="0">
                  <a:buNone/>
                </a:pPr>
                <a:endParaRPr lang="fr-BE" dirty="0"/>
              </a:p>
              <a:p>
                <a:pPr marL="0" indent="0">
                  <a:buNone/>
                </a:pPr>
                <a:r>
                  <a:rPr lang="fr-BE" dirty="0"/>
                  <a:t>Modification de l’état interne entre chaque itération</a:t>
                </a:r>
              </a:p>
            </p:txBody>
          </p:sp>
        </mc:Choice>
        <mc:Fallback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161A82D3-281A-41E2-8F2D-C3A77B9C338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71" t="-1943" r="-143"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re 2">
            <a:extLst>
              <a:ext uri="{FF2B5EF4-FFF2-40B4-BE49-F238E27FC236}">
                <a16:creationId xmlns:a16="http://schemas.microsoft.com/office/drawing/2014/main" id="{C5BA7C51-E9EB-435C-B423-809125C42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Diffusion</a:t>
            </a: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57C001C-1150-4AF1-9723-227F9CCBC5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11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1122544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A4F81831-7F38-43A6-8560-538651CBBB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Tests statistiques </a:t>
            </a:r>
            <a:r>
              <a:rPr lang="fr-FR" dirty="0" err="1"/>
              <a:t>Diehard</a:t>
            </a:r>
            <a:r>
              <a:rPr lang="fr-FR" dirty="0"/>
              <a:t> et les STS du NIST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	Batterie de tests qui permettent de mesurer la qualité 	de l’aléatoire</a:t>
            </a:r>
          </a:p>
          <a:p>
            <a:pPr marL="0" indent="0">
              <a:buNone/>
            </a:pPr>
            <a:r>
              <a:rPr lang="fr-FR" dirty="0"/>
              <a:t>	Se compose, entre autre, de : </a:t>
            </a:r>
          </a:p>
          <a:p>
            <a:pPr marL="0" indent="0">
              <a:buNone/>
            </a:pPr>
            <a:r>
              <a:rPr lang="fr-FR" dirty="0"/>
              <a:t>	- Tests de distances minimales,</a:t>
            </a:r>
          </a:p>
          <a:p>
            <a:pPr marL="0" indent="0">
              <a:buNone/>
            </a:pPr>
            <a:r>
              <a:rPr lang="fr-FR" dirty="0"/>
              <a:t>	- Tests de compression, </a:t>
            </a:r>
          </a:p>
          <a:p>
            <a:pPr marL="0" indent="0">
              <a:buNone/>
            </a:pPr>
            <a:r>
              <a:rPr lang="fr-FR" dirty="0"/>
              <a:t>	- Tests de flux binaire, </a:t>
            </a:r>
          </a:p>
          <a:p>
            <a:pPr marL="0" indent="0">
              <a:buNone/>
            </a:pPr>
            <a:r>
              <a:rPr lang="fr-FR" dirty="0"/>
              <a:t>	- …</a:t>
            </a:r>
            <a:endParaRPr lang="fr-BE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4767760C-88C8-4A56-83E0-749B01FF6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Uniformité</a:t>
            </a: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A54EE30-4DCC-48D7-A968-3EDE57D3E3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12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829454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2F22BCD1-70C6-4EC3-A6F2-29041CA43B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17D7ACA3-7677-47E4-B0B4-83E7DD2D8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8227FD8-4FA5-4B8F-B08C-6ADF609654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13</a:t>
            </a:fld>
            <a:endParaRPr lang="fr-BE"/>
          </a:p>
        </p:txBody>
      </p:sp>
      <p:pic>
        <p:nvPicPr>
          <p:cNvPr id="5122" name="Picture 2" descr="a planet is being destroyed by a fireball">
            <a:extLst>
              <a:ext uri="{FF2B5EF4-FFF2-40B4-BE49-F238E27FC236}">
                <a16:creationId xmlns:a16="http://schemas.microsoft.com/office/drawing/2014/main" id="{EDE4F3F6-77FC-4FA6-BB64-A31F35575102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6352" y="1547236"/>
            <a:ext cx="5911296" cy="4427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1286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9579F521-E88B-4FE3-ACAC-05BD29528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36F4051-CF00-4909-ABC2-71081C6815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14</a:t>
            </a:fld>
            <a:endParaRPr lang="fr-BE"/>
          </a:p>
        </p:txBody>
      </p:sp>
      <p:pic>
        <p:nvPicPr>
          <p:cNvPr id="2050" name="Picture 2" descr="two men standing next to each other with the words interlude anti-chiantitude">
            <a:extLst>
              <a:ext uri="{FF2B5EF4-FFF2-40B4-BE49-F238E27FC236}">
                <a16:creationId xmlns:a16="http://schemas.microsoft.com/office/drawing/2014/main" id="{7E0CCD67-467F-4E11-AF86-0D6092F29A7D}"/>
              </a:ext>
            </a:extLst>
          </p:cNvPr>
          <p:cNvPicPr>
            <a:picLocks noGrp="1" noChangeAspect="1" noChangeArrowheads="1" noCro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0934" y="2379784"/>
            <a:ext cx="5742131" cy="3032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74726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71D801F4-D043-4496-85A6-25E9BEBF4C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4C4D1D49-9B6B-4CE2-997B-5BF279262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D522F8B-2BAD-4635-B345-8FD7466CD5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15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5408233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D99B1E62-4603-4318-8940-2871D804E0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977" y="1898361"/>
            <a:ext cx="8539273" cy="1243424"/>
          </a:xfrm>
        </p:spPr>
        <p:txBody>
          <a:bodyPr/>
          <a:lstStyle/>
          <a:p>
            <a:pPr marL="0" indent="0">
              <a:buNone/>
            </a:pPr>
            <a:r>
              <a:rPr lang="fr-FR" dirty="0"/>
              <a:t>Dans un groupe de n personnes, quelle est la probabilité que deux d’entre elle partagent le même anniversaire ?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8952B402-1A86-46FA-BAFF-DF16680E0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Paradoxe des anniversaires</a:t>
            </a: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DFDE09E-800E-4793-9AC7-011C43533A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16</a:t>
            </a:fld>
            <a:endParaRPr lang="fr-BE"/>
          </a:p>
        </p:txBody>
      </p:sp>
      <p:pic>
        <p:nvPicPr>
          <p:cNvPr id="6146" name="Picture 2" descr="two spider-man are pointing at each other in front of a police van .">
            <a:extLst>
              <a:ext uri="{FF2B5EF4-FFF2-40B4-BE49-F238E27FC236}">
                <a16:creationId xmlns:a16="http://schemas.microsoft.com/office/drawing/2014/main" id="{F419C45F-2E1C-4046-97DD-78909993D3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5638" y="2697910"/>
            <a:ext cx="4439385" cy="3329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93CDAF05-2666-40EC-9B40-75F440510522}"/>
              </a:ext>
            </a:extLst>
          </p:cNvPr>
          <p:cNvSpPr txBox="1"/>
          <p:nvPr/>
        </p:nvSpPr>
        <p:spPr>
          <a:xfrm>
            <a:off x="318977" y="3141785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fr-BE" sz="2400" dirty="0">
                <a:latin typeface="Arial" panose="020B0604020202020204" pitchFamily="34" charset="0"/>
                <a:cs typeface="Arial" panose="020B0604020202020204" pitchFamily="34" charset="0"/>
              </a:rPr>
              <a:t>Hypothèses :</a:t>
            </a:r>
          </a:p>
          <a:p>
            <a:pPr marL="0" indent="0">
              <a:buNone/>
            </a:pPr>
            <a:r>
              <a:rPr lang="fr-BE" sz="2400" dirty="0">
                <a:latin typeface="Arial" panose="020B0604020202020204" pitchFamily="34" charset="0"/>
                <a:cs typeface="Arial" panose="020B0604020202020204" pitchFamily="34" charset="0"/>
              </a:rPr>
              <a:t>- 365 jours</a:t>
            </a:r>
          </a:p>
          <a:p>
            <a:pPr marL="0" indent="0">
              <a:buNone/>
            </a:pPr>
            <a:r>
              <a:rPr lang="fr-BE" sz="2400" dirty="0">
                <a:latin typeface="Arial" panose="020B0604020202020204" pitchFamily="34" charset="0"/>
                <a:cs typeface="Arial" panose="020B0604020202020204" pitchFamily="34" charset="0"/>
              </a:rPr>
              <a:t>- Distribution uniforme</a:t>
            </a:r>
          </a:p>
        </p:txBody>
      </p:sp>
    </p:spTree>
    <p:extLst>
      <p:ext uri="{BB962C8B-B14F-4D97-AF65-F5344CB8AC3E}">
        <p14:creationId xmlns:p14="http://schemas.microsoft.com/office/powerpoint/2010/main" val="1125839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19C39B1D-FA2D-48F7-8ED7-1F9C4B8D81B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fr-FR" dirty="0"/>
                  <a:t>Etape 1 – Événement complémentaire</a:t>
                </a:r>
              </a:p>
              <a:p>
                <a:pPr marL="0" indent="0">
                  <a:buNone/>
                </a:pPr>
                <a:endParaRPr lang="fr-FR" dirty="0"/>
              </a:p>
              <a:p>
                <a:pPr marL="0" indent="0">
                  <a:buNone/>
                </a:pPr>
                <a:r>
                  <a:rPr lang="fr-FR" dirty="0"/>
                  <a:t>« La probabilité que toutes les personnes aient des anniversaires différents »</a:t>
                </a:r>
              </a:p>
              <a:p>
                <a:pPr marL="0" indent="0">
                  <a:buNone/>
                </a:pPr>
                <a:endParaRPr lang="fr-FR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𝐶𝑜𝑙𝑙𝑖𝑠𝑖𝑜𝑛</m:t>
                          </m:r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=1−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𝑃𝑎𝑠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𝑑𝑒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𝑐𝑜𝑙𝑙𝑖𝑠𝑖𝑜𝑛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BE" dirty="0"/>
              </a:p>
            </p:txBody>
          </p:sp>
        </mc:Choice>
        <mc:Fallback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19C39B1D-FA2D-48F7-8ED7-1F9C4B8D81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71" t="-1943"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re 2">
            <a:extLst>
              <a:ext uri="{FF2B5EF4-FFF2-40B4-BE49-F238E27FC236}">
                <a16:creationId xmlns:a16="http://schemas.microsoft.com/office/drawing/2014/main" id="{2D821CF8-336D-4382-BD56-7FF24A239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Paradoxe des anniversaires</a:t>
            </a: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D67A257-319F-421E-9399-BBBB45CCB6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17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726087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19C39B1D-FA2D-48F7-8ED7-1F9C4B8D81B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18977" y="1606062"/>
                <a:ext cx="8539273" cy="4368711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fr-FR" dirty="0"/>
                  <a:t>Etape 2 – Calcul </a:t>
                </a:r>
              </a:p>
              <a:p>
                <a:pPr marL="0" indent="0">
                  <a:buNone/>
                </a:pPr>
                <a:endParaRPr lang="fr-FR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365</m:t>
                          </m:r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365</m:t>
                          </m:r>
                        </m:den>
                      </m:f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36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365</m:t>
                          </m:r>
                        </m:den>
                      </m:f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36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365</m:t>
                          </m:r>
                        </m:den>
                      </m:f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∗…∗</m:t>
                      </m:r>
                      <m:f>
                        <m:f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365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num>
                        <m:den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365</m:t>
                          </m:r>
                        </m:den>
                      </m:f>
                    </m:oMath>
                  </m:oMathPara>
                </a14:m>
                <a:endParaRPr lang="fr-BE" dirty="0"/>
              </a:p>
              <a:p>
                <a:pPr marL="0" indent="0">
                  <a:buNone/>
                </a:pPr>
                <a:endParaRPr lang="fr-B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fr-F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(1−</m:t>
                          </m:r>
                          <m:f>
                            <m:f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num>
                            <m:den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365</m:t>
                              </m:r>
                            </m:den>
                          </m:f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fr-BE" dirty="0"/>
              </a:p>
              <a:p>
                <a:pPr marL="0" indent="0">
                  <a:buNone/>
                </a:pPr>
                <a:r>
                  <a:rPr lang="fr-BE" dirty="0"/>
                  <a:t>Donc, la probabilité qu’il y ait au moins une collision :</a:t>
                </a:r>
                <a:endParaRPr lang="fr-BE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B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𝐶𝑜𝑙𝑙𝑖𝑠𝑖𝑜𝑛</m:t>
                          </m:r>
                        </m:sub>
                      </m:sSub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=1−</m:t>
                      </m:r>
                      <m:nary>
                        <m:naryPr>
                          <m:chr m:val="∏"/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fr-FR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(1−</m:t>
                          </m:r>
                          <m:f>
                            <m:f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num>
                            <m:den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365</m:t>
                              </m:r>
                            </m:den>
                          </m:f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fr-BE" dirty="0"/>
              </a:p>
            </p:txBody>
          </p:sp>
        </mc:Choice>
        <mc:Fallback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19C39B1D-FA2D-48F7-8ED7-1F9C4B8D81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8977" y="1606062"/>
                <a:ext cx="8539273" cy="4368711"/>
              </a:xfrm>
              <a:blipFill>
                <a:blip r:embed="rId3"/>
                <a:stretch>
                  <a:fillRect l="-1071" t="-1813"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re 2">
            <a:extLst>
              <a:ext uri="{FF2B5EF4-FFF2-40B4-BE49-F238E27FC236}">
                <a16:creationId xmlns:a16="http://schemas.microsoft.com/office/drawing/2014/main" id="{2D821CF8-336D-4382-BD56-7FF24A239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Paradoxe des anniversaires</a:t>
            </a: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D67A257-319F-421E-9399-BBBB45CCB6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18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33400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1742A47A-0855-4047-B25D-32AEC21F9AA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fr-FR" dirty="0"/>
                  <a:t>Etape 3 – Application numérique</a:t>
                </a:r>
              </a:p>
              <a:p>
                <a:pPr marL="0" indent="0">
                  <a:buNone/>
                </a:pPr>
                <a:endParaRPr lang="fr-FR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365∗364</m:t>
                          </m:r>
                        </m:num>
                        <m:den>
                          <m:sSup>
                            <m:sSup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365</m:t>
                              </m:r>
                            </m:e>
                            <m:sup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≈0.0027</m:t>
                      </m:r>
                    </m:oMath>
                  </m:oMathPara>
                </a14:m>
                <a:endParaRPr lang="fr-BE" dirty="0"/>
              </a:p>
              <a:p>
                <a:pPr marL="0" indent="0">
                  <a:buNone/>
                </a:pPr>
                <a:endParaRPr lang="fr-B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23</m:t>
                          </m:r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≈0.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5073</m:t>
                      </m:r>
                    </m:oMath>
                  </m:oMathPara>
                </a14:m>
                <a:endParaRPr lang="fr-BE" dirty="0"/>
              </a:p>
              <a:p>
                <a:pPr marL="0" indent="0">
                  <a:buNone/>
                </a:pPr>
                <a:endParaRPr lang="fr-BE" dirty="0"/>
              </a:p>
              <a:p>
                <a:pPr marL="0" indent="0">
                  <a:buNone/>
                </a:pPr>
                <a:r>
                  <a:rPr lang="fr-BE" dirty="0"/>
                  <a:t>À 23 personnes, il y a +/- 50% de chances que deux d’entre elles aient le même anniversaire.</a:t>
                </a:r>
              </a:p>
            </p:txBody>
          </p:sp>
        </mc:Choice>
        <mc:Fallback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1742A47A-0855-4047-B25D-32AEC21F9A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71" t="-1943"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re 2">
            <a:extLst>
              <a:ext uri="{FF2B5EF4-FFF2-40B4-BE49-F238E27FC236}">
                <a16:creationId xmlns:a16="http://schemas.microsoft.com/office/drawing/2014/main" id="{6FE91505-FC56-4C26-A322-B9A60E66C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Paradoxe des anniversaires</a:t>
            </a: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E5E124B-68C9-4935-92C2-012B43E511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19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450514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63AACE45-4E45-4D04-8806-255F554A3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Intuition :</a:t>
            </a:r>
          </a:p>
          <a:p>
            <a:pPr marL="0" indent="0">
              <a:buNone/>
            </a:pPr>
            <a:r>
              <a:rPr lang="fr-BE" dirty="0"/>
              <a:t>«</a:t>
            </a:r>
            <a:r>
              <a:rPr lang="fr-FR" dirty="0"/>
              <a:t>On a 365 jours, donc tant qu’on n’a pas 365 personnes, il y a peu de chances de collision.»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BE" dirty="0"/>
              <a:t>Ce serait vrai si on cherchait une date particulière.</a:t>
            </a:r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r>
              <a:rPr lang="fr-BE" dirty="0"/>
              <a:t>Sauf qu’o</a:t>
            </a:r>
            <a:r>
              <a:rPr lang="fr-FR" dirty="0"/>
              <a:t>n veut juste savoir si deux personnes quelconques ont le même jour, peu importe lequel.</a:t>
            </a:r>
            <a:endParaRPr lang="fr-BE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6A0F9018-94D1-46FD-9D76-ACA506E9C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Paradoxe des anniversaire</a:t>
            </a: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9BC9DF8-349C-416B-B791-88BA097764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20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516303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4AB4DCC7-688F-49E3-A147-8847CBD4005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fr-FR" dirty="0"/>
                  <a:t>Ce qu’on fait réellement :</a:t>
                </a:r>
              </a:p>
              <a:p>
                <a:pPr marL="0" indent="0">
                  <a:buNone/>
                </a:pPr>
                <a:r>
                  <a:rPr lang="fr-BE" dirty="0"/>
                  <a:t>On compare chaque paire possible de personne dans un groupe</a:t>
                </a:r>
              </a:p>
              <a:p>
                <a:pPr marL="0" indent="0">
                  <a:buNone/>
                </a:pPr>
                <a:endParaRPr lang="fr-B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𝑁𝑜𝑚𝑏𝑟𝑒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𝑑𝑒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𝑐𝑜𝑚𝑝𝑎𝑟𝑎𝑖𝑠𝑜𝑛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∗(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+1)</m:t>
                          </m:r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fr-FR" dirty="0"/>
              </a:p>
              <a:p>
                <a:pPr marL="0" indent="0">
                  <a:buNone/>
                </a:pPr>
                <a:endParaRPr lang="fr-FR" dirty="0"/>
              </a:p>
              <a:p>
                <a:pPr marL="0" indent="0">
                  <a:buNone/>
                </a:pPr>
                <a:r>
                  <a:rPr lang="fr-FR" dirty="0"/>
                  <a:t>Par exemple, si n = 23, on fait 253 comparaisons !</a:t>
                </a:r>
              </a:p>
            </p:txBody>
          </p:sp>
        </mc:Choice>
        <mc:Fallback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4AB4DCC7-688F-49E3-A147-8847CBD400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71" t="-1943"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re 2">
            <a:extLst>
              <a:ext uri="{FF2B5EF4-FFF2-40B4-BE49-F238E27FC236}">
                <a16:creationId xmlns:a16="http://schemas.microsoft.com/office/drawing/2014/main" id="{319EB481-B03D-4728-A85D-1B4601BA8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Paradoxe des anniversaires</a:t>
            </a: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47D57B5-3723-4F99-ACB9-A73139C7C5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21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791845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2E5144AF-C7DB-454C-A811-1A0A7A8F213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18977" y="1664677"/>
                <a:ext cx="8539273" cy="4310096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)≈</m:t>
                      </m:r>
                      <m:sSup>
                        <m:sSup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f>
                            <m:fPr>
                              <m:type m:val="lin"/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∗(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−1)</m:t>
                              </m:r>
                            </m:num>
                            <m:den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2∗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fr-BE" dirty="0"/>
              </a:p>
              <a:p>
                <a:pPr marL="0" indent="0">
                  <a:buNone/>
                </a:pPr>
                <a:r>
                  <a:rPr lang="fr-BE" dirty="0"/>
                  <a:t>Et donc 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B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𝐶𝑜𝑙𝑙𝑖𝑠𝑖𝑜𝑛</m:t>
                          </m:r>
                        </m:sub>
                      </m:sSub>
                      <m:d>
                        <m:d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≈1−</m:t>
                      </m:r>
                      <m:sSup>
                        <m:sSup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f>
                            <m:fPr>
                              <m:type m:val="lin"/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∗(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−1)</m:t>
                              </m:r>
                            </m:num>
                            <m:den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2∗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fr-BE" dirty="0"/>
              </a:p>
              <a:p>
                <a:pPr marL="0" indent="0">
                  <a:buNone/>
                </a:pPr>
                <a:endParaRPr lang="fr-BE" dirty="0"/>
              </a:p>
              <a:p>
                <a:pPr marL="0" indent="0">
                  <a:buNone/>
                </a:pPr>
                <a:r>
                  <a:rPr lang="fr-BE" dirty="0"/>
                  <a:t>On peut faire une estimation rapide du seuil 50% 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fr-F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f>
                            <m:fPr>
                              <m:type m:val="lin"/>
                              <m:ctrlP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²</m:t>
                              </m:r>
                            </m:num>
                            <m:den>
                              <m: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2∗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den>
                          </m:f>
                        </m:sup>
                      </m:sSup>
                      <m:r>
                        <a:rPr lang="fr-F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0.5⟹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2∗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ln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⁡(2)</m:t>
                      </m:r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ad>
                        <m:radPr>
                          <m:degHide m:val="on"/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  <m:func>
                            <m:func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d>
                            </m:e>
                          </m:func>
                        </m:e>
                      </m:rad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≈1.774</m:t>
                      </m:r>
                      <m:rad>
                        <m:radPr>
                          <m:degHide m:val="on"/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</m:rad>
                    </m:oMath>
                  </m:oMathPara>
                </a14:m>
                <a:endParaRPr lang="fr-BE" dirty="0"/>
              </a:p>
              <a:p>
                <a:pPr marL="0" indent="0">
                  <a:buNone/>
                </a:pPr>
                <a:endParaRPr lang="fr-B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𝑆𝑖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=365⟹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≈23</m:t>
                      </m:r>
                    </m:oMath>
                  </m:oMathPara>
                </a14:m>
                <a:endParaRPr lang="fr-FR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𝑆𝑖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32</m:t>
                          </m:r>
                        </m:sup>
                      </m:sSup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⟹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≈7716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fr-FR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𝑆𝑖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128</m:t>
                          </m:r>
                        </m:sup>
                      </m:sSup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⟹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sSup>
                        <m:sSup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64</m:t>
                          </m:r>
                        </m:sup>
                      </m:sSup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1.8∗</m:t>
                      </m:r>
                      <m:sSup>
                        <m:sSup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19</m:t>
                          </m:r>
                        </m:sup>
                      </m:sSup>
                    </m:oMath>
                  </m:oMathPara>
                </a14:m>
                <a:endParaRPr lang="fr-FR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fr-BE" dirty="0"/>
              </a:p>
            </p:txBody>
          </p:sp>
        </mc:Choice>
        <mc:Fallback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2E5144AF-C7DB-454C-A811-1A0A7A8F21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8977" y="1664677"/>
                <a:ext cx="8539273" cy="4310096"/>
              </a:xfrm>
              <a:blipFill>
                <a:blip r:embed="rId2"/>
                <a:stretch>
                  <a:fillRect l="-1071" t="-10325"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re 2">
            <a:extLst>
              <a:ext uri="{FF2B5EF4-FFF2-40B4-BE49-F238E27FC236}">
                <a16:creationId xmlns:a16="http://schemas.microsoft.com/office/drawing/2014/main" id="{42EADE90-0CBF-4DC3-B920-2F27433EA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Approximation pour des grandes valeurs</a:t>
            </a: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044E67E-C036-4644-8F38-CA72CF1A51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22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793425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3B9DCAC5-601C-46C8-BFD6-8A091332A0C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18977" y="1535723"/>
                <a:ext cx="8539273" cy="443905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fr-FR" dirty="0"/>
                  <a:t>Trouver deux messages différents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fr-FR" dirty="0"/>
                  <a:t> tels que 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dirty="0"/>
              </a:p>
              <a:p>
                <a:pPr marL="0" indent="0">
                  <a:buNone/>
                </a:pPr>
                <a:endParaRPr lang="fr-FR" dirty="0"/>
              </a:p>
              <a:p>
                <a:pPr marL="0" indent="0">
                  <a:buNone/>
                </a:pPr>
                <a:r>
                  <a:rPr lang="fr-FR" dirty="0"/>
                  <a:t>Grâce au paradoxe des anniversaires, on sait que la complexité d’à peu près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rad>
                  </m:oMath>
                </a14:m>
                <a:r>
                  <a:rPr lang="fr-BE" dirty="0"/>
                  <a:t> si le hash à k valeurs possibles.</a:t>
                </a:r>
              </a:p>
              <a:p>
                <a:pPr marL="0" indent="0">
                  <a:buNone/>
                </a:pPr>
                <a:endParaRPr lang="fr-BE" dirty="0"/>
              </a:p>
              <a:p>
                <a:pPr marL="0" indent="0">
                  <a:buNone/>
                </a:pPr>
                <a:r>
                  <a:rPr lang="fr-BE" dirty="0"/>
                  <a:t>Utilisations :</a:t>
                </a:r>
              </a:p>
              <a:p>
                <a:pPr marL="0" indent="0">
                  <a:buNone/>
                </a:pPr>
                <a:r>
                  <a:rPr lang="fr-BE" dirty="0"/>
                  <a:t>- Falsifier des documents</a:t>
                </a:r>
              </a:p>
              <a:p>
                <a:pPr marL="0" indent="0">
                  <a:buNone/>
                </a:pPr>
                <a:r>
                  <a:rPr lang="fr-BE" dirty="0"/>
                  <a:t>- Casser des signatures</a:t>
                </a:r>
              </a:p>
              <a:p>
                <a:pPr marL="0" indent="0">
                  <a:buNone/>
                </a:pPr>
                <a:r>
                  <a:rPr lang="fr-BE" dirty="0"/>
                  <a:t>- Tromper les systèmes de vérification d’intégrité</a:t>
                </a:r>
              </a:p>
            </p:txBody>
          </p:sp>
        </mc:Choice>
        <mc:Fallback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3B9DCAC5-601C-46C8-BFD6-8A091332A0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8977" y="1535723"/>
                <a:ext cx="8539273" cy="4439050"/>
              </a:xfrm>
              <a:blipFill>
                <a:blip r:embed="rId2"/>
                <a:stretch>
                  <a:fillRect l="-1071" t="-1786" b="-275"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re 2">
            <a:extLst>
              <a:ext uri="{FF2B5EF4-FFF2-40B4-BE49-F238E27FC236}">
                <a16:creationId xmlns:a16="http://schemas.microsoft.com/office/drawing/2014/main" id="{4607DAD4-F104-4A11-AF54-D9B565774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Attaque par collision</a:t>
            </a: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A3F1292-F9E8-4EE3-B4F8-186571BA41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23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156629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248712E4-7FE6-48EE-92F1-D5161D9681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MD5 (2004)</a:t>
            </a:r>
          </a:p>
          <a:p>
            <a:pPr marL="0" indent="0">
              <a:buNone/>
            </a:pPr>
            <a:r>
              <a:rPr lang="fr-BE" dirty="0"/>
              <a:t>On est capable de générer des collisions en quelques secondes (</a:t>
            </a:r>
            <a:r>
              <a:rPr lang="fr-BE" dirty="0" err="1"/>
              <a:t>FastColl</a:t>
            </a:r>
            <a:r>
              <a:rPr lang="fr-BE" dirty="0"/>
              <a:t>, </a:t>
            </a:r>
            <a:r>
              <a:rPr lang="fr-BE" dirty="0" err="1"/>
              <a:t>etc</a:t>
            </a:r>
            <a:r>
              <a:rPr lang="fr-BE" dirty="0"/>
              <a:t>)</a:t>
            </a:r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r>
              <a:rPr lang="fr-BE" dirty="0"/>
              <a:t>Il est encore utilisé dans certaines vérification d’intégrité de fichier </a:t>
            </a:r>
            <a:r>
              <a:rPr lang="fr-BE" dirty="0" err="1"/>
              <a:t>pdf</a:t>
            </a:r>
            <a:r>
              <a:rPr lang="fr-BE" dirty="0"/>
              <a:t>, </a:t>
            </a:r>
            <a:r>
              <a:rPr lang="fr-BE" dirty="0" err="1"/>
              <a:t>etc</a:t>
            </a:r>
            <a:endParaRPr lang="fr-BE" dirty="0"/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r>
              <a:rPr lang="fr-BE" dirty="0"/>
              <a:t>En 2008, création de faux certificats SSL</a:t>
            </a:r>
          </a:p>
          <a:p>
            <a:pPr marL="0" indent="0">
              <a:buNone/>
            </a:pPr>
            <a:endParaRPr lang="fr-BE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399615DB-EE2A-4988-AAFF-19EBAF8C2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Collisions réelles</a:t>
            </a: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0A4422F-D358-4C3D-B3B9-5D55EF9CBD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24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223791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151BF9BB-0715-445B-87B5-A3B96E49A5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BE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6BA9CDDD-ACC9-42F7-9CA6-4238D5E96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SHAttered</a:t>
            </a: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08BC62E-D2D8-4D3F-8B9C-FA9DFF1329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25</a:t>
            </a:fld>
            <a:endParaRPr lang="fr-BE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0857944E-EFF8-46C8-A8C6-E4A5DEC787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047" y="1364994"/>
            <a:ext cx="6435906" cy="4662455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838AE8B0-D82D-48BD-9407-A86336CFA0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4047" y="1364993"/>
            <a:ext cx="6449539" cy="4662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61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2E92D8CD-2076-4630-8D2C-C2412FE0E96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fr-FR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𝑆𝐻𝐴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1 = 38762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𝑐𝑓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55934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34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179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𝑎𝑒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80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𝑐𝑎𝑑𝑐𝑐𝑏𝑏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fr-BE" dirty="0"/>
              </a:p>
              <a:p>
                <a:pPr marL="0" indent="0">
                  <a:buNone/>
                </a:pPr>
                <a:endParaRPr lang="fr-BE" dirty="0"/>
              </a:p>
              <a:p>
                <a:pPr marL="0" indent="0">
                  <a:buNone/>
                </a:pPr>
                <a:r>
                  <a:rPr lang="fr-FR" dirty="0"/>
                  <a:t>Ressources utilisées :</a:t>
                </a:r>
              </a:p>
              <a:p>
                <a:pPr marL="0" indent="0">
                  <a:buNone/>
                </a:pPr>
                <a:r>
                  <a:rPr lang="fr-FR" dirty="0"/>
                  <a:t>- 9 223 372 036 854 775 808 SHA-1 calculés (~2⁶³)</a:t>
                </a:r>
              </a:p>
              <a:p>
                <a:pPr marL="0" indent="0">
                  <a:buNone/>
                </a:pPr>
                <a:r>
                  <a:rPr lang="fr-FR" dirty="0"/>
                  <a:t>- Environ 110 années CPU cumulées (GPU + CPU)</a:t>
                </a:r>
              </a:p>
              <a:p>
                <a:pPr marL="0" indent="0">
                  <a:buNone/>
                </a:pPr>
                <a:r>
                  <a:rPr lang="fr-FR" dirty="0"/>
                  <a:t>- Environ 110 000 $ de coût estimé</a:t>
                </a:r>
              </a:p>
              <a:p>
                <a:pPr marL="0" indent="0">
                  <a:buNone/>
                </a:pPr>
                <a:endParaRPr lang="fr-BE" dirty="0"/>
              </a:p>
            </p:txBody>
          </p:sp>
        </mc:Choice>
        <mc:Fallback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2E92D8CD-2076-4630-8D2C-C2412FE0E9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71"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re 2">
            <a:extLst>
              <a:ext uri="{FF2B5EF4-FFF2-40B4-BE49-F238E27FC236}">
                <a16:creationId xmlns:a16="http://schemas.microsoft.com/office/drawing/2014/main" id="{3CD19D22-73DC-411E-92FC-E30596036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SHAttered</a:t>
            </a: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8EC6730-73F8-479B-B520-5070A41D44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26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19647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724E960F-7E86-4865-B87B-3C7EB84C6C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Conséquences :</a:t>
            </a:r>
          </a:p>
          <a:p>
            <a:pPr marL="0" indent="0">
              <a:buNone/>
            </a:pPr>
            <a:r>
              <a:rPr lang="fr-FR" dirty="0"/>
              <a:t>Navigateur Chrome (Google) a désactivé SHA-1 pour les certificats HTTPS en 2017</a:t>
            </a:r>
          </a:p>
          <a:p>
            <a:pPr marL="0" indent="0">
              <a:buNone/>
            </a:pPr>
            <a:r>
              <a:rPr lang="fr-FR" dirty="0"/>
              <a:t>Microsoft, Mozilla, Apple ont suivi peu après</a:t>
            </a:r>
          </a:p>
          <a:p>
            <a:pPr marL="0" indent="0">
              <a:buNone/>
            </a:pPr>
            <a:r>
              <a:rPr lang="fr-FR" dirty="0"/>
              <a:t>SHA-1 est déconseillé pour toute nouvelle application</a:t>
            </a:r>
          </a:p>
          <a:p>
            <a:pPr marL="0" indent="0">
              <a:buNone/>
            </a:pPr>
            <a:r>
              <a:rPr lang="fr-FR" dirty="0"/>
              <a:t>SHA-256, SHA-3 et BLAKE3 sont les alternatives recommandées</a:t>
            </a:r>
            <a:endParaRPr lang="fr-BE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7C57DBF3-6661-4121-81B0-7AACB3615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SHAttered</a:t>
            </a: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66000FB-9B90-4C96-9793-17F7201485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27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443508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40D93573-82CF-4E8E-9039-30DE0C2ADA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fr-FR" dirty="0"/>
                  <a:t>Les collisions arrivent vite</a:t>
                </a:r>
              </a:p>
              <a:p>
                <a:pPr marL="0" indent="0">
                  <a:buNone/>
                </a:pPr>
                <a:endParaRPr lang="fr-FR" dirty="0"/>
              </a:p>
              <a:p>
                <a:pPr marL="0" indent="0">
                  <a:buNone/>
                </a:pPr>
                <a:r>
                  <a:rPr lang="fr-FR" dirty="0"/>
                  <a:t>Probabilités liées à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²</m:t>
                        </m:r>
                      </m:num>
                      <m:den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</m:oMath>
                </a14:m>
                <a:endParaRPr lang="fr-BE" dirty="0"/>
              </a:p>
              <a:p>
                <a:pPr marL="0" indent="0">
                  <a:buNone/>
                </a:pPr>
                <a:endParaRPr lang="fr-BE" dirty="0"/>
              </a:p>
              <a:p>
                <a:pPr marL="0" indent="0">
                  <a:buNone/>
                </a:pPr>
                <a:r>
                  <a:rPr lang="fr-BE" dirty="0"/>
                  <a:t>Toujours garder en mémoire les attaques par collision</a:t>
                </a:r>
              </a:p>
              <a:p>
                <a:pPr marL="0" indent="0">
                  <a:buNone/>
                </a:pPr>
                <a:endParaRPr lang="fr-BE" dirty="0"/>
              </a:p>
              <a:p>
                <a:pPr marL="0" indent="0">
                  <a:buNone/>
                </a:pPr>
                <a:r>
                  <a:rPr lang="fr-BE" dirty="0"/>
                  <a:t>Fonction de hachage avec un k assez grand</a:t>
                </a:r>
              </a:p>
            </p:txBody>
          </p:sp>
        </mc:Choice>
        <mc:Fallback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40D93573-82CF-4E8E-9039-30DE0C2ADA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71" t="-1943"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re 2">
            <a:extLst>
              <a:ext uri="{FF2B5EF4-FFF2-40B4-BE49-F238E27FC236}">
                <a16:creationId xmlns:a16="http://schemas.microsoft.com/office/drawing/2014/main" id="{B6E31559-C0A2-45E4-9759-1952D741C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Conclusions</a:t>
            </a: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2C9A8A4-43F0-41E1-85EC-EAADE06C9C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28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607278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Personnalisé 1">
      <a:majorFont>
        <a:latin typeface="Roboto"/>
        <a:ea typeface=""/>
        <a:cs typeface=""/>
      </a:majorFont>
      <a:minorFont>
        <a:latin typeface="Roboto"/>
        <a:ea typeface=""/>
        <a:cs typeface="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dele-de-presentation-HEHbe--Sciences-et-technologies--2020" id="{A498BD53-F83B-4021-AAB3-AA6C29EFDC9D}" vid="{7280D352-7A7E-41A1-9B4F-543AFC5CCCBC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13957</TotalTime>
  <Words>1098</Words>
  <Application>Microsoft Office PowerPoint</Application>
  <PresentationFormat>Affichage à l'écran (4:3)</PresentationFormat>
  <Paragraphs>219</Paragraphs>
  <Slides>28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28</vt:i4>
      </vt:variant>
    </vt:vector>
  </HeadingPairs>
  <TitlesOfParts>
    <vt:vector size="35" baseType="lpstr">
      <vt:lpstr>Arial</vt:lpstr>
      <vt:lpstr>Calibri</vt:lpstr>
      <vt:lpstr>Cambria Math</vt:lpstr>
      <vt:lpstr>Roboto</vt:lpstr>
      <vt:lpstr>Roboto </vt:lpstr>
      <vt:lpstr>Roboto Condensed</vt:lpstr>
      <vt:lpstr>Thème Office</vt:lpstr>
      <vt:lpstr>Mathématiques appliquées à l'informatique</vt:lpstr>
      <vt:lpstr>Hachage et implications</vt:lpstr>
      <vt:lpstr>Définition d’une fonction de hachage</vt:lpstr>
      <vt:lpstr>Principe du Dirichlet</vt:lpstr>
      <vt:lpstr>Exemples de Hash</vt:lpstr>
      <vt:lpstr>Rappel des propriétés</vt:lpstr>
      <vt:lpstr>Rappel des propriétés</vt:lpstr>
      <vt:lpstr>Récapitulatif</vt:lpstr>
      <vt:lpstr>Résistance à la préimage</vt:lpstr>
      <vt:lpstr>Résistance à la seconde préimage</vt:lpstr>
      <vt:lpstr>Diffusion</vt:lpstr>
      <vt:lpstr>Uniformité</vt:lpstr>
      <vt:lpstr>Présentation PowerPoint</vt:lpstr>
      <vt:lpstr>Présentation PowerPoint</vt:lpstr>
      <vt:lpstr>Présentation PowerPoint</vt:lpstr>
      <vt:lpstr>Paradoxe des anniversaires</vt:lpstr>
      <vt:lpstr>Paradoxe des anniversaires</vt:lpstr>
      <vt:lpstr>Paradoxe des anniversaires</vt:lpstr>
      <vt:lpstr>Paradoxe des anniversaires</vt:lpstr>
      <vt:lpstr>Paradoxe des anniversaire</vt:lpstr>
      <vt:lpstr>Paradoxe des anniversaires</vt:lpstr>
      <vt:lpstr>Approximation pour des grandes valeurs</vt:lpstr>
      <vt:lpstr>Attaque par collision</vt:lpstr>
      <vt:lpstr>Collisions réelles</vt:lpstr>
      <vt:lpstr>SHAttered</vt:lpstr>
      <vt:lpstr>SHAttered</vt:lpstr>
      <vt:lpstr>SHAttered</vt:lpstr>
      <vt:lpstr>Conclusions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Titre de la présentation</dc:title>
  <dc:creator>DEPRETER Johan</dc:creator>
  <cp:lastModifiedBy>DEPRETER Johan</cp:lastModifiedBy>
  <cp:revision>153</cp:revision>
  <dcterms:created xsi:type="dcterms:W3CDTF">2022-01-27T22:00:53Z</dcterms:created>
  <dcterms:modified xsi:type="dcterms:W3CDTF">2025-04-14T08:07:31Z</dcterms:modified>
</cp:coreProperties>
</file>