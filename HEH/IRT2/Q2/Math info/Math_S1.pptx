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handoutMasterIdLst>
    <p:handoutMasterId r:id="rId35"/>
  </p:handoutMasterIdLst>
  <p:sldIdLst>
    <p:sldId id="256" r:id="rId2"/>
    <p:sldId id="332" r:id="rId3"/>
    <p:sldId id="333" r:id="rId4"/>
    <p:sldId id="334" r:id="rId5"/>
    <p:sldId id="335" r:id="rId6"/>
    <p:sldId id="397" r:id="rId7"/>
    <p:sldId id="336" r:id="rId8"/>
    <p:sldId id="337" r:id="rId9"/>
    <p:sldId id="338" r:id="rId10"/>
    <p:sldId id="339" r:id="rId11"/>
    <p:sldId id="340" r:id="rId12"/>
    <p:sldId id="341" r:id="rId13"/>
    <p:sldId id="342" r:id="rId14"/>
    <p:sldId id="343" r:id="rId15"/>
    <p:sldId id="344" r:id="rId16"/>
    <p:sldId id="345" r:id="rId17"/>
    <p:sldId id="346" r:id="rId18"/>
    <p:sldId id="347" r:id="rId19"/>
    <p:sldId id="348" r:id="rId20"/>
    <p:sldId id="349" r:id="rId21"/>
    <p:sldId id="350" r:id="rId22"/>
    <p:sldId id="398" r:id="rId23"/>
    <p:sldId id="395" r:id="rId24"/>
    <p:sldId id="396" r:id="rId25"/>
    <p:sldId id="399" r:id="rId26"/>
    <p:sldId id="400" r:id="rId27"/>
    <p:sldId id="401" r:id="rId28"/>
    <p:sldId id="402" r:id="rId29"/>
    <p:sldId id="403" r:id="rId30"/>
    <p:sldId id="404" r:id="rId31"/>
    <p:sldId id="405" r:id="rId32"/>
    <p:sldId id="406"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B4E7"/>
    <a:srgbClr val="C91317"/>
    <a:srgbClr val="2B2B2B"/>
    <a:srgbClr val="9E2E5A"/>
    <a:srgbClr val="D4641A"/>
    <a:srgbClr val="1573B6"/>
    <a:srgbClr val="243A90"/>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6" autoAdjust="0"/>
    <p:restoredTop sz="94660"/>
  </p:normalViewPr>
  <p:slideViewPr>
    <p:cSldViewPr snapToGrid="0">
      <p:cViewPr varScale="1">
        <p:scale>
          <a:sx n="96" d="100"/>
          <a:sy n="96" d="100"/>
        </p:scale>
        <p:origin x="1061" y="62"/>
      </p:cViewPr>
      <p:guideLst/>
    </p:cSldViewPr>
  </p:slideViewPr>
  <p:notesTextViewPr>
    <p:cViewPr>
      <p:scale>
        <a:sx n="1" d="1"/>
        <a:sy n="1" d="1"/>
      </p:scale>
      <p:origin x="0" y="0"/>
    </p:cViewPr>
  </p:notesTextViewPr>
  <p:notesViewPr>
    <p:cSldViewPr snapToGrid="0">
      <p:cViewPr varScale="1">
        <p:scale>
          <a:sx n="69" d="100"/>
          <a:sy n="69" d="100"/>
        </p:scale>
        <p:origin x="241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8D3EB8-6AD6-4DF3-B16B-A9E0B517D683}" type="datetimeFigureOut">
              <a:rPr lang="fr-BE" smtClean="0"/>
              <a:t>29-05-25</a:t>
            </a:fld>
            <a:endParaRPr lang="fr-BE"/>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D2A0B0-4FDA-48D8-A9AB-C715A138D155}" type="slidenum">
              <a:rPr lang="fr-BE" smtClean="0"/>
              <a:t>‹N°›</a:t>
            </a:fld>
            <a:endParaRPr lang="fr-BE"/>
          </a:p>
        </p:txBody>
      </p:sp>
    </p:spTree>
    <p:extLst>
      <p:ext uri="{BB962C8B-B14F-4D97-AF65-F5344CB8AC3E}">
        <p14:creationId xmlns:p14="http://schemas.microsoft.com/office/powerpoint/2010/main" val="23959778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702AF6-C27A-47C0-BCF6-EC35CFE95046}" type="datetimeFigureOut">
              <a:rPr lang="fr-BE" smtClean="0"/>
              <a:t>29-05-25</a:t>
            </a:fld>
            <a:endParaRPr lang="fr-BE"/>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2FF5F-0C64-4FEE-B2DF-F912BCEEA8E0}" type="slidenum">
              <a:rPr lang="fr-BE" smtClean="0"/>
              <a:t>‹N°›</a:t>
            </a:fld>
            <a:endParaRPr lang="fr-BE"/>
          </a:p>
        </p:txBody>
      </p:sp>
    </p:spTree>
    <p:extLst>
      <p:ext uri="{BB962C8B-B14F-4D97-AF65-F5344CB8AC3E}">
        <p14:creationId xmlns:p14="http://schemas.microsoft.com/office/powerpoint/2010/main" val="2757689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A2E52712-542C-4861-8486-8C858B7AC28B}"/>
              </a:ext>
            </a:extLst>
          </p:cNvPr>
          <p:cNvSpPr>
            <a:spLocks noGrp="1"/>
          </p:cNvSpPr>
          <p:nvPr>
            <p:ph type="title"/>
          </p:nvPr>
        </p:nvSpPr>
        <p:spPr>
          <a:xfrm>
            <a:off x="1087581" y="2248912"/>
            <a:ext cx="7886700" cy="1169698"/>
          </a:xfrm>
          <a:prstGeom prst="rect">
            <a:avLst/>
          </a:prstGeom>
        </p:spPr>
        <p:txBody>
          <a:bodyPr/>
          <a:lstStyle>
            <a:lvl1pPr>
              <a:defRPr>
                <a:latin typeface="Arial" panose="020B0604020202020204" pitchFamily="34" charset="0"/>
              </a:defRPr>
            </a:lvl1pPr>
          </a:lstStyle>
          <a:p>
            <a:pPr algn="l"/>
            <a:r>
              <a:rPr lang="fr-FR" sz="4000" b="1">
                <a:solidFill>
                  <a:srgbClr val="2B2B2B"/>
                </a:solidFill>
                <a:latin typeface="Roboto" panose="02000000000000000000" pitchFamily="2" charset="0"/>
              </a:rPr>
              <a:t>Modifiez le style du titre</a:t>
            </a:r>
            <a:endParaRPr lang="fr-BE" sz="4000" b="1" dirty="0">
              <a:solidFill>
                <a:srgbClr val="2B2B2B"/>
              </a:solidFill>
              <a:latin typeface="Roboto" panose="02000000000000000000" pitchFamily="2" charset="0"/>
              <a:ea typeface="Roboto" panose="02000000000000000000" pitchFamily="2" charset="0"/>
            </a:endParaRPr>
          </a:p>
        </p:txBody>
      </p:sp>
      <p:sp>
        <p:nvSpPr>
          <p:cNvPr id="7" name="Ellipse 6">
            <a:extLst>
              <a:ext uri="{FF2B5EF4-FFF2-40B4-BE49-F238E27FC236}">
                <a16:creationId xmlns:a16="http://schemas.microsoft.com/office/drawing/2014/main" id="{6A9EC390-C245-44B2-9757-6A655C8E38EA}"/>
              </a:ext>
            </a:extLst>
          </p:cNvPr>
          <p:cNvSpPr/>
          <p:nvPr userDrawn="1"/>
        </p:nvSpPr>
        <p:spPr>
          <a:xfrm>
            <a:off x="1266825" y="3652838"/>
            <a:ext cx="101699" cy="101699"/>
          </a:xfrm>
          <a:prstGeom prst="ellipse">
            <a:avLst/>
          </a:prstGeom>
          <a:solidFill>
            <a:srgbClr val="C913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dirty="0">
              <a:highlight>
                <a:srgbClr val="FFFF00"/>
              </a:highlight>
              <a:latin typeface="Arial" panose="020B0604020202020204" pitchFamily="34" charset="0"/>
            </a:endParaRPr>
          </a:p>
        </p:txBody>
      </p:sp>
      <p:sp>
        <p:nvSpPr>
          <p:cNvPr id="2" name="Espace réservé du numéro de diapositive 1">
            <a:extLst>
              <a:ext uri="{FF2B5EF4-FFF2-40B4-BE49-F238E27FC236}">
                <a16:creationId xmlns:a16="http://schemas.microsoft.com/office/drawing/2014/main" id="{85B2A0E2-6813-486D-9BFB-68658524FC21}"/>
              </a:ext>
            </a:extLst>
          </p:cNvPr>
          <p:cNvSpPr>
            <a:spLocks noGrp="1"/>
          </p:cNvSpPr>
          <p:nvPr>
            <p:ph type="sldNum" sz="quarter" idx="10"/>
          </p:nvPr>
        </p:nvSpPr>
        <p:spPr/>
        <p:txBody>
          <a:bodyPr/>
          <a:lstStyle/>
          <a:p>
            <a:fld id="{26DF9506-C750-44C3-8E12-610AD4C8F1FD}" type="slidenum">
              <a:rPr lang="fr-BE" smtClean="0"/>
              <a:t>‹N°›</a:t>
            </a:fld>
            <a:endParaRPr lang="fr-BE"/>
          </a:p>
        </p:txBody>
      </p:sp>
    </p:spTree>
    <p:extLst>
      <p:ext uri="{BB962C8B-B14F-4D97-AF65-F5344CB8AC3E}">
        <p14:creationId xmlns:p14="http://schemas.microsoft.com/office/powerpoint/2010/main" val="106093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977" y="1898361"/>
            <a:ext cx="8539273" cy="4076412"/>
          </a:xfrm>
          <a:prstGeom prst="rect">
            <a:avLst/>
          </a:prstGeom>
        </p:spPr>
        <p:txBody>
          <a:bodyPr/>
          <a:lstStyle>
            <a:lvl1pPr>
              <a:buClr>
                <a:srgbClr val="C91317"/>
              </a:buClr>
              <a:buSzPct val="200000"/>
              <a:defRPr>
                <a:solidFill>
                  <a:srgbClr val="2B2B2B"/>
                </a:solidFill>
                <a:latin typeface="Arial" panose="020B0604020202020204" pitchFamily="34" charset="0"/>
              </a:defRPr>
            </a:lvl1pPr>
            <a:lvl2pPr>
              <a:buClr>
                <a:srgbClr val="C91317"/>
              </a:buClr>
              <a:buSzPct val="200000"/>
              <a:defRPr>
                <a:solidFill>
                  <a:srgbClr val="2B2B2B"/>
                </a:solidFill>
                <a:latin typeface="Arial" panose="020B0604020202020204" pitchFamily="34" charset="0"/>
              </a:defRPr>
            </a:lvl2pPr>
            <a:lvl3pPr>
              <a:buClr>
                <a:srgbClr val="C91317"/>
              </a:buClr>
              <a:buSzPct val="200000"/>
              <a:defRPr>
                <a:solidFill>
                  <a:srgbClr val="2B2B2B"/>
                </a:solidFill>
                <a:latin typeface="Arial" panose="020B0604020202020204" pitchFamily="34" charset="0"/>
              </a:defRPr>
            </a:lvl3pPr>
            <a:lvl4pPr>
              <a:buClr>
                <a:srgbClr val="C91317"/>
              </a:buClr>
              <a:buSzPct val="200000"/>
              <a:defRPr>
                <a:solidFill>
                  <a:srgbClr val="2B2B2B"/>
                </a:solidFill>
                <a:latin typeface="Arial" panose="020B0604020202020204" pitchFamily="34" charset="0"/>
              </a:defRPr>
            </a:lvl4pPr>
            <a:lvl5pPr>
              <a:buClr>
                <a:srgbClr val="C91317"/>
              </a:buClr>
              <a:buSzPct val="200000"/>
              <a:defRPr>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itre 1">
            <a:extLst>
              <a:ext uri="{FF2B5EF4-FFF2-40B4-BE49-F238E27FC236}">
                <a16:creationId xmlns:a16="http://schemas.microsoft.com/office/drawing/2014/main" id="{C94AA50C-7222-461E-8AD0-4AEDB98C02C6}"/>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10" name="Espace réservé du numéro de diapositive 9">
            <a:extLst>
              <a:ext uri="{FF2B5EF4-FFF2-40B4-BE49-F238E27FC236}">
                <a16:creationId xmlns:a16="http://schemas.microsoft.com/office/drawing/2014/main" id="{6DB69894-CF4A-49E7-AB8A-2E7987C06BC4}"/>
              </a:ext>
            </a:extLst>
          </p:cNvPr>
          <p:cNvSpPr>
            <a:spLocks noGrp="1"/>
          </p:cNvSpPr>
          <p:nvPr>
            <p:ph type="sldNum" sz="quarter" idx="10"/>
          </p:nvPr>
        </p:nvSpPr>
        <p:spPr/>
        <p:txBody>
          <a:bodyPr/>
          <a:lstStyle/>
          <a:p>
            <a:fld id="{26DF9506-C750-44C3-8E12-610AD4C8F1FD}" type="slidenum">
              <a:rPr lang="fr-BE" smtClean="0"/>
              <a:t>‹N°›</a:t>
            </a:fld>
            <a:endParaRPr lang="fr-BE"/>
          </a:p>
        </p:txBody>
      </p:sp>
    </p:spTree>
    <p:extLst>
      <p:ext uri="{BB962C8B-B14F-4D97-AF65-F5344CB8AC3E}">
        <p14:creationId xmlns:p14="http://schemas.microsoft.com/office/powerpoint/2010/main" val="1300281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85750" y="1825625"/>
            <a:ext cx="4094864" cy="4201102"/>
          </a:xfrm>
          <a:prstGeom prst="rect">
            <a:avLst/>
          </a:prstGeom>
        </p:spPr>
        <p:txBody>
          <a:bodyPr/>
          <a:lstStyle>
            <a:lvl1pPr>
              <a:buClr>
                <a:srgbClr val="C91317"/>
              </a:buClr>
              <a:buSzPct val="200000"/>
              <a:defRPr>
                <a:solidFill>
                  <a:srgbClr val="2B2B2B"/>
                </a:solidFill>
                <a:latin typeface="Arial" panose="020B0604020202020204" pitchFamily="34" charset="0"/>
              </a:defRPr>
            </a:lvl1pPr>
            <a:lvl2pPr>
              <a:buClr>
                <a:srgbClr val="C91317"/>
              </a:buClr>
              <a:buSzPct val="200000"/>
              <a:defRPr>
                <a:solidFill>
                  <a:srgbClr val="2B2B2B"/>
                </a:solidFill>
                <a:latin typeface="Arial" panose="020B0604020202020204" pitchFamily="34" charset="0"/>
              </a:defRPr>
            </a:lvl2pPr>
            <a:lvl3pPr>
              <a:buClr>
                <a:srgbClr val="C91317"/>
              </a:buClr>
              <a:buSzPct val="200000"/>
              <a:defRPr>
                <a:solidFill>
                  <a:srgbClr val="2B2B2B"/>
                </a:solidFill>
                <a:latin typeface="Arial" panose="020B0604020202020204" pitchFamily="34" charset="0"/>
              </a:defRPr>
            </a:lvl3pPr>
            <a:lvl4pPr>
              <a:buClr>
                <a:srgbClr val="C91317"/>
              </a:buClr>
              <a:buSzPct val="200000"/>
              <a:defRPr>
                <a:solidFill>
                  <a:srgbClr val="2B2B2B"/>
                </a:solidFill>
                <a:latin typeface="Arial" panose="020B0604020202020204" pitchFamily="34" charset="0"/>
              </a:defRPr>
            </a:lvl4pPr>
            <a:lvl5pPr>
              <a:buClr>
                <a:srgbClr val="C91317"/>
              </a:buClr>
              <a:buSzPct val="200000"/>
              <a:defRPr>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572000" y="1825625"/>
            <a:ext cx="4286250" cy="4201102"/>
          </a:xfrm>
          <a:prstGeom prst="rect">
            <a:avLst/>
          </a:prstGeom>
        </p:spPr>
        <p:txBody>
          <a:bodyPr/>
          <a:lstStyle>
            <a:lvl1pPr>
              <a:buClr>
                <a:srgbClr val="C91317"/>
              </a:buClr>
              <a:buSzPct val="200000"/>
              <a:defRPr>
                <a:solidFill>
                  <a:srgbClr val="2B2B2B"/>
                </a:solidFill>
                <a:latin typeface="Arial" panose="020B0604020202020204" pitchFamily="34" charset="0"/>
              </a:defRPr>
            </a:lvl1pPr>
            <a:lvl2pPr>
              <a:buClr>
                <a:srgbClr val="C91317"/>
              </a:buClr>
              <a:buSzPct val="200000"/>
              <a:defRPr>
                <a:solidFill>
                  <a:srgbClr val="2B2B2B"/>
                </a:solidFill>
                <a:latin typeface="Arial" panose="020B0604020202020204" pitchFamily="34" charset="0"/>
              </a:defRPr>
            </a:lvl2pPr>
            <a:lvl3pPr>
              <a:buClr>
                <a:srgbClr val="C91317"/>
              </a:buClr>
              <a:buSzPct val="200000"/>
              <a:defRPr>
                <a:solidFill>
                  <a:srgbClr val="2B2B2B"/>
                </a:solidFill>
                <a:latin typeface="Arial" panose="020B0604020202020204" pitchFamily="34" charset="0"/>
              </a:defRPr>
            </a:lvl3pPr>
            <a:lvl4pPr>
              <a:buClr>
                <a:srgbClr val="C91317"/>
              </a:buClr>
              <a:buSzPct val="200000"/>
              <a:defRPr>
                <a:solidFill>
                  <a:srgbClr val="2B2B2B"/>
                </a:solidFill>
                <a:latin typeface="Arial" panose="020B0604020202020204" pitchFamily="34" charset="0"/>
              </a:defRPr>
            </a:lvl4pPr>
            <a:lvl5pPr>
              <a:buClr>
                <a:srgbClr val="C91317"/>
              </a:buClr>
              <a:buSzPct val="200000"/>
              <a:defRPr>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itre 1">
            <a:extLst>
              <a:ext uri="{FF2B5EF4-FFF2-40B4-BE49-F238E27FC236}">
                <a16:creationId xmlns:a16="http://schemas.microsoft.com/office/drawing/2014/main" id="{8249BFAD-C788-41B2-BB4B-D7F32CD3D1F4}"/>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2" name="Espace réservé du numéro de diapositive 1">
            <a:extLst>
              <a:ext uri="{FF2B5EF4-FFF2-40B4-BE49-F238E27FC236}">
                <a16:creationId xmlns:a16="http://schemas.microsoft.com/office/drawing/2014/main" id="{A0B86179-DD5C-452E-B116-146F34DEC1BE}"/>
              </a:ext>
            </a:extLst>
          </p:cNvPr>
          <p:cNvSpPr>
            <a:spLocks noGrp="1"/>
          </p:cNvSpPr>
          <p:nvPr>
            <p:ph type="sldNum" sz="quarter" idx="10"/>
          </p:nvPr>
        </p:nvSpPr>
        <p:spPr/>
        <p:txBody>
          <a:bodyPr/>
          <a:lstStyle/>
          <a:p>
            <a:fld id="{26DF9506-C750-44C3-8E12-610AD4C8F1FD}" type="slidenum">
              <a:rPr lang="fr-BE" smtClean="0"/>
              <a:t>‹N°›</a:t>
            </a:fld>
            <a:endParaRPr lang="fr-BE"/>
          </a:p>
        </p:txBody>
      </p:sp>
    </p:spTree>
    <p:extLst>
      <p:ext uri="{BB962C8B-B14F-4D97-AF65-F5344CB8AC3E}">
        <p14:creationId xmlns:p14="http://schemas.microsoft.com/office/powerpoint/2010/main" val="1757577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80500" y="1819386"/>
            <a:ext cx="4094864" cy="778184"/>
          </a:xfrm>
          <a:prstGeom prst="rect">
            <a:avLst/>
          </a:prstGeom>
        </p:spPr>
        <p:txBody>
          <a:bodyPr anchor="b"/>
          <a:lstStyle>
            <a:lvl1pPr marL="0" indent="0">
              <a:buNone/>
              <a:defRPr sz="2100" b="1">
                <a:solidFill>
                  <a:srgbClr val="2B2B2B"/>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5" name="Text Placeholder 4"/>
          <p:cNvSpPr>
            <a:spLocks noGrp="1"/>
          </p:cNvSpPr>
          <p:nvPr>
            <p:ph type="body" sz="quarter" idx="3"/>
          </p:nvPr>
        </p:nvSpPr>
        <p:spPr>
          <a:xfrm>
            <a:off x="4571999" y="1819386"/>
            <a:ext cx="4286249" cy="778184"/>
          </a:xfrm>
          <a:prstGeom prst="rect">
            <a:avLst/>
          </a:prstGeom>
        </p:spPr>
        <p:txBody>
          <a:bodyPr anchor="b"/>
          <a:lstStyle>
            <a:lvl1pPr marL="0" indent="0">
              <a:buNone/>
              <a:defRPr sz="2100" b="1">
                <a:solidFill>
                  <a:srgbClr val="2B2B2B"/>
                </a:solidFill>
                <a:latin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7" name="Titre 1">
            <a:extLst>
              <a:ext uri="{FF2B5EF4-FFF2-40B4-BE49-F238E27FC236}">
                <a16:creationId xmlns:a16="http://schemas.microsoft.com/office/drawing/2014/main" id="{C027A339-3B89-4CDB-9455-030617AAC6FD}"/>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8" name="Content Placeholder 2">
            <a:extLst>
              <a:ext uri="{FF2B5EF4-FFF2-40B4-BE49-F238E27FC236}">
                <a16:creationId xmlns:a16="http://schemas.microsoft.com/office/drawing/2014/main" id="{17587D5F-FDBB-4EB1-A522-C7E11E30E6C3}"/>
              </a:ext>
            </a:extLst>
          </p:cNvPr>
          <p:cNvSpPr>
            <a:spLocks noGrp="1"/>
          </p:cNvSpPr>
          <p:nvPr>
            <p:ph sz="half" idx="10"/>
          </p:nvPr>
        </p:nvSpPr>
        <p:spPr>
          <a:xfrm>
            <a:off x="285750" y="2690037"/>
            <a:ext cx="4094864" cy="3336690"/>
          </a:xfrm>
          <a:prstGeom prst="rect">
            <a:avLst/>
          </a:prstGeom>
        </p:spPr>
        <p:txBody>
          <a:bodyPr/>
          <a:lstStyle>
            <a:lvl1pPr>
              <a:buClr>
                <a:srgbClr val="C91317"/>
              </a:buClr>
              <a:buSzPct val="200000"/>
              <a:defRPr>
                <a:solidFill>
                  <a:srgbClr val="2B2B2B"/>
                </a:solidFill>
                <a:latin typeface="Arial" panose="020B0604020202020204" pitchFamily="34" charset="0"/>
              </a:defRPr>
            </a:lvl1pPr>
            <a:lvl2pPr>
              <a:buClr>
                <a:srgbClr val="C91317"/>
              </a:buClr>
              <a:buSzPct val="200000"/>
              <a:defRPr>
                <a:solidFill>
                  <a:srgbClr val="2B2B2B"/>
                </a:solidFill>
                <a:latin typeface="Arial" panose="020B0604020202020204" pitchFamily="34" charset="0"/>
              </a:defRPr>
            </a:lvl2pPr>
            <a:lvl3pPr>
              <a:buClr>
                <a:srgbClr val="C91317"/>
              </a:buClr>
              <a:buSzPct val="200000"/>
              <a:defRPr>
                <a:solidFill>
                  <a:srgbClr val="2B2B2B"/>
                </a:solidFill>
                <a:latin typeface="Arial" panose="020B0604020202020204" pitchFamily="34" charset="0"/>
              </a:defRPr>
            </a:lvl3pPr>
            <a:lvl4pPr>
              <a:buClr>
                <a:srgbClr val="C91317"/>
              </a:buClr>
              <a:buSzPct val="200000"/>
              <a:defRPr>
                <a:solidFill>
                  <a:srgbClr val="2B2B2B"/>
                </a:solidFill>
                <a:latin typeface="Arial" panose="020B0604020202020204" pitchFamily="34" charset="0"/>
              </a:defRPr>
            </a:lvl4pPr>
            <a:lvl5pPr>
              <a:buClr>
                <a:srgbClr val="C91317"/>
              </a:buClr>
              <a:buSzPct val="200000"/>
              <a:defRPr>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9" name="Content Placeholder 3">
            <a:extLst>
              <a:ext uri="{FF2B5EF4-FFF2-40B4-BE49-F238E27FC236}">
                <a16:creationId xmlns:a16="http://schemas.microsoft.com/office/drawing/2014/main" id="{356E0546-6F03-4C97-9834-2DAEDD200602}"/>
              </a:ext>
            </a:extLst>
          </p:cNvPr>
          <p:cNvSpPr>
            <a:spLocks noGrp="1"/>
          </p:cNvSpPr>
          <p:nvPr>
            <p:ph sz="half" idx="2"/>
          </p:nvPr>
        </p:nvSpPr>
        <p:spPr>
          <a:xfrm>
            <a:off x="4572000" y="2690037"/>
            <a:ext cx="4286250" cy="3336690"/>
          </a:xfrm>
          <a:prstGeom prst="rect">
            <a:avLst/>
          </a:prstGeom>
        </p:spPr>
        <p:txBody>
          <a:bodyPr/>
          <a:lstStyle>
            <a:lvl1pPr>
              <a:buClr>
                <a:srgbClr val="C91317"/>
              </a:buClr>
              <a:buSzPct val="200000"/>
              <a:defRPr>
                <a:solidFill>
                  <a:srgbClr val="2B2B2B"/>
                </a:solidFill>
                <a:latin typeface="Arial" panose="020B0604020202020204" pitchFamily="34" charset="0"/>
              </a:defRPr>
            </a:lvl1pPr>
            <a:lvl2pPr>
              <a:buClr>
                <a:srgbClr val="C91317"/>
              </a:buClr>
              <a:buSzPct val="200000"/>
              <a:defRPr>
                <a:solidFill>
                  <a:srgbClr val="2B2B2B"/>
                </a:solidFill>
                <a:latin typeface="Arial" panose="020B0604020202020204" pitchFamily="34" charset="0"/>
              </a:defRPr>
            </a:lvl2pPr>
            <a:lvl3pPr>
              <a:buClr>
                <a:srgbClr val="C91317"/>
              </a:buClr>
              <a:buSzPct val="200000"/>
              <a:defRPr>
                <a:solidFill>
                  <a:srgbClr val="2B2B2B"/>
                </a:solidFill>
                <a:latin typeface="Arial" panose="020B0604020202020204" pitchFamily="34" charset="0"/>
              </a:defRPr>
            </a:lvl3pPr>
            <a:lvl4pPr>
              <a:buClr>
                <a:srgbClr val="C91317"/>
              </a:buClr>
              <a:buSzPct val="200000"/>
              <a:defRPr>
                <a:solidFill>
                  <a:srgbClr val="2B2B2B"/>
                </a:solidFill>
                <a:latin typeface="Arial" panose="020B0604020202020204" pitchFamily="34" charset="0"/>
              </a:defRPr>
            </a:lvl4pPr>
            <a:lvl5pPr>
              <a:buClr>
                <a:srgbClr val="C91317"/>
              </a:buClr>
              <a:buSzPct val="200000"/>
              <a:defRPr>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2" name="Espace réservé du numéro de diapositive 1">
            <a:extLst>
              <a:ext uri="{FF2B5EF4-FFF2-40B4-BE49-F238E27FC236}">
                <a16:creationId xmlns:a16="http://schemas.microsoft.com/office/drawing/2014/main" id="{33381CD9-00CC-417F-9EA9-ACF2A1414A45}"/>
              </a:ext>
            </a:extLst>
          </p:cNvPr>
          <p:cNvSpPr>
            <a:spLocks noGrp="1"/>
          </p:cNvSpPr>
          <p:nvPr>
            <p:ph type="sldNum" sz="quarter" idx="11"/>
          </p:nvPr>
        </p:nvSpPr>
        <p:spPr/>
        <p:txBody>
          <a:bodyPr/>
          <a:lstStyle/>
          <a:p>
            <a:fld id="{26DF9506-C750-44C3-8E12-610AD4C8F1FD}" type="slidenum">
              <a:rPr lang="fr-BE" smtClean="0"/>
              <a:t>‹N°›</a:t>
            </a:fld>
            <a:endParaRPr lang="fr-BE"/>
          </a:p>
        </p:txBody>
      </p:sp>
    </p:spTree>
    <p:extLst>
      <p:ext uri="{BB962C8B-B14F-4D97-AF65-F5344CB8AC3E}">
        <p14:creationId xmlns:p14="http://schemas.microsoft.com/office/powerpoint/2010/main" val="3046532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C00A9C74-3B0E-442F-9551-373DA2D7AA57}"/>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2" name="Espace réservé du numéro de diapositive 1">
            <a:extLst>
              <a:ext uri="{FF2B5EF4-FFF2-40B4-BE49-F238E27FC236}">
                <a16:creationId xmlns:a16="http://schemas.microsoft.com/office/drawing/2014/main" id="{8CF80F7D-B5F8-4569-9F90-3912FF9870B1}"/>
              </a:ext>
            </a:extLst>
          </p:cNvPr>
          <p:cNvSpPr>
            <a:spLocks noGrp="1"/>
          </p:cNvSpPr>
          <p:nvPr>
            <p:ph type="sldNum" sz="quarter" idx="10"/>
          </p:nvPr>
        </p:nvSpPr>
        <p:spPr/>
        <p:txBody>
          <a:bodyPr/>
          <a:lstStyle/>
          <a:p>
            <a:fld id="{26DF9506-C750-44C3-8E12-610AD4C8F1FD}" type="slidenum">
              <a:rPr lang="fr-BE" smtClean="0"/>
              <a:t>‹N°›</a:t>
            </a:fld>
            <a:endParaRPr lang="fr-BE"/>
          </a:p>
        </p:txBody>
      </p:sp>
    </p:spTree>
    <p:extLst>
      <p:ext uri="{BB962C8B-B14F-4D97-AF65-F5344CB8AC3E}">
        <p14:creationId xmlns:p14="http://schemas.microsoft.com/office/powerpoint/2010/main" val="3728852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3B3F24F-F9CE-48E5-8E78-0EAD4E00D7A2}"/>
              </a:ext>
            </a:extLst>
          </p:cNvPr>
          <p:cNvSpPr>
            <a:spLocks noGrp="1"/>
          </p:cNvSpPr>
          <p:nvPr>
            <p:ph type="sldNum" sz="quarter" idx="10"/>
          </p:nvPr>
        </p:nvSpPr>
        <p:spPr/>
        <p:txBody>
          <a:bodyPr/>
          <a:lstStyle/>
          <a:p>
            <a:fld id="{26DF9506-C750-44C3-8E12-610AD4C8F1FD}" type="slidenum">
              <a:rPr lang="fr-BE" smtClean="0"/>
              <a:t>‹N°›</a:t>
            </a:fld>
            <a:endParaRPr lang="fr-BE"/>
          </a:p>
        </p:txBody>
      </p:sp>
    </p:spTree>
    <p:extLst>
      <p:ext uri="{BB962C8B-B14F-4D97-AF65-F5344CB8AC3E}">
        <p14:creationId xmlns:p14="http://schemas.microsoft.com/office/powerpoint/2010/main" val="1217710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84020" y="1756064"/>
            <a:ext cx="3294999" cy="4112924"/>
          </a:xfrm>
          <a:prstGeom prst="rect">
            <a:avLst/>
          </a:prstGeom>
        </p:spPr>
        <p:txBody>
          <a:bodyPr/>
          <a:lstStyle>
            <a:lvl1pPr marL="0" indent="0">
              <a:buNone/>
              <a:defRPr sz="1600" b="1">
                <a:solidFill>
                  <a:srgbClr val="2B2B2B"/>
                </a:solidFill>
                <a:latin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9" name="Content Placeholder 3"/>
          <p:cNvSpPr>
            <a:spLocks noGrp="1"/>
          </p:cNvSpPr>
          <p:nvPr>
            <p:ph sz="half" idx="10"/>
          </p:nvPr>
        </p:nvSpPr>
        <p:spPr>
          <a:xfrm>
            <a:off x="3782292" y="1756065"/>
            <a:ext cx="5077688" cy="4112924"/>
          </a:xfrm>
          <a:prstGeom prst="rect">
            <a:avLst/>
          </a:prstGeom>
        </p:spPr>
        <p:txBody>
          <a:bodyPr/>
          <a:lstStyle>
            <a:lvl1pPr>
              <a:buClr>
                <a:srgbClr val="C91317"/>
              </a:buClr>
              <a:buSzPct val="200000"/>
              <a:defRPr sz="1800">
                <a:solidFill>
                  <a:srgbClr val="2B2B2B"/>
                </a:solidFill>
                <a:latin typeface="Arial" panose="020B0604020202020204" pitchFamily="34" charset="0"/>
              </a:defRPr>
            </a:lvl1pPr>
            <a:lvl2pPr>
              <a:buClr>
                <a:srgbClr val="C91317"/>
              </a:buClr>
              <a:buSzPct val="200000"/>
              <a:defRPr sz="1600">
                <a:solidFill>
                  <a:srgbClr val="2B2B2B"/>
                </a:solidFill>
                <a:latin typeface="Arial" panose="020B0604020202020204" pitchFamily="34" charset="0"/>
              </a:defRPr>
            </a:lvl2pPr>
            <a:lvl3pPr>
              <a:buClr>
                <a:srgbClr val="C91317"/>
              </a:buClr>
              <a:buSzPct val="200000"/>
              <a:defRPr sz="1600">
                <a:solidFill>
                  <a:srgbClr val="2B2B2B"/>
                </a:solidFill>
                <a:latin typeface="Arial" panose="020B0604020202020204" pitchFamily="34" charset="0"/>
              </a:defRPr>
            </a:lvl3pPr>
            <a:lvl4pPr>
              <a:buClr>
                <a:srgbClr val="C91317"/>
              </a:buClr>
              <a:buSzPct val="200000"/>
              <a:defRPr sz="1600">
                <a:solidFill>
                  <a:srgbClr val="2B2B2B"/>
                </a:solidFill>
                <a:latin typeface="Arial" panose="020B0604020202020204" pitchFamily="34" charset="0"/>
              </a:defRPr>
            </a:lvl4pPr>
            <a:lvl5pPr>
              <a:buClr>
                <a:srgbClr val="C91317"/>
              </a:buClr>
              <a:buSzPct val="200000"/>
              <a:defRPr sz="1400">
                <a:solidFill>
                  <a:srgbClr val="2B2B2B"/>
                </a:solidFill>
                <a:latin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itre 1">
            <a:extLst>
              <a:ext uri="{FF2B5EF4-FFF2-40B4-BE49-F238E27FC236}">
                <a16:creationId xmlns:a16="http://schemas.microsoft.com/office/drawing/2014/main" id="{B723936F-B140-4856-8235-EC2D80F47512}"/>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2" name="Espace réservé du numéro de diapositive 1">
            <a:extLst>
              <a:ext uri="{FF2B5EF4-FFF2-40B4-BE49-F238E27FC236}">
                <a16:creationId xmlns:a16="http://schemas.microsoft.com/office/drawing/2014/main" id="{81B9BBB8-6FF0-4B19-ABA7-E48EDDA4C815}"/>
              </a:ext>
            </a:extLst>
          </p:cNvPr>
          <p:cNvSpPr>
            <a:spLocks noGrp="1"/>
          </p:cNvSpPr>
          <p:nvPr>
            <p:ph type="sldNum" sz="quarter" idx="11"/>
          </p:nvPr>
        </p:nvSpPr>
        <p:spPr/>
        <p:txBody>
          <a:bodyPr/>
          <a:lstStyle/>
          <a:p>
            <a:fld id="{26DF9506-C750-44C3-8E12-610AD4C8F1FD}" type="slidenum">
              <a:rPr lang="fr-BE" smtClean="0"/>
              <a:t>‹N°›</a:t>
            </a:fld>
            <a:endParaRPr lang="fr-BE"/>
          </a:p>
        </p:txBody>
      </p:sp>
    </p:spTree>
    <p:extLst>
      <p:ext uri="{BB962C8B-B14F-4D97-AF65-F5344CB8AC3E}">
        <p14:creationId xmlns:p14="http://schemas.microsoft.com/office/powerpoint/2010/main" val="1304431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Image avec légende">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286000" y="1776845"/>
            <a:ext cx="6572250" cy="4084206"/>
          </a:xfrm>
          <a:prstGeom prst="rect">
            <a:avLst/>
          </a:prstGeom>
        </p:spPr>
        <p:txBody>
          <a:bodyPr anchor="t"/>
          <a:lstStyle>
            <a:lvl1pPr marL="0" indent="0">
              <a:buNone/>
              <a:defRPr sz="1400" i="0">
                <a:solidFill>
                  <a:schemeClr val="bg2">
                    <a:lumMod val="75000"/>
                  </a:schemeClr>
                </a:solidFill>
                <a:latin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285751" y="1776845"/>
            <a:ext cx="1885950" cy="4092143"/>
          </a:xfrm>
          <a:prstGeom prst="rect">
            <a:avLst/>
          </a:prstGeom>
        </p:spPr>
        <p:txBody>
          <a:bodyPr/>
          <a:lstStyle>
            <a:lvl1pPr marL="0" indent="0" algn="l">
              <a:buNone/>
              <a:defRPr sz="1600" b="1">
                <a:solidFill>
                  <a:srgbClr val="2B2B2B"/>
                </a:solidFill>
                <a:latin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Titre 1">
            <a:extLst>
              <a:ext uri="{FF2B5EF4-FFF2-40B4-BE49-F238E27FC236}">
                <a16:creationId xmlns:a16="http://schemas.microsoft.com/office/drawing/2014/main" id="{F43EE628-A185-4A6D-BE88-14EFD8F490C6}"/>
              </a:ext>
            </a:extLst>
          </p:cNvPr>
          <p:cNvSpPr>
            <a:spLocks noGrp="1"/>
          </p:cNvSpPr>
          <p:nvPr>
            <p:ph type="title"/>
          </p:nvPr>
        </p:nvSpPr>
        <p:spPr>
          <a:xfrm>
            <a:off x="4572000" y="228600"/>
            <a:ext cx="4286249" cy="962247"/>
          </a:xfrm>
          <a:prstGeom prst="rect">
            <a:avLst/>
          </a:prstGeom>
        </p:spPr>
        <p:txBody>
          <a:bodyPr/>
          <a:lstStyle>
            <a:lvl1pPr>
              <a:defRPr>
                <a:latin typeface="Arial" panose="020B0604020202020204" pitchFamily="34" charset="0"/>
              </a:defRPr>
            </a:lvl1pPr>
          </a:lstStyle>
          <a:p>
            <a:r>
              <a:rPr lang="fr-FR" sz="2500">
                <a:solidFill>
                  <a:srgbClr val="2B2B2B"/>
                </a:solidFill>
                <a:latin typeface="Roboto "/>
              </a:rPr>
              <a:t>Modifiez le style du titre</a:t>
            </a:r>
            <a:endParaRPr lang="fr-BE" sz="2500" dirty="0">
              <a:solidFill>
                <a:srgbClr val="2B2B2B"/>
              </a:solidFill>
              <a:latin typeface="Roboto "/>
            </a:endParaRPr>
          </a:p>
        </p:txBody>
      </p:sp>
      <p:sp>
        <p:nvSpPr>
          <p:cNvPr id="2" name="Espace réservé du numéro de diapositive 1">
            <a:extLst>
              <a:ext uri="{FF2B5EF4-FFF2-40B4-BE49-F238E27FC236}">
                <a16:creationId xmlns:a16="http://schemas.microsoft.com/office/drawing/2014/main" id="{6B18CF9C-FA09-400B-8A6D-3B4F71D1C4F7}"/>
              </a:ext>
            </a:extLst>
          </p:cNvPr>
          <p:cNvSpPr>
            <a:spLocks noGrp="1"/>
          </p:cNvSpPr>
          <p:nvPr>
            <p:ph type="sldNum" sz="quarter" idx="10"/>
          </p:nvPr>
        </p:nvSpPr>
        <p:spPr/>
        <p:txBody>
          <a:bodyPr/>
          <a:lstStyle/>
          <a:p>
            <a:fld id="{26DF9506-C750-44C3-8E12-610AD4C8F1FD}" type="slidenum">
              <a:rPr lang="fr-BE" smtClean="0"/>
              <a:t>‹N°›</a:t>
            </a:fld>
            <a:endParaRPr lang="fr-BE"/>
          </a:p>
        </p:txBody>
      </p:sp>
    </p:spTree>
    <p:extLst>
      <p:ext uri="{BB962C8B-B14F-4D97-AF65-F5344CB8AC3E}">
        <p14:creationId xmlns:p14="http://schemas.microsoft.com/office/powerpoint/2010/main" val="635799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5142E7-FD62-4A3B-BA3B-F57F13E802DB}"/>
              </a:ext>
            </a:extLst>
          </p:cNvPr>
          <p:cNvSpPr>
            <a:spLocks noGrp="1"/>
          </p:cNvSpPr>
          <p:nvPr>
            <p:ph type="title"/>
          </p:nvPr>
        </p:nvSpPr>
        <p:spPr/>
        <p:txBody>
          <a:bodyPr/>
          <a:lstStyle/>
          <a:p>
            <a:r>
              <a:rPr lang="fr-FR"/>
              <a:t>Modifiez le style du titre</a:t>
            </a:r>
            <a:endParaRPr lang="fr-BE"/>
          </a:p>
        </p:txBody>
      </p:sp>
      <p:sp>
        <p:nvSpPr>
          <p:cNvPr id="3" name="Espace réservé du numéro de diapositive 2">
            <a:extLst>
              <a:ext uri="{FF2B5EF4-FFF2-40B4-BE49-F238E27FC236}">
                <a16:creationId xmlns:a16="http://schemas.microsoft.com/office/drawing/2014/main" id="{68CDE9CF-4445-4195-AB8F-98D37C850DD6}"/>
              </a:ext>
            </a:extLst>
          </p:cNvPr>
          <p:cNvSpPr>
            <a:spLocks noGrp="1"/>
          </p:cNvSpPr>
          <p:nvPr>
            <p:ph type="sldNum" sz="quarter" idx="10"/>
          </p:nvPr>
        </p:nvSpPr>
        <p:spPr/>
        <p:txBody>
          <a:bodyPr/>
          <a:lstStyle/>
          <a:p>
            <a:fld id="{26DF9506-C750-44C3-8E12-610AD4C8F1FD}" type="slidenum">
              <a:rPr lang="fr-BE" smtClean="0"/>
              <a:t>‹N°›</a:t>
            </a:fld>
            <a:endParaRPr lang="fr-BE"/>
          </a:p>
        </p:txBody>
      </p:sp>
      <p:sp>
        <p:nvSpPr>
          <p:cNvPr id="5" name="Espace réservé du texte 4">
            <a:extLst>
              <a:ext uri="{FF2B5EF4-FFF2-40B4-BE49-F238E27FC236}">
                <a16:creationId xmlns:a16="http://schemas.microsoft.com/office/drawing/2014/main" id="{F17093D8-5537-49FE-9E58-DD113F96AAD1}"/>
              </a:ext>
            </a:extLst>
          </p:cNvPr>
          <p:cNvSpPr>
            <a:spLocks noGrp="1"/>
          </p:cNvSpPr>
          <p:nvPr>
            <p:ph type="body" sz="quarter" idx="11"/>
          </p:nvPr>
        </p:nvSpPr>
        <p:spPr>
          <a:xfrm>
            <a:off x="1085850" y="3109912"/>
            <a:ext cx="5553075" cy="638175"/>
          </a:xfrm>
          <a:prstGeom prst="rect">
            <a:avLst/>
          </a:prstGeo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Tree>
    <p:extLst>
      <p:ext uri="{BB962C8B-B14F-4D97-AF65-F5344CB8AC3E}">
        <p14:creationId xmlns:p14="http://schemas.microsoft.com/office/powerpoint/2010/main" val="3401209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1000" b="-1000"/>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8DBFD8E-0DC8-4C60-850D-B6271FE2C997}"/>
              </a:ext>
            </a:extLst>
          </p:cNvPr>
          <p:cNvSpPr>
            <a:spLocks noGrp="1"/>
          </p:cNvSpPr>
          <p:nvPr>
            <p:ph type="title"/>
          </p:nvPr>
        </p:nvSpPr>
        <p:spPr>
          <a:xfrm>
            <a:off x="1085850" y="2103437"/>
            <a:ext cx="78867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numéro de diapositive 2">
            <a:extLst>
              <a:ext uri="{FF2B5EF4-FFF2-40B4-BE49-F238E27FC236}">
                <a16:creationId xmlns:a16="http://schemas.microsoft.com/office/drawing/2014/main" id="{4A10DA80-EF2E-4A94-8BB7-3A6AF98E46B2}"/>
              </a:ext>
            </a:extLst>
          </p:cNvPr>
          <p:cNvSpPr>
            <a:spLocks noGrp="1"/>
          </p:cNvSpPr>
          <p:nvPr>
            <p:ph type="sldNum" sz="quarter" idx="4"/>
          </p:nvPr>
        </p:nvSpPr>
        <p:spPr>
          <a:xfrm>
            <a:off x="6848475" y="6080125"/>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DF9506-C750-44C3-8E12-610AD4C8F1FD}" type="slidenum">
              <a:rPr lang="fr-BE" smtClean="0"/>
              <a:t>‹N°›</a:t>
            </a:fld>
            <a:endParaRPr lang="fr-BE"/>
          </a:p>
        </p:txBody>
      </p:sp>
    </p:spTree>
    <p:extLst>
      <p:ext uri="{BB962C8B-B14F-4D97-AF65-F5344CB8AC3E}">
        <p14:creationId xmlns:p14="http://schemas.microsoft.com/office/powerpoint/2010/main" val="2846317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70" r:id="rId8"/>
    <p:sldLayoutId id="2147483671" r:id="rId9"/>
  </p:sldLayoutIdLst>
  <p:hf hdr="0" ftr="0" dt="0"/>
  <p:txStyles>
    <p:titleStyle>
      <a:lvl1pPr algn="l" defTabSz="914400" rtl="0" eaLnBrk="1" latinLnBrk="0" hangingPunct="1">
        <a:lnSpc>
          <a:spcPct val="90000"/>
        </a:lnSpc>
        <a:spcBef>
          <a:spcPct val="0"/>
        </a:spcBef>
        <a:buNone/>
        <a:defRPr sz="3500" kern="1200">
          <a:solidFill>
            <a:schemeClr val="tx1"/>
          </a:solidFill>
          <a:latin typeface="Roboto Condensed" panose="02000000000000000000" pitchFamily="2" charset="0"/>
          <a:ea typeface="Roboto Condensed"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Roboto Condensed" panose="02000000000000000000" pitchFamily="2" charset="0"/>
          <a:ea typeface="Roboto Condensed"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Roboto Condensed" panose="02000000000000000000" pitchFamily="2" charset="0"/>
          <a:ea typeface="Roboto Condensed"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Condensed" panose="02000000000000000000" pitchFamily="2" charset="0"/>
          <a:ea typeface="Roboto Condensed"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Condensed" panose="02000000000000000000" pitchFamily="2" charset="0"/>
          <a:ea typeface="Roboto Condensed"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Condensed" panose="02000000000000000000" pitchFamily="2" charset="0"/>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75EA5D-AC64-41C5-A86A-8CEC6C3E3898}"/>
              </a:ext>
            </a:extLst>
          </p:cNvPr>
          <p:cNvSpPr>
            <a:spLocks noGrp="1"/>
          </p:cNvSpPr>
          <p:nvPr>
            <p:ph type="title"/>
          </p:nvPr>
        </p:nvSpPr>
        <p:spPr>
          <a:xfrm>
            <a:off x="1087581" y="2248912"/>
            <a:ext cx="7886700" cy="1062699"/>
          </a:xfrm>
        </p:spPr>
        <p:txBody>
          <a:bodyPr>
            <a:normAutofit fontScale="90000"/>
          </a:bodyPr>
          <a:lstStyle/>
          <a:p>
            <a:r>
              <a:rPr lang="fr-FR" sz="4400" dirty="0"/>
              <a:t>Mathématiques appliquées à l'informatique</a:t>
            </a:r>
            <a:endParaRPr lang="fr-BE" sz="4400" dirty="0"/>
          </a:p>
        </p:txBody>
      </p:sp>
      <p:sp>
        <p:nvSpPr>
          <p:cNvPr id="3" name="ZoneTexte 2">
            <a:extLst>
              <a:ext uri="{FF2B5EF4-FFF2-40B4-BE49-F238E27FC236}">
                <a16:creationId xmlns:a16="http://schemas.microsoft.com/office/drawing/2014/main" id="{DB893DFD-C04B-4489-8111-E1C33A2FF174}"/>
              </a:ext>
            </a:extLst>
          </p:cNvPr>
          <p:cNvSpPr txBox="1"/>
          <p:nvPr/>
        </p:nvSpPr>
        <p:spPr>
          <a:xfrm>
            <a:off x="1573427" y="3505200"/>
            <a:ext cx="7400854" cy="646331"/>
          </a:xfrm>
          <a:prstGeom prst="rect">
            <a:avLst/>
          </a:prstGeom>
          <a:noFill/>
        </p:spPr>
        <p:txBody>
          <a:bodyPr wrap="square" rtlCol="0">
            <a:spAutoFit/>
          </a:bodyPr>
          <a:lstStyle/>
          <a:p>
            <a:r>
              <a:rPr lang="fr-FR" dirty="0">
                <a:solidFill>
                  <a:schemeClr val="bg1">
                    <a:lumMod val="50000"/>
                  </a:schemeClr>
                </a:solidFill>
              </a:rPr>
              <a:t>BA2 Informatique</a:t>
            </a:r>
          </a:p>
          <a:p>
            <a:r>
              <a:rPr lang="fr-FR" dirty="0">
                <a:solidFill>
                  <a:schemeClr val="bg1">
                    <a:lumMod val="50000"/>
                  </a:schemeClr>
                </a:solidFill>
              </a:rPr>
              <a:t>Johan </a:t>
            </a:r>
            <a:r>
              <a:rPr lang="fr-FR" dirty="0" err="1">
                <a:solidFill>
                  <a:schemeClr val="bg1">
                    <a:lumMod val="50000"/>
                  </a:schemeClr>
                </a:solidFill>
              </a:rPr>
              <a:t>Depréter</a:t>
            </a:r>
            <a:r>
              <a:rPr lang="fr-FR" dirty="0">
                <a:solidFill>
                  <a:schemeClr val="bg1">
                    <a:lumMod val="50000"/>
                  </a:schemeClr>
                </a:solidFill>
              </a:rPr>
              <a:t> – johan.depreter@heh.be</a:t>
            </a:r>
            <a:endParaRPr lang="fr-BE" dirty="0">
              <a:solidFill>
                <a:schemeClr val="bg1">
                  <a:lumMod val="50000"/>
                </a:schemeClr>
              </a:solidFill>
            </a:endParaRPr>
          </a:p>
        </p:txBody>
      </p:sp>
      <p:sp>
        <p:nvSpPr>
          <p:cNvPr id="4" name="Espace réservé du numéro de diapositive 3">
            <a:extLst>
              <a:ext uri="{FF2B5EF4-FFF2-40B4-BE49-F238E27FC236}">
                <a16:creationId xmlns:a16="http://schemas.microsoft.com/office/drawing/2014/main" id="{483B3C02-371C-4836-9681-7DD0EFCB39DF}"/>
              </a:ext>
            </a:extLst>
          </p:cNvPr>
          <p:cNvSpPr>
            <a:spLocks noGrp="1"/>
          </p:cNvSpPr>
          <p:nvPr>
            <p:ph type="sldNum" sz="quarter" idx="10"/>
          </p:nvPr>
        </p:nvSpPr>
        <p:spPr/>
        <p:txBody>
          <a:bodyPr/>
          <a:lstStyle/>
          <a:p>
            <a:fld id="{26DF9506-C750-44C3-8E12-610AD4C8F1FD}" type="slidenum">
              <a:rPr lang="fr-BE" smtClean="0"/>
              <a:t>1</a:t>
            </a:fld>
            <a:endParaRPr lang="fr-BE"/>
          </a:p>
        </p:txBody>
      </p:sp>
    </p:spTree>
    <p:extLst>
      <p:ext uri="{BB962C8B-B14F-4D97-AF65-F5344CB8AC3E}">
        <p14:creationId xmlns:p14="http://schemas.microsoft.com/office/powerpoint/2010/main" val="3833587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1663465E-1D9A-4035-883C-9F67B559C6E2}"/>
              </a:ext>
            </a:extLst>
          </p:cNvPr>
          <p:cNvSpPr>
            <a:spLocks noGrp="1"/>
          </p:cNvSpPr>
          <p:nvPr>
            <p:ph idx="1"/>
          </p:nvPr>
        </p:nvSpPr>
        <p:spPr/>
        <p:txBody>
          <a:bodyPr/>
          <a:lstStyle/>
          <a:p>
            <a:r>
              <a:rPr lang="fr-FR" dirty="0"/>
              <a:t>Répartition des séances :</a:t>
            </a:r>
          </a:p>
          <a:p>
            <a:pPr marL="457200" lvl="1" indent="0">
              <a:buNone/>
            </a:pPr>
            <a:r>
              <a:rPr lang="fr-FR" dirty="0"/>
              <a:t>Théorie : +/- 16h</a:t>
            </a:r>
          </a:p>
          <a:p>
            <a:pPr marL="457200" lvl="1" indent="0">
              <a:buNone/>
            </a:pPr>
            <a:r>
              <a:rPr lang="fr-FR" dirty="0"/>
              <a:t>Pratique : +/- 8h</a:t>
            </a:r>
          </a:p>
          <a:p>
            <a:endParaRPr lang="fr-FR" dirty="0"/>
          </a:p>
          <a:p>
            <a:r>
              <a:rPr lang="fr-FR" dirty="0"/>
              <a:t>Evaluations :</a:t>
            </a:r>
          </a:p>
          <a:p>
            <a:pPr marL="457200" lvl="1" indent="0">
              <a:buNone/>
            </a:pPr>
            <a:r>
              <a:rPr lang="fr-FR" dirty="0"/>
              <a:t>20% de travail continu : Exercices à rendre en séances d’exercices + évaluation continue</a:t>
            </a:r>
          </a:p>
          <a:p>
            <a:pPr marL="457200" lvl="1" indent="0">
              <a:buNone/>
            </a:pPr>
            <a:r>
              <a:rPr lang="fr-FR" dirty="0"/>
              <a:t>80% examen final : Examen oral avec préparation.</a:t>
            </a:r>
          </a:p>
        </p:txBody>
      </p:sp>
      <p:sp>
        <p:nvSpPr>
          <p:cNvPr id="3" name="Titre 2">
            <a:extLst>
              <a:ext uri="{FF2B5EF4-FFF2-40B4-BE49-F238E27FC236}">
                <a16:creationId xmlns:a16="http://schemas.microsoft.com/office/drawing/2014/main" id="{00335D1B-2012-41E8-99E5-3D892E01BAC5}"/>
              </a:ext>
            </a:extLst>
          </p:cNvPr>
          <p:cNvSpPr>
            <a:spLocks noGrp="1"/>
          </p:cNvSpPr>
          <p:nvPr>
            <p:ph type="title"/>
          </p:nvPr>
        </p:nvSpPr>
        <p:spPr/>
        <p:txBody>
          <a:bodyPr>
            <a:normAutofit fontScale="90000"/>
          </a:bodyPr>
          <a:lstStyle/>
          <a:p>
            <a:r>
              <a:rPr lang="fr-FR" dirty="0"/>
              <a:t>Informations pratiques</a:t>
            </a:r>
            <a:endParaRPr lang="fr-BE" dirty="0"/>
          </a:p>
        </p:txBody>
      </p:sp>
      <p:sp>
        <p:nvSpPr>
          <p:cNvPr id="4" name="Espace réservé du numéro de diapositive 3">
            <a:extLst>
              <a:ext uri="{FF2B5EF4-FFF2-40B4-BE49-F238E27FC236}">
                <a16:creationId xmlns:a16="http://schemas.microsoft.com/office/drawing/2014/main" id="{03905788-A786-4BA6-A03F-2D95C3C1D118}"/>
              </a:ext>
            </a:extLst>
          </p:cNvPr>
          <p:cNvSpPr>
            <a:spLocks noGrp="1"/>
          </p:cNvSpPr>
          <p:nvPr>
            <p:ph type="sldNum" sz="quarter" idx="10"/>
          </p:nvPr>
        </p:nvSpPr>
        <p:spPr/>
        <p:txBody>
          <a:bodyPr/>
          <a:lstStyle/>
          <a:p>
            <a:fld id="{26DF9506-C750-44C3-8E12-610AD4C8F1FD}" type="slidenum">
              <a:rPr lang="fr-BE" smtClean="0"/>
              <a:t>2</a:t>
            </a:fld>
            <a:endParaRPr lang="fr-BE"/>
          </a:p>
        </p:txBody>
      </p:sp>
    </p:spTree>
    <p:extLst>
      <p:ext uri="{BB962C8B-B14F-4D97-AF65-F5344CB8AC3E}">
        <p14:creationId xmlns:p14="http://schemas.microsoft.com/office/powerpoint/2010/main" val="1387636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1D7A1FE5-1F95-4907-AB28-13FBA04E0A0F}"/>
              </a:ext>
            </a:extLst>
          </p:cNvPr>
          <p:cNvSpPr>
            <a:spLocks noGrp="1"/>
          </p:cNvSpPr>
          <p:nvPr>
            <p:ph idx="1"/>
          </p:nvPr>
        </p:nvSpPr>
        <p:spPr/>
        <p:txBody>
          <a:bodyPr/>
          <a:lstStyle/>
          <a:p>
            <a:endParaRPr lang="fr-FR" dirty="0"/>
          </a:p>
          <a:p>
            <a:r>
              <a:rPr lang="fr-FR" dirty="0"/>
              <a:t>Dès qu’on rentrera dans le vif du sujet, essayez de travailler régulièrement.</a:t>
            </a:r>
          </a:p>
          <a:p>
            <a:endParaRPr lang="fr-FR" dirty="0"/>
          </a:p>
          <a:p>
            <a:r>
              <a:rPr lang="fr-FR" dirty="0"/>
              <a:t>Préparez, et finissez, les séances de pratique.</a:t>
            </a:r>
          </a:p>
          <a:p>
            <a:endParaRPr lang="fr-FR" dirty="0"/>
          </a:p>
          <a:p>
            <a:r>
              <a:rPr lang="fr-FR" dirty="0"/>
              <a:t>Les maths c’est pas toujours simple, mais il faut persévérer.</a:t>
            </a:r>
            <a:endParaRPr lang="fr-BE" dirty="0"/>
          </a:p>
        </p:txBody>
      </p:sp>
      <p:sp>
        <p:nvSpPr>
          <p:cNvPr id="3" name="Titre 2">
            <a:extLst>
              <a:ext uri="{FF2B5EF4-FFF2-40B4-BE49-F238E27FC236}">
                <a16:creationId xmlns:a16="http://schemas.microsoft.com/office/drawing/2014/main" id="{11EE94A8-6650-4BD1-8460-58EF1B9F5DCD}"/>
              </a:ext>
            </a:extLst>
          </p:cNvPr>
          <p:cNvSpPr>
            <a:spLocks noGrp="1"/>
          </p:cNvSpPr>
          <p:nvPr>
            <p:ph type="title"/>
          </p:nvPr>
        </p:nvSpPr>
        <p:spPr/>
        <p:txBody>
          <a:bodyPr/>
          <a:lstStyle/>
          <a:p>
            <a:r>
              <a:rPr lang="fr-FR" dirty="0"/>
              <a:t>Conseils</a:t>
            </a:r>
            <a:endParaRPr lang="fr-BE" dirty="0"/>
          </a:p>
        </p:txBody>
      </p:sp>
      <p:sp>
        <p:nvSpPr>
          <p:cNvPr id="4" name="Espace réservé du numéro de diapositive 3">
            <a:extLst>
              <a:ext uri="{FF2B5EF4-FFF2-40B4-BE49-F238E27FC236}">
                <a16:creationId xmlns:a16="http://schemas.microsoft.com/office/drawing/2014/main" id="{B877B326-8B25-4C53-91DA-C5166C1F1915}"/>
              </a:ext>
            </a:extLst>
          </p:cNvPr>
          <p:cNvSpPr>
            <a:spLocks noGrp="1"/>
          </p:cNvSpPr>
          <p:nvPr>
            <p:ph type="sldNum" sz="quarter" idx="10"/>
          </p:nvPr>
        </p:nvSpPr>
        <p:spPr/>
        <p:txBody>
          <a:bodyPr/>
          <a:lstStyle/>
          <a:p>
            <a:fld id="{26DF9506-C750-44C3-8E12-610AD4C8F1FD}" type="slidenum">
              <a:rPr lang="fr-BE" smtClean="0"/>
              <a:t>3</a:t>
            </a:fld>
            <a:endParaRPr lang="fr-BE"/>
          </a:p>
        </p:txBody>
      </p:sp>
    </p:spTree>
    <p:extLst>
      <p:ext uri="{BB962C8B-B14F-4D97-AF65-F5344CB8AC3E}">
        <p14:creationId xmlns:p14="http://schemas.microsoft.com/office/powerpoint/2010/main" val="337749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F66610CC-18F1-48DE-B457-5EF7C6B89F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0275" y="2311511"/>
            <a:ext cx="4743450" cy="2647950"/>
          </a:xfrm>
        </p:spPr>
      </p:pic>
      <p:sp>
        <p:nvSpPr>
          <p:cNvPr id="3" name="Titre 2">
            <a:extLst>
              <a:ext uri="{FF2B5EF4-FFF2-40B4-BE49-F238E27FC236}">
                <a16:creationId xmlns:a16="http://schemas.microsoft.com/office/drawing/2014/main" id="{4EBBCE1C-9EDE-4E6B-9E35-44DDB7E13D54}"/>
              </a:ext>
            </a:extLst>
          </p:cNvPr>
          <p:cNvSpPr>
            <a:spLocks noGrp="1"/>
          </p:cNvSpPr>
          <p:nvPr>
            <p:ph type="title"/>
          </p:nvPr>
        </p:nvSpPr>
        <p:spPr/>
        <p:txBody>
          <a:bodyPr/>
          <a:lstStyle/>
          <a:p>
            <a:r>
              <a:rPr lang="fr-FR" dirty="0"/>
              <a:t>Pourquoi ?</a:t>
            </a:r>
            <a:endParaRPr lang="fr-BE" dirty="0"/>
          </a:p>
        </p:txBody>
      </p:sp>
      <p:sp>
        <p:nvSpPr>
          <p:cNvPr id="4" name="Espace réservé du numéro de diapositive 3">
            <a:extLst>
              <a:ext uri="{FF2B5EF4-FFF2-40B4-BE49-F238E27FC236}">
                <a16:creationId xmlns:a16="http://schemas.microsoft.com/office/drawing/2014/main" id="{6DA2F494-ABD3-4B92-A1BA-559D9C65DE9C}"/>
              </a:ext>
            </a:extLst>
          </p:cNvPr>
          <p:cNvSpPr>
            <a:spLocks noGrp="1"/>
          </p:cNvSpPr>
          <p:nvPr>
            <p:ph type="sldNum" sz="quarter" idx="10"/>
          </p:nvPr>
        </p:nvSpPr>
        <p:spPr/>
        <p:txBody>
          <a:bodyPr/>
          <a:lstStyle/>
          <a:p>
            <a:fld id="{26DF9506-C750-44C3-8E12-610AD4C8F1FD}" type="slidenum">
              <a:rPr lang="fr-BE" smtClean="0"/>
              <a:t>4</a:t>
            </a:fld>
            <a:endParaRPr lang="fr-BE"/>
          </a:p>
        </p:txBody>
      </p:sp>
      <p:pic>
        <p:nvPicPr>
          <p:cNvPr id="10" name="Image 9">
            <a:extLst>
              <a:ext uri="{FF2B5EF4-FFF2-40B4-BE49-F238E27FC236}">
                <a16:creationId xmlns:a16="http://schemas.microsoft.com/office/drawing/2014/main" id="{45A5BB77-602C-4A3A-ADD6-CDCD93998B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0275" y="1263761"/>
            <a:ext cx="4743450" cy="4743450"/>
          </a:xfrm>
          <a:prstGeom prst="rect">
            <a:avLst/>
          </a:prstGeom>
        </p:spPr>
      </p:pic>
      <p:pic>
        <p:nvPicPr>
          <p:cNvPr id="12" name="Image 11">
            <a:extLst>
              <a:ext uri="{FF2B5EF4-FFF2-40B4-BE49-F238E27FC236}">
                <a16:creationId xmlns:a16="http://schemas.microsoft.com/office/drawing/2014/main" id="{DAA7EB77-630E-4F50-82FB-6749B43F71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67473" y="1883735"/>
            <a:ext cx="6209053" cy="3503502"/>
          </a:xfrm>
          <a:prstGeom prst="rect">
            <a:avLst/>
          </a:prstGeom>
        </p:spPr>
      </p:pic>
    </p:spTree>
    <p:extLst>
      <p:ext uri="{BB962C8B-B14F-4D97-AF65-F5344CB8AC3E}">
        <p14:creationId xmlns:p14="http://schemas.microsoft.com/office/powerpoint/2010/main" val="2583241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BA479152-D8BB-4E40-B9D1-F3AC6BB05004}"/>
              </a:ext>
            </a:extLst>
          </p:cNvPr>
          <p:cNvSpPr>
            <a:spLocks noGrp="1"/>
          </p:cNvSpPr>
          <p:nvPr>
            <p:ph idx="1"/>
          </p:nvPr>
        </p:nvSpPr>
        <p:spPr/>
        <p:txBody>
          <a:bodyPr/>
          <a:lstStyle/>
          <a:p>
            <a:r>
              <a:rPr lang="fr-FR" dirty="0" err="1"/>
              <a:t>Remember</a:t>
            </a:r>
            <a:r>
              <a:rPr lang="fr-FR" dirty="0"/>
              <a:t> Algo</a:t>
            </a:r>
          </a:p>
          <a:p>
            <a:endParaRPr lang="fr-FR" dirty="0"/>
          </a:p>
          <a:p>
            <a:r>
              <a:rPr lang="fr-FR" dirty="0"/>
              <a:t>Rigueur et esprit critique</a:t>
            </a:r>
          </a:p>
          <a:p>
            <a:endParaRPr lang="fr-FR" dirty="0"/>
          </a:p>
          <a:p>
            <a:r>
              <a:rPr lang="fr-FR" dirty="0"/>
              <a:t>Socle nécessaire pour les domaines avancés de l’informatique : Cryptographie, Big Data, IA, Optimisation, </a:t>
            </a:r>
            <a:r>
              <a:rPr lang="fr-FR" dirty="0" err="1"/>
              <a:t>etc</a:t>
            </a:r>
            <a:endParaRPr lang="fr-BE" dirty="0"/>
          </a:p>
        </p:txBody>
      </p:sp>
      <p:sp>
        <p:nvSpPr>
          <p:cNvPr id="3" name="Titre 2">
            <a:extLst>
              <a:ext uri="{FF2B5EF4-FFF2-40B4-BE49-F238E27FC236}">
                <a16:creationId xmlns:a16="http://schemas.microsoft.com/office/drawing/2014/main" id="{7AF83B8E-40DE-47C9-9016-BC3E21757629}"/>
              </a:ext>
            </a:extLst>
          </p:cNvPr>
          <p:cNvSpPr>
            <a:spLocks noGrp="1"/>
          </p:cNvSpPr>
          <p:nvPr>
            <p:ph type="title"/>
          </p:nvPr>
        </p:nvSpPr>
        <p:spPr/>
        <p:txBody>
          <a:bodyPr/>
          <a:lstStyle/>
          <a:p>
            <a:r>
              <a:rPr lang="fr-FR" dirty="0"/>
              <a:t>Pourquoi ?</a:t>
            </a:r>
            <a:endParaRPr lang="fr-BE" dirty="0"/>
          </a:p>
        </p:txBody>
      </p:sp>
      <p:sp>
        <p:nvSpPr>
          <p:cNvPr id="4" name="Espace réservé du numéro de diapositive 3">
            <a:extLst>
              <a:ext uri="{FF2B5EF4-FFF2-40B4-BE49-F238E27FC236}">
                <a16:creationId xmlns:a16="http://schemas.microsoft.com/office/drawing/2014/main" id="{7F14C023-E54B-40FA-9CC7-BF8E0574E4AA}"/>
              </a:ext>
            </a:extLst>
          </p:cNvPr>
          <p:cNvSpPr>
            <a:spLocks noGrp="1"/>
          </p:cNvSpPr>
          <p:nvPr>
            <p:ph type="sldNum" sz="quarter" idx="10"/>
          </p:nvPr>
        </p:nvSpPr>
        <p:spPr/>
        <p:txBody>
          <a:bodyPr/>
          <a:lstStyle/>
          <a:p>
            <a:fld id="{26DF9506-C750-44C3-8E12-610AD4C8F1FD}" type="slidenum">
              <a:rPr lang="fr-BE" smtClean="0"/>
              <a:t>5</a:t>
            </a:fld>
            <a:endParaRPr lang="fr-BE"/>
          </a:p>
        </p:txBody>
      </p:sp>
    </p:spTree>
    <p:extLst>
      <p:ext uri="{BB962C8B-B14F-4D97-AF65-F5344CB8AC3E}">
        <p14:creationId xmlns:p14="http://schemas.microsoft.com/office/powerpoint/2010/main" val="3356066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du contenu 7">
            <a:extLst>
              <a:ext uri="{FF2B5EF4-FFF2-40B4-BE49-F238E27FC236}">
                <a16:creationId xmlns:a16="http://schemas.microsoft.com/office/drawing/2014/main" id="{E3B0DF5B-DEB8-4F4E-9615-68003D3030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3836" y="2282713"/>
            <a:ext cx="6096328" cy="3476621"/>
          </a:xfrm>
        </p:spPr>
      </p:pic>
      <p:sp>
        <p:nvSpPr>
          <p:cNvPr id="3" name="Titre 2">
            <a:extLst>
              <a:ext uri="{FF2B5EF4-FFF2-40B4-BE49-F238E27FC236}">
                <a16:creationId xmlns:a16="http://schemas.microsoft.com/office/drawing/2014/main" id="{3AB03987-4287-4721-9F81-476A81F6A9DD}"/>
              </a:ext>
            </a:extLst>
          </p:cNvPr>
          <p:cNvSpPr>
            <a:spLocks noGrp="1"/>
          </p:cNvSpPr>
          <p:nvPr>
            <p:ph type="title"/>
          </p:nvPr>
        </p:nvSpPr>
        <p:spPr/>
        <p:txBody>
          <a:bodyPr/>
          <a:lstStyle/>
          <a:p>
            <a:endParaRPr lang="fr-BE"/>
          </a:p>
        </p:txBody>
      </p:sp>
      <p:sp>
        <p:nvSpPr>
          <p:cNvPr id="4" name="Espace réservé du numéro de diapositive 3">
            <a:extLst>
              <a:ext uri="{FF2B5EF4-FFF2-40B4-BE49-F238E27FC236}">
                <a16:creationId xmlns:a16="http://schemas.microsoft.com/office/drawing/2014/main" id="{3C78A990-A520-489C-8E6E-B170B6CA2A31}"/>
              </a:ext>
            </a:extLst>
          </p:cNvPr>
          <p:cNvSpPr>
            <a:spLocks noGrp="1"/>
          </p:cNvSpPr>
          <p:nvPr>
            <p:ph type="sldNum" sz="quarter" idx="10"/>
          </p:nvPr>
        </p:nvSpPr>
        <p:spPr/>
        <p:txBody>
          <a:bodyPr/>
          <a:lstStyle/>
          <a:p>
            <a:fld id="{26DF9506-C750-44C3-8E12-610AD4C8F1FD}" type="slidenum">
              <a:rPr lang="fr-BE" smtClean="0"/>
              <a:t>6</a:t>
            </a:fld>
            <a:endParaRPr lang="fr-BE"/>
          </a:p>
        </p:txBody>
      </p:sp>
    </p:spTree>
    <p:extLst>
      <p:ext uri="{BB962C8B-B14F-4D97-AF65-F5344CB8AC3E}">
        <p14:creationId xmlns:p14="http://schemas.microsoft.com/office/powerpoint/2010/main" val="3374060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CE3F00A0-B061-4BAE-95BF-C06455B41CFB}"/>
              </a:ext>
            </a:extLst>
          </p:cNvPr>
          <p:cNvSpPr>
            <a:spLocks noGrp="1"/>
          </p:cNvSpPr>
          <p:nvPr>
            <p:ph idx="1"/>
          </p:nvPr>
        </p:nvSpPr>
        <p:spPr/>
        <p:txBody>
          <a:bodyPr/>
          <a:lstStyle/>
          <a:p>
            <a:endParaRPr lang="fr-FR" dirty="0"/>
          </a:p>
          <a:p>
            <a:r>
              <a:rPr lang="fr-FR" dirty="0"/>
              <a:t>C’est quoi un algorithme ?</a:t>
            </a:r>
          </a:p>
          <a:p>
            <a:endParaRPr lang="fr-FR" dirty="0"/>
          </a:p>
          <a:p>
            <a:r>
              <a:rPr lang="fr-FR" dirty="0"/>
              <a:t>Les preuves</a:t>
            </a:r>
          </a:p>
          <a:p>
            <a:endParaRPr lang="fr-FR" dirty="0"/>
          </a:p>
          <a:p>
            <a:r>
              <a:rPr lang="fr-FR" dirty="0"/>
              <a:t>L’efficacité</a:t>
            </a:r>
          </a:p>
        </p:txBody>
      </p:sp>
      <p:sp>
        <p:nvSpPr>
          <p:cNvPr id="3" name="Titre 2">
            <a:extLst>
              <a:ext uri="{FF2B5EF4-FFF2-40B4-BE49-F238E27FC236}">
                <a16:creationId xmlns:a16="http://schemas.microsoft.com/office/drawing/2014/main" id="{CD9BF9FA-29EE-4841-BE74-A0FB6FBB1417}"/>
              </a:ext>
            </a:extLst>
          </p:cNvPr>
          <p:cNvSpPr>
            <a:spLocks noGrp="1"/>
          </p:cNvSpPr>
          <p:nvPr>
            <p:ph type="title"/>
          </p:nvPr>
        </p:nvSpPr>
        <p:spPr/>
        <p:txBody>
          <a:bodyPr/>
          <a:lstStyle/>
          <a:p>
            <a:r>
              <a:rPr lang="fr-FR" dirty="0"/>
              <a:t>Rappel ?</a:t>
            </a:r>
            <a:endParaRPr lang="fr-BE" dirty="0"/>
          </a:p>
        </p:txBody>
      </p:sp>
      <p:sp>
        <p:nvSpPr>
          <p:cNvPr id="4" name="Espace réservé du numéro de diapositive 3">
            <a:extLst>
              <a:ext uri="{FF2B5EF4-FFF2-40B4-BE49-F238E27FC236}">
                <a16:creationId xmlns:a16="http://schemas.microsoft.com/office/drawing/2014/main" id="{0F7AFD0A-C67F-4BA8-9172-75EA11BAB09F}"/>
              </a:ext>
            </a:extLst>
          </p:cNvPr>
          <p:cNvSpPr>
            <a:spLocks noGrp="1"/>
          </p:cNvSpPr>
          <p:nvPr>
            <p:ph type="sldNum" sz="quarter" idx="10"/>
          </p:nvPr>
        </p:nvSpPr>
        <p:spPr/>
        <p:txBody>
          <a:bodyPr/>
          <a:lstStyle/>
          <a:p>
            <a:fld id="{26DF9506-C750-44C3-8E12-610AD4C8F1FD}" type="slidenum">
              <a:rPr lang="fr-BE" smtClean="0"/>
              <a:t>7</a:t>
            </a:fld>
            <a:endParaRPr lang="fr-BE"/>
          </a:p>
        </p:txBody>
      </p:sp>
    </p:spTree>
    <p:extLst>
      <p:ext uri="{BB962C8B-B14F-4D97-AF65-F5344CB8AC3E}">
        <p14:creationId xmlns:p14="http://schemas.microsoft.com/office/powerpoint/2010/main" val="128054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498F71F-183B-4BD5-99B8-C41AA4B92039}"/>
              </a:ext>
            </a:extLst>
          </p:cNvPr>
          <p:cNvSpPr>
            <a:spLocks noGrp="1"/>
          </p:cNvSpPr>
          <p:nvPr>
            <p:ph idx="1"/>
          </p:nvPr>
        </p:nvSpPr>
        <p:spPr>
          <a:xfrm>
            <a:off x="318977" y="1392572"/>
            <a:ext cx="8539273" cy="4582201"/>
          </a:xfrm>
        </p:spPr>
        <p:txBody>
          <a:bodyPr/>
          <a:lstStyle/>
          <a:p>
            <a:r>
              <a:rPr lang="fr-FR" dirty="0"/>
              <a:t>On dispose d’un robot équipé d’un fer à souder.</a:t>
            </a:r>
          </a:p>
          <a:p>
            <a:endParaRPr lang="fr-FR" dirty="0"/>
          </a:p>
          <a:p>
            <a:r>
              <a:rPr lang="fr-FR" dirty="0"/>
              <a:t>On doit programmer le robot pour qu’il passe par tous les points de contacts, dans un certain ordre.</a:t>
            </a:r>
          </a:p>
          <a:p>
            <a:endParaRPr lang="fr-FR" dirty="0"/>
          </a:p>
          <a:p>
            <a:r>
              <a:rPr lang="fr-FR" dirty="0"/>
              <a:t>On cherche le chemin le plus optimisé, c’est-à-dire le chemin qui minimise la distance parcourue par le bras du robot</a:t>
            </a:r>
            <a:endParaRPr lang="fr-BE" dirty="0"/>
          </a:p>
        </p:txBody>
      </p:sp>
      <p:sp>
        <p:nvSpPr>
          <p:cNvPr id="3" name="Titre 2">
            <a:extLst>
              <a:ext uri="{FF2B5EF4-FFF2-40B4-BE49-F238E27FC236}">
                <a16:creationId xmlns:a16="http://schemas.microsoft.com/office/drawing/2014/main" id="{3240DF66-22DC-48AA-82FD-F4DEE37E3E8B}"/>
              </a:ext>
            </a:extLst>
          </p:cNvPr>
          <p:cNvSpPr>
            <a:spLocks noGrp="1"/>
          </p:cNvSpPr>
          <p:nvPr>
            <p:ph type="title"/>
          </p:nvPr>
        </p:nvSpPr>
        <p:spPr/>
        <p:txBody>
          <a:bodyPr/>
          <a:lstStyle/>
          <a:p>
            <a:r>
              <a:rPr lang="fr-FR" dirty="0"/>
              <a:t>Exemple</a:t>
            </a:r>
            <a:endParaRPr lang="fr-BE" dirty="0"/>
          </a:p>
        </p:txBody>
      </p:sp>
      <p:sp>
        <p:nvSpPr>
          <p:cNvPr id="4" name="Espace réservé du numéro de diapositive 3">
            <a:extLst>
              <a:ext uri="{FF2B5EF4-FFF2-40B4-BE49-F238E27FC236}">
                <a16:creationId xmlns:a16="http://schemas.microsoft.com/office/drawing/2014/main" id="{ACB957AA-4102-4E03-8FA3-D811AD74397E}"/>
              </a:ext>
            </a:extLst>
          </p:cNvPr>
          <p:cNvSpPr>
            <a:spLocks noGrp="1"/>
          </p:cNvSpPr>
          <p:nvPr>
            <p:ph type="sldNum" sz="quarter" idx="10"/>
          </p:nvPr>
        </p:nvSpPr>
        <p:spPr/>
        <p:txBody>
          <a:bodyPr/>
          <a:lstStyle/>
          <a:p>
            <a:fld id="{26DF9506-C750-44C3-8E12-610AD4C8F1FD}" type="slidenum">
              <a:rPr lang="fr-BE" smtClean="0"/>
              <a:t>8</a:t>
            </a:fld>
            <a:endParaRPr lang="fr-BE"/>
          </a:p>
        </p:txBody>
      </p:sp>
      <p:pic>
        <p:nvPicPr>
          <p:cNvPr id="8" name="Image 7">
            <a:extLst>
              <a:ext uri="{FF2B5EF4-FFF2-40B4-BE49-F238E27FC236}">
                <a16:creationId xmlns:a16="http://schemas.microsoft.com/office/drawing/2014/main" id="{2B4F6D13-30F5-40C9-BA7D-8BF7A86BD229}"/>
              </a:ext>
            </a:extLst>
          </p:cNvPr>
          <p:cNvPicPr>
            <a:picLocks noChangeAspect="1"/>
          </p:cNvPicPr>
          <p:nvPr/>
        </p:nvPicPr>
        <p:blipFill>
          <a:blip r:embed="rId2"/>
          <a:stretch>
            <a:fillRect/>
          </a:stretch>
        </p:blipFill>
        <p:spPr>
          <a:xfrm>
            <a:off x="1613410" y="4405948"/>
            <a:ext cx="2130937" cy="1887996"/>
          </a:xfrm>
          <a:prstGeom prst="rect">
            <a:avLst/>
          </a:prstGeom>
        </p:spPr>
      </p:pic>
      <p:pic>
        <p:nvPicPr>
          <p:cNvPr id="10" name="Image 9">
            <a:extLst>
              <a:ext uri="{FF2B5EF4-FFF2-40B4-BE49-F238E27FC236}">
                <a16:creationId xmlns:a16="http://schemas.microsoft.com/office/drawing/2014/main" id="{D106FD26-C853-4583-BBF2-FD79E6553286}"/>
              </a:ext>
            </a:extLst>
          </p:cNvPr>
          <p:cNvPicPr>
            <a:picLocks noChangeAspect="1"/>
          </p:cNvPicPr>
          <p:nvPr/>
        </p:nvPicPr>
        <p:blipFill>
          <a:blip r:embed="rId3"/>
          <a:stretch>
            <a:fillRect/>
          </a:stretch>
        </p:blipFill>
        <p:spPr>
          <a:xfrm>
            <a:off x="5272598" y="4486943"/>
            <a:ext cx="2057400" cy="1726006"/>
          </a:xfrm>
          <a:prstGeom prst="rect">
            <a:avLst/>
          </a:prstGeom>
        </p:spPr>
      </p:pic>
      <p:sp>
        <p:nvSpPr>
          <p:cNvPr id="11" name="Flèche : droite 10">
            <a:extLst>
              <a:ext uri="{FF2B5EF4-FFF2-40B4-BE49-F238E27FC236}">
                <a16:creationId xmlns:a16="http://schemas.microsoft.com/office/drawing/2014/main" id="{66B6D0AE-6E31-4210-9F72-363201C6B600}"/>
              </a:ext>
            </a:extLst>
          </p:cNvPr>
          <p:cNvSpPr/>
          <p:nvPr/>
        </p:nvSpPr>
        <p:spPr>
          <a:xfrm>
            <a:off x="4026105" y="5349946"/>
            <a:ext cx="964734" cy="285226"/>
          </a:xfrm>
          <a:prstGeom prst="rightArrow">
            <a:avLst/>
          </a:prstGeom>
          <a:solidFill>
            <a:srgbClr val="C000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BE"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52990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B822A366-7145-4824-91C3-191604F7743E}"/>
              </a:ext>
            </a:extLst>
          </p:cNvPr>
          <p:cNvSpPr>
            <a:spLocks noGrp="1"/>
          </p:cNvSpPr>
          <p:nvPr>
            <p:ph idx="1"/>
          </p:nvPr>
        </p:nvSpPr>
        <p:spPr/>
        <p:txBody>
          <a:bodyPr/>
          <a:lstStyle/>
          <a:p>
            <a:pPr marL="0" indent="0" algn="l">
              <a:buNone/>
            </a:pPr>
            <a:r>
              <a:rPr lang="fr-BE" sz="1800" b="1" i="0" u="none" strike="noStrike" baseline="0" dirty="0">
                <a:solidFill>
                  <a:srgbClr val="000000"/>
                </a:solidFill>
                <a:latin typeface="LMSans10-Bold-Identity-H"/>
              </a:rPr>
              <a:t>Algorithme : </a:t>
            </a:r>
          </a:p>
          <a:p>
            <a:pPr marL="0" indent="0" algn="l">
              <a:buNone/>
            </a:pPr>
            <a:r>
              <a:rPr lang="fr-FR" sz="1800" b="1" i="0" u="none" strike="noStrike" baseline="0" dirty="0">
                <a:solidFill>
                  <a:srgbClr val="000000"/>
                </a:solidFill>
                <a:latin typeface="LMSans10-Bold-Identity-H"/>
              </a:rPr>
              <a:t>Input: </a:t>
            </a:r>
            <a:r>
              <a:rPr lang="fr-FR" sz="1800" b="0" i="0" u="none" strike="noStrike" baseline="0" dirty="0">
                <a:solidFill>
                  <a:srgbClr val="000000"/>
                </a:solidFill>
                <a:latin typeface="LMSans10-Regular-Identity-H"/>
              </a:rPr>
              <a:t>Une collection de </a:t>
            </a:r>
            <a:r>
              <a:rPr lang="fr-FR" sz="1800" b="0" i="1" u="none" strike="noStrike" baseline="0" dirty="0">
                <a:solidFill>
                  <a:srgbClr val="2F6C9C"/>
                </a:solidFill>
                <a:latin typeface="LMSans10-Oblique-Identity-H"/>
              </a:rPr>
              <a:t>n </a:t>
            </a:r>
            <a:r>
              <a:rPr lang="fr-FR" sz="1800" b="0" i="0" u="none" strike="noStrike" baseline="0" dirty="0">
                <a:solidFill>
                  <a:srgbClr val="000000"/>
                </a:solidFill>
                <a:latin typeface="LMSans10-Regular-Identity-H"/>
              </a:rPr>
              <a:t>points</a:t>
            </a:r>
          </a:p>
          <a:p>
            <a:pPr marL="0" indent="0" algn="l">
              <a:buNone/>
            </a:pPr>
            <a:r>
              <a:rPr lang="fr-FR" sz="1800" b="1" i="0" u="none" strike="noStrike" baseline="0" dirty="0">
                <a:solidFill>
                  <a:srgbClr val="000000"/>
                </a:solidFill>
                <a:latin typeface="LMSans10-Bold-Identity-H"/>
              </a:rPr>
              <a:t>Output: </a:t>
            </a:r>
            <a:r>
              <a:rPr lang="fr-FR" sz="1800" b="0" i="0" u="none" strike="noStrike" baseline="0" dirty="0">
                <a:solidFill>
                  <a:srgbClr val="000000"/>
                </a:solidFill>
                <a:latin typeface="LMSans10-Regular-Identity-H"/>
              </a:rPr>
              <a:t>Un tour passant par tous les points et de distance totale minimale</a:t>
            </a:r>
          </a:p>
          <a:p>
            <a:pPr marL="0" indent="0" algn="l">
              <a:buNone/>
            </a:pPr>
            <a:r>
              <a:rPr lang="fr-FR" sz="1800" b="0" i="0" u="none" strike="noStrike" baseline="0" dirty="0">
                <a:solidFill>
                  <a:srgbClr val="000000"/>
                </a:solidFill>
                <a:latin typeface="LMSans10-Regular-Identity-H"/>
              </a:rPr>
              <a:t>Visiter un point </a:t>
            </a:r>
            <a:r>
              <a:rPr lang="fr-FR" sz="1800" b="0" i="1" u="none" strike="noStrike" baseline="0" dirty="0">
                <a:solidFill>
                  <a:srgbClr val="2F6C9C"/>
                </a:solidFill>
                <a:latin typeface="LMSans10-Oblique-Identity-H"/>
              </a:rPr>
              <a:t>p</a:t>
            </a:r>
            <a:r>
              <a:rPr lang="fr-FR" sz="1800" b="0" i="0" u="none" strike="noStrike" baseline="0" dirty="0">
                <a:solidFill>
                  <a:srgbClr val="2F6C9C"/>
                </a:solidFill>
                <a:latin typeface="LMSans8-Regular-Identity-H"/>
              </a:rPr>
              <a:t>0 </a:t>
            </a:r>
            <a:r>
              <a:rPr lang="fr-FR" sz="1800" b="0" i="0" u="none" strike="noStrike" baseline="0" dirty="0">
                <a:solidFill>
                  <a:srgbClr val="000000"/>
                </a:solidFill>
                <a:latin typeface="LMSans10-Regular-Identity-H"/>
              </a:rPr>
              <a:t>initial, choisi au hasard</a:t>
            </a:r>
          </a:p>
          <a:p>
            <a:pPr marL="0" indent="0" algn="l">
              <a:buNone/>
            </a:pPr>
            <a:r>
              <a:rPr lang="fr-BE" sz="1800" b="0" i="1" u="none" strike="noStrike" baseline="0" dirty="0">
                <a:solidFill>
                  <a:srgbClr val="2F6C9C"/>
                </a:solidFill>
                <a:latin typeface="LMSans10-Oblique-Identity-H"/>
              </a:rPr>
              <a:t>i </a:t>
            </a:r>
            <a:r>
              <a:rPr lang="fr-BE" sz="1800" b="0" i="1" u="none" strike="noStrike" baseline="0" dirty="0">
                <a:solidFill>
                  <a:srgbClr val="2F6C9C"/>
                </a:solidFill>
                <a:latin typeface="LMMathSymbols10-Regular"/>
              </a:rPr>
              <a:t>← </a:t>
            </a:r>
            <a:r>
              <a:rPr lang="fr-BE" sz="1800" b="0" i="0" u="none" strike="noStrike" baseline="0" dirty="0">
                <a:solidFill>
                  <a:srgbClr val="2F6C9C"/>
                </a:solidFill>
                <a:latin typeface="LMSans10-Regular-Identity-H"/>
              </a:rPr>
              <a:t>0</a:t>
            </a:r>
          </a:p>
          <a:p>
            <a:pPr marL="0" indent="0" algn="l">
              <a:buNone/>
            </a:pPr>
            <a:r>
              <a:rPr lang="fr-FR" sz="1800" b="1" i="0" u="none" strike="noStrike" baseline="0" dirty="0" err="1">
                <a:solidFill>
                  <a:srgbClr val="000000"/>
                </a:solidFill>
                <a:latin typeface="LMSans10-Bold-Identity-H"/>
              </a:rPr>
              <a:t>while</a:t>
            </a:r>
            <a:r>
              <a:rPr lang="fr-FR" sz="1800" b="1" i="0" u="none" strike="noStrike" baseline="0" dirty="0">
                <a:solidFill>
                  <a:srgbClr val="000000"/>
                </a:solidFill>
                <a:latin typeface="LMSans10-Bold-Identity-H"/>
              </a:rPr>
              <a:t> </a:t>
            </a:r>
            <a:r>
              <a:rPr lang="fr-FR" sz="1800" b="0" i="1" u="none" strike="noStrike" baseline="0" dirty="0">
                <a:solidFill>
                  <a:srgbClr val="000000"/>
                </a:solidFill>
                <a:latin typeface="LMSans10-Oblique-Identity-H"/>
              </a:rPr>
              <a:t>il y a des points non visités </a:t>
            </a:r>
            <a:r>
              <a:rPr lang="fr-FR" sz="1800" b="1" i="0" u="none" strike="noStrike" baseline="0" dirty="0">
                <a:solidFill>
                  <a:srgbClr val="000000"/>
                </a:solidFill>
                <a:latin typeface="LMSans10-Bold-Identity-H"/>
              </a:rPr>
              <a:t>do</a:t>
            </a:r>
          </a:p>
          <a:p>
            <a:pPr marL="0" indent="0" algn="l">
              <a:buNone/>
            </a:pPr>
            <a:r>
              <a:rPr lang="fr-BE" sz="1800" b="0" i="1" u="none" strike="noStrike" baseline="0" dirty="0">
                <a:solidFill>
                  <a:srgbClr val="2F6C9C"/>
                </a:solidFill>
                <a:latin typeface="LMSans10-Oblique-Identity-H"/>
              </a:rPr>
              <a:t>	i </a:t>
            </a:r>
            <a:r>
              <a:rPr lang="fr-BE" sz="1800" b="0" i="1" u="none" strike="noStrike" baseline="0" dirty="0">
                <a:solidFill>
                  <a:srgbClr val="2F6C9C"/>
                </a:solidFill>
                <a:latin typeface="LMMathSymbols10-Regular"/>
              </a:rPr>
              <a:t>← </a:t>
            </a:r>
            <a:r>
              <a:rPr lang="fr-BE" sz="1800" b="0" i="1" u="none" strike="noStrike" baseline="0" dirty="0">
                <a:solidFill>
                  <a:srgbClr val="2F6C9C"/>
                </a:solidFill>
                <a:latin typeface="LMSans10-Oblique-Identity-H"/>
              </a:rPr>
              <a:t>i </a:t>
            </a:r>
            <a:r>
              <a:rPr lang="fr-BE" sz="1800" b="0" i="0" u="none" strike="noStrike" baseline="0" dirty="0">
                <a:solidFill>
                  <a:srgbClr val="2F6C9C"/>
                </a:solidFill>
                <a:latin typeface="LMSans10-Regular"/>
              </a:rPr>
              <a:t>+ </a:t>
            </a:r>
            <a:r>
              <a:rPr lang="fr-BE" sz="1800" b="0" i="0" u="none" strike="noStrike" baseline="0" dirty="0">
                <a:solidFill>
                  <a:srgbClr val="2F6C9C"/>
                </a:solidFill>
                <a:latin typeface="LMSans10-Regular-Identity-H"/>
              </a:rPr>
              <a:t>1</a:t>
            </a:r>
          </a:p>
          <a:p>
            <a:pPr marL="0" indent="0" algn="l">
              <a:buNone/>
            </a:pPr>
            <a:r>
              <a:rPr lang="fr-FR" sz="1800" b="0" i="0" u="none" strike="noStrike" baseline="0" dirty="0">
                <a:solidFill>
                  <a:srgbClr val="000000"/>
                </a:solidFill>
                <a:latin typeface="LMSans10-Regular-Identity-H"/>
              </a:rPr>
              <a:t>	Visiter </a:t>
            </a:r>
            <a:r>
              <a:rPr lang="fr-FR" sz="1800" b="0" i="1" u="none" strike="noStrike" baseline="0" dirty="0">
                <a:solidFill>
                  <a:srgbClr val="2F6C9C"/>
                </a:solidFill>
                <a:latin typeface="LMSans10-Oblique-Identity-H"/>
              </a:rPr>
              <a:t>p</a:t>
            </a:r>
            <a:r>
              <a:rPr lang="fr-FR" sz="1800" b="0" i="1" u="none" strike="noStrike" baseline="0" dirty="0">
                <a:solidFill>
                  <a:srgbClr val="2F6C9C"/>
                </a:solidFill>
                <a:latin typeface="LMSans8-Oblique-Identity-H"/>
              </a:rPr>
              <a:t>i</a:t>
            </a:r>
            <a:r>
              <a:rPr lang="fr-FR" sz="1800" b="0" i="0" u="none" strike="noStrike" baseline="0" dirty="0">
                <a:solidFill>
                  <a:srgbClr val="000000"/>
                </a:solidFill>
                <a:latin typeface="LMSans10-Regular-Identity-H"/>
              </a:rPr>
              <a:t>, le plus proche voisin de </a:t>
            </a:r>
            <a:r>
              <a:rPr lang="fr-FR" sz="1800" b="0" i="1" u="none" strike="noStrike" baseline="0" dirty="0">
                <a:solidFill>
                  <a:srgbClr val="2F6C9C"/>
                </a:solidFill>
                <a:latin typeface="LMSans10-Oblique-Identity-H"/>
              </a:rPr>
              <a:t>p</a:t>
            </a:r>
            <a:r>
              <a:rPr lang="fr-FR" sz="1800" b="0" i="1" u="none" strike="noStrike" baseline="0" dirty="0">
                <a:solidFill>
                  <a:srgbClr val="2F6C9C"/>
                </a:solidFill>
                <a:latin typeface="LMSans8-Oblique-Identity-H"/>
              </a:rPr>
              <a:t>i</a:t>
            </a:r>
            <a:r>
              <a:rPr lang="fr-FR" sz="1800" b="0" i="1" u="none" strike="noStrike" baseline="0" dirty="0">
                <a:solidFill>
                  <a:srgbClr val="2F6C9C"/>
                </a:solidFill>
                <a:latin typeface="LMMathSymbols8-Regular"/>
              </a:rPr>
              <a:t>−</a:t>
            </a:r>
            <a:r>
              <a:rPr lang="fr-FR" sz="1800" b="0" i="0" u="none" strike="noStrike" baseline="0" dirty="0">
                <a:solidFill>
                  <a:srgbClr val="2F6C9C"/>
                </a:solidFill>
                <a:latin typeface="LMSans8-Regular-Identity-H"/>
              </a:rPr>
              <a:t>1</a:t>
            </a:r>
            <a:r>
              <a:rPr lang="fr-FR" sz="1800" b="0" i="0" u="none" strike="noStrike" baseline="0" dirty="0">
                <a:solidFill>
                  <a:srgbClr val="000000"/>
                </a:solidFill>
                <a:latin typeface="LMSans10-Regular-Identity-H"/>
              </a:rPr>
              <a:t>, non déjà visité</a:t>
            </a:r>
          </a:p>
          <a:p>
            <a:pPr marL="0" indent="0" algn="l">
              <a:buNone/>
            </a:pPr>
            <a:r>
              <a:rPr lang="fr-FR" sz="1800" b="1" i="0" u="none" strike="noStrike" baseline="0" dirty="0">
                <a:solidFill>
                  <a:srgbClr val="000000"/>
                </a:solidFill>
                <a:latin typeface="LMSans10-Bold-Identity-H"/>
              </a:rPr>
              <a:t>return </a:t>
            </a:r>
            <a:r>
              <a:rPr lang="fr-FR" sz="1800" b="0" i="1" u="none" strike="noStrike" baseline="0" dirty="0">
                <a:solidFill>
                  <a:srgbClr val="000000"/>
                </a:solidFill>
                <a:latin typeface="LMSans10-Oblique-Identity-H"/>
              </a:rPr>
              <a:t>le tour selon lequel les points sont visités</a:t>
            </a:r>
            <a:endParaRPr lang="fr-BE" dirty="0"/>
          </a:p>
        </p:txBody>
      </p:sp>
      <p:sp>
        <p:nvSpPr>
          <p:cNvPr id="3" name="Titre 2">
            <a:extLst>
              <a:ext uri="{FF2B5EF4-FFF2-40B4-BE49-F238E27FC236}">
                <a16:creationId xmlns:a16="http://schemas.microsoft.com/office/drawing/2014/main" id="{D56FB202-F51D-4B88-91AD-6A374FE37C63}"/>
              </a:ext>
            </a:extLst>
          </p:cNvPr>
          <p:cNvSpPr>
            <a:spLocks noGrp="1"/>
          </p:cNvSpPr>
          <p:nvPr>
            <p:ph type="title"/>
          </p:nvPr>
        </p:nvSpPr>
        <p:spPr>
          <a:xfrm>
            <a:off x="3447876" y="228600"/>
            <a:ext cx="5410374" cy="962247"/>
          </a:xfrm>
        </p:spPr>
        <p:txBody>
          <a:bodyPr>
            <a:normAutofit fontScale="90000"/>
          </a:bodyPr>
          <a:lstStyle/>
          <a:p>
            <a:r>
              <a:rPr lang="fr-FR" dirty="0"/>
              <a:t>Tour du voisin le plus proche</a:t>
            </a:r>
            <a:endParaRPr lang="fr-BE" dirty="0"/>
          </a:p>
        </p:txBody>
      </p:sp>
      <p:sp>
        <p:nvSpPr>
          <p:cNvPr id="4" name="Espace réservé du numéro de diapositive 3">
            <a:extLst>
              <a:ext uri="{FF2B5EF4-FFF2-40B4-BE49-F238E27FC236}">
                <a16:creationId xmlns:a16="http://schemas.microsoft.com/office/drawing/2014/main" id="{F23898AE-26DF-444F-A918-46C1695EBC06}"/>
              </a:ext>
            </a:extLst>
          </p:cNvPr>
          <p:cNvSpPr>
            <a:spLocks noGrp="1"/>
          </p:cNvSpPr>
          <p:nvPr>
            <p:ph type="sldNum" sz="quarter" idx="10"/>
          </p:nvPr>
        </p:nvSpPr>
        <p:spPr/>
        <p:txBody>
          <a:bodyPr/>
          <a:lstStyle/>
          <a:p>
            <a:fld id="{26DF9506-C750-44C3-8E12-610AD4C8F1FD}" type="slidenum">
              <a:rPr lang="fr-BE" smtClean="0"/>
              <a:t>9</a:t>
            </a:fld>
            <a:endParaRPr lang="fr-BE"/>
          </a:p>
        </p:txBody>
      </p:sp>
      <p:pic>
        <p:nvPicPr>
          <p:cNvPr id="6" name="Image 5">
            <a:extLst>
              <a:ext uri="{FF2B5EF4-FFF2-40B4-BE49-F238E27FC236}">
                <a16:creationId xmlns:a16="http://schemas.microsoft.com/office/drawing/2014/main" id="{2DA2FDFF-B45C-438F-A9DD-1BC18BE795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0275" y="1594811"/>
            <a:ext cx="4743450" cy="4267200"/>
          </a:xfrm>
          <a:prstGeom prst="rect">
            <a:avLst/>
          </a:prstGeom>
        </p:spPr>
      </p:pic>
    </p:spTree>
    <p:extLst>
      <p:ext uri="{BB962C8B-B14F-4D97-AF65-F5344CB8AC3E}">
        <p14:creationId xmlns:p14="http://schemas.microsoft.com/office/powerpoint/2010/main" val="238113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0CF86DEE-A8FE-45CC-8E36-5A86330CF208}"/>
              </a:ext>
            </a:extLst>
          </p:cNvPr>
          <p:cNvPicPr>
            <a:picLocks noGrp="1" noChangeAspect="1"/>
          </p:cNvPicPr>
          <p:nvPr>
            <p:ph idx="1"/>
          </p:nvPr>
        </p:nvPicPr>
        <p:blipFill>
          <a:blip r:embed="rId2"/>
          <a:stretch>
            <a:fillRect/>
          </a:stretch>
        </p:blipFill>
        <p:spPr>
          <a:xfrm>
            <a:off x="917564" y="2973432"/>
            <a:ext cx="7308871" cy="2525476"/>
          </a:xfrm>
        </p:spPr>
      </p:pic>
      <p:sp>
        <p:nvSpPr>
          <p:cNvPr id="3" name="Titre 2">
            <a:extLst>
              <a:ext uri="{FF2B5EF4-FFF2-40B4-BE49-F238E27FC236}">
                <a16:creationId xmlns:a16="http://schemas.microsoft.com/office/drawing/2014/main" id="{81827585-4D8A-4CFB-AC9E-FA69F969366B}"/>
              </a:ext>
            </a:extLst>
          </p:cNvPr>
          <p:cNvSpPr>
            <a:spLocks noGrp="1"/>
          </p:cNvSpPr>
          <p:nvPr>
            <p:ph type="title"/>
          </p:nvPr>
        </p:nvSpPr>
        <p:spPr/>
        <p:txBody>
          <a:bodyPr/>
          <a:lstStyle/>
          <a:p>
            <a:endParaRPr lang="fr-BE" dirty="0"/>
          </a:p>
        </p:txBody>
      </p:sp>
      <p:sp>
        <p:nvSpPr>
          <p:cNvPr id="4" name="Espace réservé du numéro de diapositive 3">
            <a:extLst>
              <a:ext uri="{FF2B5EF4-FFF2-40B4-BE49-F238E27FC236}">
                <a16:creationId xmlns:a16="http://schemas.microsoft.com/office/drawing/2014/main" id="{77E4F161-1B09-45CD-A4FC-64509E1D34F3}"/>
              </a:ext>
            </a:extLst>
          </p:cNvPr>
          <p:cNvSpPr>
            <a:spLocks noGrp="1"/>
          </p:cNvSpPr>
          <p:nvPr>
            <p:ph type="sldNum" sz="quarter" idx="10"/>
          </p:nvPr>
        </p:nvSpPr>
        <p:spPr/>
        <p:txBody>
          <a:bodyPr/>
          <a:lstStyle/>
          <a:p>
            <a:fld id="{26DF9506-C750-44C3-8E12-610AD4C8F1FD}" type="slidenum">
              <a:rPr lang="fr-BE" smtClean="0"/>
              <a:t>10</a:t>
            </a:fld>
            <a:endParaRPr lang="fr-BE"/>
          </a:p>
        </p:txBody>
      </p:sp>
      <p:pic>
        <p:nvPicPr>
          <p:cNvPr id="8" name="Image 7">
            <a:extLst>
              <a:ext uri="{FF2B5EF4-FFF2-40B4-BE49-F238E27FC236}">
                <a16:creationId xmlns:a16="http://schemas.microsoft.com/office/drawing/2014/main" id="{59557C3A-550B-4932-ACC1-B423B1111D71}"/>
              </a:ext>
            </a:extLst>
          </p:cNvPr>
          <p:cNvPicPr>
            <a:picLocks noChangeAspect="1"/>
          </p:cNvPicPr>
          <p:nvPr/>
        </p:nvPicPr>
        <p:blipFill>
          <a:blip r:embed="rId3"/>
          <a:stretch>
            <a:fillRect/>
          </a:stretch>
        </p:blipFill>
        <p:spPr>
          <a:xfrm>
            <a:off x="987289" y="1647993"/>
            <a:ext cx="7169422" cy="1108062"/>
          </a:xfrm>
          <a:prstGeom prst="rect">
            <a:avLst/>
          </a:prstGeom>
        </p:spPr>
      </p:pic>
    </p:spTree>
    <p:extLst>
      <p:ext uri="{BB962C8B-B14F-4D97-AF65-F5344CB8AC3E}">
        <p14:creationId xmlns:p14="http://schemas.microsoft.com/office/powerpoint/2010/main" val="232507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54DA9F92-1007-472C-A8BC-937BACF07852}"/>
              </a:ext>
            </a:extLst>
          </p:cNvPr>
          <p:cNvSpPr>
            <a:spLocks noGrp="1"/>
          </p:cNvSpPr>
          <p:nvPr>
            <p:ph idx="1"/>
          </p:nvPr>
        </p:nvSpPr>
        <p:spPr/>
        <p:txBody>
          <a:bodyPr/>
          <a:lstStyle/>
          <a:p>
            <a:r>
              <a:rPr lang="fr-FR" dirty="0"/>
              <a:t>On pourrait énumérer toutes les permutations possibles de </a:t>
            </a:r>
            <a:r>
              <a:rPr lang="fr-BE" b="0" i="1" u="none" strike="noStrike" baseline="0" dirty="0">
                <a:solidFill>
                  <a:srgbClr val="2F6C9C"/>
                </a:solidFill>
                <a:latin typeface="LMSans10-Oblique-Identity-H"/>
              </a:rPr>
              <a:t>n </a:t>
            </a:r>
            <a:r>
              <a:rPr lang="fr-BE" b="0" i="0" u="none" strike="noStrike" baseline="0" dirty="0">
                <a:solidFill>
                  <a:srgbClr val="000000"/>
                </a:solidFill>
                <a:cs typeface="Arial" panose="020B0604020202020204" pitchFamily="34" charset="0"/>
              </a:rPr>
              <a:t>points.</a:t>
            </a:r>
          </a:p>
          <a:p>
            <a:pPr marL="457200" lvl="1" indent="0">
              <a:buNone/>
            </a:pPr>
            <a:r>
              <a:rPr lang="fr-BE" b="0" i="0" u="none" strike="noStrike" baseline="0" dirty="0">
                <a:solidFill>
                  <a:srgbClr val="000000"/>
                </a:solidFill>
                <a:cs typeface="Arial" panose="020B0604020202020204" pitchFamily="34" charset="0"/>
              </a:rPr>
              <a:t>- Une permutation est un ordonnancement possible de </a:t>
            </a:r>
            <a:r>
              <a:rPr lang="fr-BE" b="0" i="1" u="none" strike="noStrike" baseline="0" dirty="0">
                <a:solidFill>
                  <a:srgbClr val="2F6C9C"/>
                </a:solidFill>
                <a:latin typeface="LMSans10-Oblique-Identity-H"/>
              </a:rPr>
              <a:t>n </a:t>
            </a:r>
            <a:r>
              <a:rPr lang="fr-BE" b="0" i="0" u="none" strike="noStrike" baseline="0" dirty="0">
                <a:solidFill>
                  <a:srgbClr val="000000"/>
                </a:solidFill>
                <a:cs typeface="Arial" panose="020B0604020202020204" pitchFamily="34" charset="0"/>
              </a:rPr>
              <a:t>points.</a:t>
            </a:r>
          </a:p>
          <a:p>
            <a:endParaRPr lang="fr-BE" dirty="0">
              <a:solidFill>
                <a:srgbClr val="000000"/>
              </a:solidFill>
              <a:cs typeface="Arial" panose="020B0604020202020204" pitchFamily="34" charset="0"/>
            </a:endParaRPr>
          </a:p>
          <a:p>
            <a:r>
              <a:rPr lang="fr-BE" dirty="0">
                <a:solidFill>
                  <a:srgbClr val="000000"/>
                </a:solidFill>
                <a:cs typeface="Arial" panose="020B0604020202020204" pitchFamily="34" charset="0"/>
              </a:rPr>
              <a:t>Pour chaque permutation, calculer la distance associée.</a:t>
            </a:r>
          </a:p>
          <a:p>
            <a:endParaRPr lang="fr-BE" dirty="0">
              <a:solidFill>
                <a:srgbClr val="000000"/>
              </a:solidFill>
              <a:cs typeface="Arial" panose="020B0604020202020204" pitchFamily="34" charset="0"/>
            </a:endParaRPr>
          </a:p>
          <a:p>
            <a:r>
              <a:rPr lang="fr-BE" dirty="0">
                <a:solidFill>
                  <a:srgbClr val="000000"/>
                </a:solidFill>
                <a:cs typeface="Arial" panose="020B0604020202020204" pitchFamily="34" charset="0"/>
              </a:rPr>
              <a:t>Enregistrer le tour associé à la permutation de plus petite distance.</a:t>
            </a:r>
            <a:endParaRPr lang="fr-BE" dirty="0">
              <a:cs typeface="Arial" panose="020B0604020202020204" pitchFamily="34" charset="0"/>
            </a:endParaRPr>
          </a:p>
        </p:txBody>
      </p:sp>
      <p:sp>
        <p:nvSpPr>
          <p:cNvPr id="3" name="Titre 2">
            <a:extLst>
              <a:ext uri="{FF2B5EF4-FFF2-40B4-BE49-F238E27FC236}">
                <a16:creationId xmlns:a16="http://schemas.microsoft.com/office/drawing/2014/main" id="{108177C6-6097-4C4A-A99B-6C10BEA2D831}"/>
              </a:ext>
            </a:extLst>
          </p:cNvPr>
          <p:cNvSpPr>
            <a:spLocks noGrp="1"/>
          </p:cNvSpPr>
          <p:nvPr>
            <p:ph type="title"/>
          </p:nvPr>
        </p:nvSpPr>
        <p:spPr/>
        <p:txBody>
          <a:bodyPr/>
          <a:lstStyle/>
          <a:p>
            <a:r>
              <a:rPr lang="fr-FR" dirty="0"/>
              <a:t>Autre solution</a:t>
            </a:r>
            <a:endParaRPr lang="fr-BE" dirty="0"/>
          </a:p>
        </p:txBody>
      </p:sp>
      <p:sp>
        <p:nvSpPr>
          <p:cNvPr id="4" name="Espace réservé du numéro de diapositive 3">
            <a:extLst>
              <a:ext uri="{FF2B5EF4-FFF2-40B4-BE49-F238E27FC236}">
                <a16:creationId xmlns:a16="http://schemas.microsoft.com/office/drawing/2014/main" id="{C0E62DE5-30E2-49FF-8280-A335A7186DD5}"/>
              </a:ext>
            </a:extLst>
          </p:cNvPr>
          <p:cNvSpPr>
            <a:spLocks noGrp="1"/>
          </p:cNvSpPr>
          <p:nvPr>
            <p:ph type="sldNum" sz="quarter" idx="10"/>
          </p:nvPr>
        </p:nvSpPr>
        <p:spPr/>
        <p:txBody>
          <a:bodyPr/>
          <a:lstStyle/>
          <a:p>
            <a:fld id="{26DF9506-C750-44C3-8E12-610AD4C8F1FD}" type="slidenum">
              <a:rPr lang="fr-BE" smtClean="0"/>
              <a:t>11</a:t>
            </a:fld>
            <a:endParaRPr lang="fr-BE"/>
          </a:p>
        </p:txBody>
      </p:sp>
    </p:spTree>
    <p:extLst>
      <p:ext uri="{BB962C8B-B14F-4D97-AF65-F5344CB8AC3E}">
        <p14:creationId xmlns:p14="http://schemas.microsoft.com/office/powerpoint/2010/main" val="3644251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0E2C3EF-D190-4E1E-A33A-DBF491028D47}"/>
              </a:ext>
            </a:extLst>
          </p:cNvPr>
          <p:cNvSpPr>
            <a:spLocks noGrp="1"/>
          </p:cNvSpPr>
          <p:nvPr>
            <p:ph idx="1"/>
          </p:nvPr>
        </p:nvSpPr>
        <p:spPr/>
        <p:txBody>
          <a:bodyPr/>
          <a:lstStyle/>
          <a:p>
            <a:r>
              <a:rPr lang="fr-FR" dirty="0"/>
              <a:t>Si on suit cette méthode, on est sur de trouver la solution optimale.</a:t>
            </a:r>
          </a:p>
          <a:p>
            <a:endParaRPr lang="fr-FR" dirty="0"/>
          </a:p>
          <a:p>
            <a:r>
              <a:rPr lang="fr-FR" dirty="0"/>
              <a:t>L’algorithme est donc exact.</a:t>
            </a:r>
            <a:endParaRPr lang="fr-BE" dirty="0"/>
          </a:p>
        </p:txBody>
      </p:sp>
      <p:sp>
        <p:nvSpPr>
          <p:cNvPr id="3" name="Titre 2">
            <a:extLst>
              <a:ext uri="{FF2B5EF4-FFF2-40B4-BE49-F238E27FC236}">
                <a16:creationId xmlns:a16="http://schemas.microsoft.com/office/drawing/2014/main" id="{2D5A4285-E7D0-49A6-8950-A9F11BF792BF}"/>
              </a:ext>
            </a:extLst>
          </p:cNvPr>
          <p:cNvSpPr>
            <a:spLocks noGrp="1"/>
          </p:cNvSpPr>
          <p:nvPr>
            <p:ph type="title"/>
          </p:nvPr>
        </p:nvSpPr>
        <p:spPr/>
        <p:txBody>
          <a:bodyPr>
            <a:normAutofit fontScale="90000"/>
          </a:bodyPr>
          <a:lstStyle/>
          <a:p>
            <a:r>
              <a:rPr lang="fr-FR" dirty="0"/>
              <a:t>Recherche exhaustive</a:t>
            </a:r>
            <a:endParaRPr lang="fr-BE" dirty="0"/>
          </a:p>
        </p:txBody>
      </p:sp>
      <p:sp>
        <p:nvSpPr>
          <p:cNvPr id="4" name="Espace réservé du numéro de diapositive 3">
            <a:extLst>
              <a:ext uri="{FF2B5EF4-FFF2-40B4-BE49-F238E27FC236}">
                <a16:creationId xmlns:a16="http://schemas.microsoft.com/office/drawing/2014/main" id="{390E76A3-7D2D-46D7-AC4A-A00655FA86C2}"/>
              </a:ext>
            </a:extLst>
          </p:cNvPr>
          <p:cNvSpPr>
            <a:spLocks noGrp="1"/>
          </p:cNvSpPr>
          <p:nvPr>
            <p:ph type="sldNum" sz="quarter" idx="10"/>
          </p:nvPr>
        </p:nvSpPr>
        <p:spPr/>
        <p:txBody>
          <a:bodyPr/>
          <a:lstStyle/>
          <a:p>
            <a:fld id="{26DF9506-C750-44C3-8E12-610AD4C8F1FD}" type="slidenum">
              <a:rPr lang="fr-BE" smtClean="0"/>
              <a:t>12</a:t>
            </a:fld>
            <a:endParaRPr lang="fr-BE"/>
          </a:p>
        </p:txBody>
      </p:sp>
      <p:pic>
        <p:nvPicPr>
          <p:cNvPr id="6" name="Image 5">
            <a:extLst>
              <a:ext uri="{FF2B5EF4-FFF2-40B4-BE49-F238E27FC236}">
                <a16:creationId xmlns:a16="http://schemas.microsoft.com/office/drawing/2014/main" id="{3F7A1440-E177-4062-87FA-B63773B71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0761" y="3616063"/>
            <a:ext cx="4282478" cy="2829187"/>
          </a:xfrm>
          <a:prstGeom prst="rect">
            <a:avLst/>
          </a:prstGeom>
        </p:spPr>
      </p:pic>
    </p:spTree>
    <p:extLst>
      <p:ext uri="{BB962C8B-B14F-4D97-AF65-F5344CB8AC3E}">
        <p14:creationId xmlns:p14="http://schemas.microsoft.com/office/powerpoint/2010/main" val="3649631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1816AE6E-DED7-470E-9B49-5C3C84D13E74}"/>
                  </a:ext>
                </a:extLst>
              </p:cNvPr>
              <p:cNvSpPr>
                <a:spLocks noGrp="1"/>
              </p:cNvSpPr>
              <p:nvPr>
                <p:ph idx="1"/>
              </p:nvPr>
            </p:nvSpPr>
            <p:spPr/>
            <p:txBody>
              <a:bodyPr/>
              <a:lstStyle/>
              <a:p>
                <a:r>
                  <a:rPr lang="fr-FR" dirty="0"/>
                  <a:t>Le nombre de permutations d’un ensemble de </a:t>
                </a:r>
                <a:r>
                  <a:rPr lang="fr-BE" b="0" i="1" u="none" strike="noStrike" baseline="0" dirty="0">
                    <a:solidFill>
                      <a:srgbClr val="2F6C9C"/>
                    </a:solidFill>
                    <a:latin typeface="LMSans10-Oblique-Identity-H"/>
                  </a:rPr>
                  <a:t>n </a:t>
                </a:r>
                <a:r>
                  <a:rPr lang="fr-BE" dirty="0">
                    <a:solidFill>
                      <a:srgbClr val="000000"/>
                    </a:solidFill>
                    <a:latin typeface="LMSans10-Oblique-Identity-H"/>
                    <a:cs typeface="Arial" panose="020B0604020202020204" pitchFamily="34" charset="0"/>
                  </a:rPr>
                  <a:t>éléments</a:t>
                </a:r>
                <a:r>
                  <a:rPr lang="fr-BE" b="0" i="0" u="none" strike="noStrike" baseline="0" dirty="0">
                    <a:solidFill>
                      <a:srgbClr val="000000"/>
                    </a:solidFill>
                    <a:cs typeface="Arial" panose="020B0604020202020204" pitchFamily="34" charset="0"/>
                  </a:rPr>
                  <a:t>.</a:t>
                </a:r>
              </a:p>
              <a:p>
                <a:pPr marL="457200" lvl="1"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𝑛</m:t>
                      </m:r>
                      <m:r>
                        <a:rPr lang="fr-FR" b="0" i="1" smtClean="0">
                          <a:latin typeface="Cambria Math" panose="02040503050406030204" pitchFamily="18" charset="0"/>
                        </a:rPr>
                        <m:t>!=</m:t>
                      </m:r>
                      <m:nary>
                        <m:naryPr>
                          <m:chr m:val="∏"/>
                          <m:ctrlPr>
                            <a:rPr lang="fr-FR" b="0" i="1" smtClean="0">
                              <a:latin typeface="Cambria Math" panose="02040503050406030204" pitchFamily="18" charset="0"/>
                            </a:rPr>
                          </m:ctrlPr>
                        </m:naryPr>
                        <m:sub>
                          <m:r>
                            <m:rPr>
                              <m:brk m:alnAt="23"/>
                            </m:rPr>
                            <a:rPr lang="fr-FR" b="0" i="1" smtClean="0">
                              <a:latin typeface="Cambria Math" panose="02040503050406030204" pitchFamily="18" charset="0"/>
                            </a:rPr>
                            <m:t>𝑖</m:t>
                          </m:r>
                          <m:r>
                            <a:rPr lang="fr-FR" b="0" i="1" smtClean="0">
                              <a:latin typeface="Cambria Math" panose="02040503050406030204" pitchFamily="18" charset="0"/>
                            </a:rPr>
                            <m:t>=1</m:t>
                          </m:r>
                        </m:sub>
                        <m:sup>
                          <m:r>
                            <a:rPr lang="fr-FR" b="0" i="1" smtClean="0">
                              <a:latin typeface="Cambria Math" panose="02040503050406030204" pitchFamily="18" charset="0"/>
                            </a:rPr>
                            <m:t>𝑛</m:t>
                          </m:r>
                        </m:sup>
                        <m:e>
                          <m:r>
                            <a:rPr lang="fr-FR" b="0" i="1" smtClean="0">
                              <a:latin typeface="Cambria Math" panose="02040503050406030204" pitchFamily="18" charset="0"/>
                            </a:rPr>
                            <m:t>𝑖</m:t>
                          </m:r>
                          <m:r>
                            <a:rPr lang="fr-FR" b="0" i="1" smtClean="0">
                              <a:latin typeface="Cambria Math" panose="02040503050406030204" pitchFamily="18" charset="0"/>
                            </a:rPr>
                            <m:t>=1∗2∗3∗…∗</m:t>
                          </m:r>
                          <m:r>
                            <a:rPr lang="fr-FR" b="0" i="1" smtClean="0">
                              <a:latin typeface="Cambria Math" panose="02040503050406030204" pitchFamily="18" charset="0"/>
                            </a:rPr>
                            <m:t>𝑛</m:t>
                          </m:r>
                        </m:e>
                      </m:nary>
                    </m:oMath>
                  </m:oMathPara>
                </a14:m>
                <a:endParaRPr lang="fr-BE" dirty="0"/>
              </a:p>
              <a:p>
                <a:endParaRPr lang="fr-BE" dirty="0"/>
              </a:p>
              <a:p>
                <a:endParaRPr lang="fr-BE" dirty="0"/>
              </a:p>
              <a:p>
                <a:r>
                  <a:rPr lang="fr-BE" dirty="0"/>
                  <a:t>Exemples :</a:t>
                </a:r>
              </a:p>
              <a:p>
                <a:pPr marL="457200" lvl="1"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10!=1∗2∗3∗…∗10=3 628 800</m:t>
                      </m:r>
                    </m:oMath>
                  </m:oMathPara>
                </a14:m>
                <a:endParaRPr lang="fr-BE" dirty="0"/>
              </a:p>
              <a:p>
                <a:pPr marL="457200" lvl="1"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20</m:t>
                      </m:r>
                      <m:r>
                        <a:rPr lang="fr-FR" i="1">
                          <a:latin typeface="Cambria Math" panose="02040503050406030204" pitchFamily="18" charset="0"/>
                        </a:rPr>
                        <m:t>!=1∗2∗3∗…∗</m:t>
                      </m:r>
                      <m:r>
                        <a:rPr lang="fr-FR" b="0" i="1" smtClean="0">
                          <a:latin typeface="Cambria Math" panose="02040503050406030204" pitchFamily="18" charset="0"/>
                        </a:rPr>
                        <m:t>2</m:t>
                      </m:r>
                      <m:r>
                        <a:rPr lang="fr-FR" i="1">
                          <a:latin typeface="Cambria Math" panose="02040503050406030204" pitchFamily="18" charset="0"/>
                        </a:rPr>
                        <m:t>0</m:t>
                      </m:r>
                      <m:r>
                        <a:rPr lang="fr-FR" b="0" i="1" smtClean="0">
                          <a:latin typeface="Cambria Math" panose="02040503050406030204" pitchFamily="18" charset="0"/>
                          <a:ea typeface="Cambria Math" panose="02040503050406030204" pitchFamily="18" charset="0"/>
                        </a:rPr>
                        <m:t>=2 432 902 008 176 640 000</m:t>
                      </m:r>
                      <m:r>
                        <a:rPr lang="fr-FR" i="1">
                          <a:latin typeface="Cambria Math" panose="02040503050406030204" pitchFamily="18" charset="0"/>
                          <a:ea typeface="Cambria Math" panose="02040503050406030204" pitchFamily="18" charset="0"/>
                        </a:rPr>
                        <m:t>≈2∗</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10</m:t>
                          </m:r>
                        </m:e>
                        <m:sup>
                          <m:r>
                            <a:rPr lang="fr-FR" i="1">
                              <a:latin typeface="Cambria Math" panose="02040503050406030204" pitchFamily="18" charset="0"/>
                              <a:ea typeface="Cambria Math" panose="02040503050406030204" pitchFamily="18" charset="0"/>
                            </a:rPr>
                            <m:t>18</m:t>
                          </m:r>
                        </m:sup>
                      </m:sSup>
                    </m:oMath>
                  </m:oMathPara>
                </a14:m>
                <a:endParaRPr lang="fr-BE" dirty="0"/>
              </a:p>
              <a:p>
                <a:pPr marL="457200" lvl="1" indent="0">
                  <a:buNone/>
                </a:pPr>
                <a14:m>
                  <m:oMathPara xmlns:m="http://schemas.openxmlformats.org/officeDocument/2006/math">
                    <m:oMathParaPr>
                      <m:jc m:val="centerGroup"/>
                    </m:oMathParaPr>
                    <m:oMath xmlns:m="http://schemas.openxmlformats.org/officeDocument/2006/math">
                      <m:r>
                        <a:rPr lang="fr-FR" i="1">
                          <a:latin typeface="Cambria Math" panose="02040503050406030204" pitchFamily="18" charset="0"/>
                        </a:rPr>
                        <m:t>10</m:t>
                      </m:r>
                      <m:r>
                        <a:rPr lang="fr-FR" b="0" i="1" smtClean="0">
                          <a:latin typeface="Cambria Math" panose="02040503050406030204" pitchFamily="18" charset="0"/>
                        </a:rPr>
                        <m:t>0!</m:t>
                      </m:r>
                      <m:r>
                        <a:rPr lang="fr-FR" i="1">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9</m:t>
                      </m:r>
                      <m:r>
                        <a:rPr lang="fr-FR" i="1">
                          <a:latin typeface="Cambria Math" panose="02040503050406030204" pitchFamily="18" charset="0"/>
                          <a:ea typeface="Cambria Math" panose="02040503050406030204" pitchFamily="18" charset="0"/>
                        </a:rPr>
                        <m:t>∗</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10</m:t>
                          </m:r>
                        </m:e>
                        <m:sup>
                          <m:r>
                            <a:rPr lang="fr-FR" i="1">
                              <a:latin typeface="Cambria Math" panose="02040503050406030204" pitchFamily="18" charset="0"/>
                              <a:ea typeface="Cambria Math" panose="02040503050406030204" pitchFamily="18" charset="0"/>
                            </a:rPr>
                            <m:t>1</m:t>
                          </m:r>
                          <m:r>
                            <a:rPr lang="fr-FR" b="0" i="1" smtClean="0">
                              <a:latin typeface="Cambria Math" panose="02040503050406030204" pitchFamily="18" charset="0"/>
                              <a:ea typeface="Cambria Math" panose="02040503050406030204" pitchFamily="18" charset="0"/>
                            </a:rPr>
                            <m:t>57</m:t>
                          </m:r>
                        </m:sup>
                      </m:sSup>
                    </m:oMath>
                  </m:oMathPara>
                </a14:m>
                <a:endParaRPr lang="fr-FR" dirty="0">
                  <a:ea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fr-FR" i="1" smtClean="0">
                          <a:latin typeface="Cambria Math" panose="02040503050406030204" pitchFamily="18" charset="0"/>
                        </a:rPr>
                        <m:t>5</m:t>
                      </m:r>
                      <m:r>
                        <a:rPr lang="fr-FR" i="1">
                          <a:latin typeface="Cambria Math" panose="02040503050406030204" pitchFamily="18" charset="0"/>
                        </a:rPr>
                        <m:t>00!</m:t>
                      </m:r>
                      <m:r>
                        <a:rPr lang="fr-FR" i="1">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1</m:t>
                      </m:r>
                      <m:r>
                        <a:rPr lang="fr-FR" i="1">
                          <a:latin typeface="Cambria Math" panose="02040503050406030204" pitchFamily="18" charset="0"/>
                          <a:ea typeface="Cambria Math" panose="02040503050406030204" pitchFamily="18" charset="0"/>
                        </a:rPr>
                        <m:t>∗</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10</m:t>
                          </m:r>
                        </m:e>
                        <m:sup>
                          <m:r>
                            <a:rPr lang="fr-FR" b="0" i="1" smtClean="0">
                              <a:latin typeface="Cambria Math" panose="02040503050406030204" pitchFamily="18" charset="0"/>
                              <a:ea typeface="Cambria Math" panose="02040503050406030204" pitchFamily="18" charset="0"/>
                            </a:rPr>
                            <m:t>1134</m:t>
                          </m:r>
                        </m:sup>
                      </m:sSup>
                    </m:oMath>
                  </m:oMathPara>
                </a14:m>
                <a:endParaRPr lang="fr-BE" dirty="0"/>
              </a:p>
            </p:txBody>
          </p:sp>
        </mc:Choice>
        <mc:Fallback xmlns="">
          <p:sp>
            <p:nvSpPr>
              <p:cNvPr id="2" name="Espace réservé du contenu 1">
                <a:extLst>
                  <a:ext uri="{FF2B5EF4-FFF2-40B4-BE49-F238E27FC236}">
                    <a16:creationId xmlns:a16="http://schemas.microsoft.com/office/drawing/2014/main" id="{1816AE6E-DED7-470E-9B49-5C3C84D13E74}"/>
                  </a:ext>
                </a:extLst>
              </p:cNvPr>
              <p:cNvSpPr>
                <a:spLocks noGrp="1" noRot="1" noChangeAspect="1" noMove="1" noResize="1" noEditPoints="1" noAdjustHandles="1" noChangeArrowheads="1" noChangeShapeType="1" noTextEdit="1"/>
              </p:cNvSpPr>
              <p:nvPr>
                <p:ph idx="1"/>
              </p:nvPr>
            </p:nvSpPr>
            <p:spPr>
              <a:blipFill>
                <a:blip r:embed="rId2"/>
                <a:stretch>
                  <a:fillRect l="-2926" t="-10613"/>
                </a:stretch>
              </a:blipFill>
            </p:spPr>
            <p:txBody>
              <a:bodyPr/>
              <a:lstStyle/>
              <a:p>
                <a:r>
                  <a:rPr lang="fr-BE">
                    <a:noFill/>
                  </a:rPr>
                  <a:t> </a:t>
                </a:r>
              </a:p>
            </p:txBody>
          </p:sp>
        </mc:Fallback>
      </mc:AlternateContent>
      <p:sp>
        <p:nvSpPr>
          <p:cNvPr id="3" name="Titre 2">
            <a:extLst>
              <a:ext uri="{FF2B5EF4-FFF2-40B4-BE49-F238E27FC236}">
                <a16:creationId xmlns:a16="http://schemas.microsoft.com/office/drawing/2014/main" id="{9E17D80B-124E-4610-9992-D45CCB0B82DF}"/>
              </a:ext>
            </a:extLst>
          </p:cNvPr>
          <p:cNvSpPr>
            <a:spLocks noGrp="1"/>
          </p:cNvSpPr>
          <p:nvPr>
            <p:ph type="title"/>
          </p:nvPr>
        </p:nvSpPr>
        <p:spPr/>
        <p:txBody>
          <a:bodyPr>
            <a:normAutofit fontScale="90000"/>
          </a:bodyPr>
          <a:lstStyle/>
          <a:p>
            <a:r>
              <a:rPr lang="fr-FR" dirty="0"/>
              <a:t>Recherche exhaustive</a:t>
            </a:r>
            <a:endParaRPr lang="fr-BE" dirty="0"/>
          </a:p>
        </p:txBody>
      </p:sp>
      <p:sp>
        <p:nvSpPr>
          <p:cNvPr id="4" name="Espace réservé du numéro de diapositive 3">
            <a:extLst>
              <a:ext uri="{FF2B5EF4-FFF2-40B4-BE49-F238E27FC236}">
                <a16:creationId xmlns:a16="http://schemas.microsoft.com/office/drawing/2014/main" id="{8D598C34-C511-452A-B0BC-85591AF8A902}"/>
              </a:ext>
            </a:extLst>
          </p:cNvPr>
          <p:cNvSpPr>
            <a:spLocks noGrp="1"/>
          </p:cNvSpPr>
          <p:nvPr>
            <p:ph type="sldNum" sz="quarter" idx="10"/>
          </p:nvPr>
        </p:nvSpPr>
        <p:spPr/>
        <p:txBody>
          <a:bodyPr/>
          <a:lstStyle/>
          <a:p>
            <a:fld id="{26DF9506-C750-44C3-8E12-610AD4C8F1FD}" type="slidenum">
              <a:rPr lang="fr-BE" smtClean="0"/>
              <a:t>13</a:t>
            </a:fld>
            <a:endParaRPr lang="fr-BE"/>
          </a:p>
        </p:txBody>
      </p:sp>
      <p:pic>
        <p:nvPicPr>
          <p:cNvPr id="6" name="Image 5">
            <a:extLst>
              <a:ext uri="{FF2B5EF4-FFF2-40B4-BE49-F238E27FC236}">
                <a16:creationId xmlns:a16="http://schemas.microsoft.com/office/drawing/2014/main" id="{FF6530BB-973F-47BA-9337-84DBC02F1B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5025" y="1296199"/>
            <a:ext cx="4743450" cy="2647950"/>
          </a:xfrm>
          <a:prstGeom prst="rect">
            <a:avLst/>
          </a:prstGeom>
        </p:spPr>
      </p:pic>
    </p:spTree>
    <p:extLst>
      <p:ext uri="{BB962C8B-B14F-4D97-AF65-F5344CB8AC3E}">
        <p14:creationId xmlns:p14="http://schemas.microsoft.com/office/powerpoint/2010/main" val="412014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8FE02472-9EFE-4568-AFFB-03F95FE2C708}"/>
                  </a:ext>
                </a:extLst>
              </p:cNvPr>
              <p:cNvSpPr>
                <a:spLocks noGrp="1"/>
              </p:cNvSpPr>
              <p:nvPr>
                <p:ph idx="1"/>
              </p:nvPr>
            </p:nvSpPr>
            <p:spPr/>
            <p:txBody>
              <a:bodyPr/>
              <a:lstStyle/>
              <a:p>
                <a:r>
                  <a:rPr lang="fr-FR" dirty="0"/>
                  <a:t>Frontier est le plus gros super calculateur au monde (mai 2023)</a:t>
                </a:r>
              </a:p>
              <a:p>
                <a:pPr marL="0" indent="0">
                  <a:buNone/>
                </a:pPr>
                <a:r>
                  <a:rPr lang="fr-FR" dirty="0"/>
                  <a:t>	1.194 </a:t>
                </a:r>
                <a:r>
                  <a:rPr lang="fr-FR" dirty="0" err="1"/>
                  <a:t>exaflops</a:t>
                </a:r>
                <a:r>
                  <a:rPr lang="fr-FR" dirty="0"/>
                  <a:t>/s</a:t>
                </a:r>
              </a:p>
              <a:p>
                <a:endParaRPr lang="fr-FR" dirty="0"/>
              </a:p>
              <a:p>
                <a:r>
                  <a:rPr lang="fr-FR" dirty="0"/>
                  <a:t>Ca représente :</a:t>
                </a:r>
              </a:p>
              <a:p>
                <a:pPr marL="0" indent="0">
                  <a:buNone/>
                </a:pPr>
                <a:r>
                  <a:rPr lang="fr-FR" dirty="0"/>
                  <a:t>1 100 000 millions de millions</a:t>
                </a:r>
                <a:br>
                  <a:rPr lang="fr-FR" dirty="0"/>
                </a:br>
                <a:r>
                  <a:rPr lang="fr-FR" dirty="0"/>
                  <a:t>d’opérations à la seconde.</a:t>
                </a:r>
                <a:br>
                  <a:rPr lang="fr-FR" dirty="0"/>
                </a:br>
                <a:r>
                  <a:rPr lang="fr-FR" dirty="0"/>
                  <a:t>(</a:t>
                </a:r>
                <a14:m>
                  <m:oMath xmlns:m="http://schemas.openxmlformats.org/officeDocument/2006/math">
                    <m:r>
                      <a:rPr lang="fr-FR" b="0" i="1" smtClean="0">
                        <a:latin typeface="Cambria Math" panose="02040503050406030204" pitchFamily="18" charset="0"/>
                        <a:ea typeface="Cambria Math" panose="02040503050406030204" pitchFamily="18" charset="0"/>
                      </a:rPr>
                      <m:t>1.194</m:t>
                    </m:r>
                    <m:r>
                      <a:rPr lang="fr-FR" i="1">
                        <a:latin typeface="Cambria Math" panose="02040503050406030204" pitchFamily="18" charset="0"/>
                        <a:ea typeface="Cambria Math" panose="02040503050406030204" pitchFamily="18" charset="0"/>
                      </a:rPr>
                      <m:t>∗</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10</m:t>
                        </m:r>
                      </m:e>
                      <m:sup>
                        <m:r>
                          <a:rPr lang="fr-FR" b="0" i="1" smtClean="0">
                            <a:latin typeface="Cambria Math" panose="02040503050406030204" pitchFamily="18" charset="0"/>
                            <a:ea typeface="Cambria Math" panose="02040503050406030204" pitchFamily="18" charset="0"/>
                          </a:rPr>
                          <m:t>18</m:t>
                        </m:r>
                      </m:sup>
                    </m:sSup>
                    <m:r>
                      <a:rPr lang="fr-FR" b="0" i="1" smtClean="0">
                        <a:latin typeface="Cambria Math" panose="02040503050406030204" pitchFamily="18" charset="0"/>
                        <a:ea typeface="Cambria Math" panose="02040503050406030204" pitchFamily="18" charset="0"/>
                      </a:rPr>
                      <m:t>)</m:t>
                    </m:r>
                  </m:oMath>
                </a14:m>
                <a:endParaRPr lang="fr-FR" dirty="0"/>
              </a:p>
              <a:p>
                <a:endParaRPr lang="fr-BE" dirty="0"/>
              </a:p>
            </p:txBody>
          </p:sp>
        </mc:Choice>
        <mc:Fallback xmlns="">
          <p:sp>
            <p:nvSpPr>
              <p:cNvPr id="2" name="Espace réservé du contenu 1">
                <a:extLst>
                  <a:ext uri="{FF2B5EF4-FFF2-40B4-BE49-F238E27FC236}">
                    <a16:creationId xmlns:a16="http://schemas.microsoft.com/office/drawing/2014/main" id="{8FE02472-9EFE-4568-AFFB-03F95FE2C708}"/>
                  </a:ext>
                </a:extLst>
              </p:cNvPr>
              <p:cNvSpPr>
                <a:spLocks noGrp="1" noRot="1" noChangeAspect="1" noMove="1" noResize="1" noEditPoints="1" noAdjustHandles="1" noChangeArrowheads="1" noChangeShapeType="1" noTextEdit="1"/>
              </p:cNvSpPr>
              <p:nvPr>
                <p:ph idx="1"/>
              </p:nvPr>
            </p:nvSpPr>
            <p:spPr>
              <a:blipFill>
                <a:blip r:embed="rId2"/>
                <a:stretch>
                  <a:fillRect l="-2926" t="-10314"/>
                </a:stretch>
              </a:blipFill>
            </p:spPr>
            <p:txBody>
              <a:bodyPr/>
              <a:lstStyle/>
              <a:p>
                <a:r>
                  <a:rPr lang="fr-BE">
                    <a:noFill/>
                  </a:rPr>
                  <a:t> </a:t>
                </a:r>
              </a:p>
            </p:txBody>
          </p:sp>
        </mc:Fallback>
      </mc:AlternateContent>
      <p:sp>
        <p:nvSpPr>
          <p:cNvPr id="3" name="Titre 2">
            <a:extLst>
              <a:ext uri="{FF2B5EF4-FFF2-40B4-BE49-F238E27FC236}">
                <a16:creationId xmlns:a16="http://schemas.microsoft.com/office/drawing/2014/main" id="{DE1B951D-F3D5-4D08-BF10-62191259E8ED}"/>
              </a:ext>
            </a:extLst>
          </p:cNvPr>
          <p:cNvSpPr>
            <a:spLocks noGrp="1"/>
          </p:cNvSpPr>
          <p:nvPr>
            <p:ph type="title"/>
          </p:nvPr>
        </p:nvSpPr>
        <p:spPr/>
        <p:txBody>
          <a:bodyPr>
            <a:normAutofit fontScale="90000"/>
          </a:bodyPr>
          <a:lstStyle/>
          <a:p>
            <a:r>
              <a:rPr lang="fr-FR" dirty="0"/>
              <a:t>Oui, mais ma machine…</a:t>
            </a:r>
            <a:endParaRPr lang="fr-BE" dirty="0"/>
          </a:p>
        </p:txBody>
      </p:sp>
      <p:sp>
        <p:nvSpPr>
          <p:cNvPr id="4" name="Espace réservé du numéro de diapositive 3">
            <a:extLst>
              <a:ext uri="{FF2B5EF4-FFF2-40B4-BE49-F238E27FC236}">
                <a16:creationId xmlns:a16="http://schemas.microsoft.com/office/drawing/2014/main" id="{2090481A-3FF5-4737-91EE-F024A6183140}"/>
              </a:ext>
            </a:extLst>
          </p:cNvPr>
          <p:cNvSpPr>
            <a:spLocks noGrp="1"/>
          </p:cNvSpPr>
          <p:nvPr>
            <p:ph type="sldNum" sz="quarter" idx="10"/>
          </p:nvPr>
        </p:nvSpPr>
        <p:spPr/>
        <p:txBody>
          <a:bodyPr/>
          <a:lstStyle/>
          <a:p>
            <a:fld id="{26DF9506-C750-44C3-8E12-610AD4C8F1FD}" type="slidenum">
              <a:rPr lang="fr-BE" smtClean="0"/>
              <a:t>14</a:t>
            </a:fld>
            <a:endParaRPr lang="fr-BE"/>
          </a:p>
        </p:txBody>
      </p:sp>
      <p:pic>
        <p:nvPicPr>
          <p:cNvPr id="6" name="Image 5">
            <a:extLst>
              <a:ext uri="{FF2B5EF4-FFF2-40B4-BE49-F238E27FC236}">
                <a16:creationId xmlns:a16="http://schemas.microsoft.com/office/drawing/2014/main" id="{8E4C0B31-E81E-43ED-B955-B083B6EB41D3}"/>
              </a:ext>
            </a:extLst>
          </p:cNvPr>
          <p:cNvPicPr>
            <a:picLocks noChangeAspect="1"/>
          </p:cNvPicPr>
          <p:nvPr/>
        </p:nvPicPr>
        <p:blipFill>
          <a:blip r:embed="rId3"/>
          <a:stretch>
            <a:fillRect/>
          </a:stretch>
        </p:blipFill>
        <p:spPr>
          <a:xfrm>
            <a:off x="4588613" y="2454311"/>
            <a:ext cx="4198513" cy="2788276"/>
          </a:xfrm>
          <a:prstGeom prst="rect">
            <a:avLst/>
          </a:prstGeom>
        </p:spPr>
      </p:pic>
    </p:spTree>
    <p:extLst>
      <p:ext uri="{BB962C8B-B14F-4D97-AF65-F5344CB8AC3E}">
        <p14:creationId xmlns:p14="http://schemas.microsoft.com/office/powerpoint/2010/main" val="238979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CC17FF90-DA2B-4765-93DA-1C91232D73B2}"/>
                  </a:ext>
                </a:extLst>
              </p:cNvPr>
              <p:cNvSpPr>
                <a:spLocks noGrp="1"/>
              </p:cNvSpPr>
              <p:nvPr>
                <p:ph idx="1"/>
              </p:nvPr>
            </p:nvSpPr>
            <p:spPr/>
            <p:txBody>
              <a:bodyPr/>
              <a:lstStyle/>
              <a:p>
                <a:r>
                  <a:rPr lang="fr-FR" dirty="0"/>
                  <a:t>Déjà c’est un peu cher juste pour un robot à souder…</a:t>
                </a:r>
              </a:p>
              <a:p>
                <a:endParaRPr lang="fr-FR" dirty="0"/>
              </a:p>
              <a:p>
                <a:r>
                  <a:rPr lang="fr-FR" dirty="0"/>
                  <a:t>Frontier aurait besoin de </a:t>
                </a:r>
                <a14:m>
                  <m:oMath xmlns:m="http://schemas.openxmlformats.org/officeDocument/2006/math">
                    <m:r>
                      <a:rPr lang="fr-FR" i="1">
                        <a:latin typeface="Cambria Math" panose="02040503050406030204" pitchFamily="18" charset="0"/>
                        <a:ea typeface="Cambria Math" panose="02040503050406030204" pitchFamily="18" charset="0"/>
                      </a:rPr>
                      <m:t>2</m:t>
                    </m:r>
                    <m:r>
                      <a:rPr lang="fr-FR" b="0" i="1" smtClean="0">
                        <a:latin typeface="Cambria Math" panose="02040503050406030204" pitchFamily="18" charset="0"/>
                        <a:ea typeface="Cambria Math" panose="02040503050406030204" pitchFamily="18" charset="0"/>
                      </a:rPr>
                      <m:t>.6</m:t>
                    </m:r>
                    <m:r>
                      <a:rPr lang="fr-FR" i="1">
                        <a:latin typeface="Cambria Math" panose="02040503050406030204" pitchFamily="18" charset="0"/>
                        <a:ea typeface="Cambria Math" panose="02040503050406030204" pitchFamily="18" charset="0"/>
                      </a:rPr>
                      <m:t>∗</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10</m:t>
                        </m:r>
                      </m:e>
                      <m:sup>
                        <m:r>
                          <a:rPr lang="fr-FR" b="0" i="1" smtClean="0">
                            <a:latin typeface="Cambria Math" panose="02040503050406030204" pitchFamily="18" charset="0"/>
                            <a:ea typeface="Cambria Math" panose="02040503050406030204" pitchFamily="18" charset="0"/>
                          </a:rPr>
                          <m:t>133</m:t>
                        </m:r>
                      </m:sup>
                    </m:sSup>
                  </m:oMath>
                </a14:m>
                <a:r>
                  <a:rPr lang="fr-BE" dirty="0"/>
                  <a:t> années pour calculer 100! Possibilités (</a:t>
                </a:r>
                <a14:m>
                  <m:oMath xmlns:m="http://schemas.openxmlformats.org/officeDocument/2006/math">
                    <m:r>
                      <a:rPr lang="fr-FR" i="1" dirty="0" smtClean="0">
                        <a:latin typeface="Cambria Math" panose="02040503050406030204" pitchFamily="18" charset="0"/>
                        <a:ea typeface="Cambria Math" panose="02040503050406030204" pitchFamily="18" charset="0"/>
                      </a:rPr>
                      <m:t>9</m:t>
                    </m:r>
                    <m:r>
                      <a:rPr lang="fr-FR" i="1">
                        <a:latin typeface="Cambria Math" panose="02040503050406030204" pitchFamily="18" charset="0"/>
                        <a:ea typeface="Cambria Math" panose="02040503050406030204" pitchFamily="18" charset="0"/>
                      </a:rPr>
                      <m:t>∗</m:t>
                    </m:r>
                    <m:sSup>
                      <m:sSupPr>
                        <m:ctrlPr>
                          <a:rPr lang="fr-FR" i="1">
                            <a:latin typeface="Cambria Math" panose="02040503050406030204" pitchFamily="18" charset="0"/>
                            <a:ea typeface="Cambria Math" panose="02040503050406030204" pitchFamily="18" charset="0"/>
                          </a:rPr>
                        </m:ctrlPr>
                      </m:sSupPr>
                      <m:e>
                        <m:r>
                          <a:rPr lang="fr-FR" i="1">
                            <a:latin typeface="Cambria Math" panose="02040503050406030204" pitchFamily="18" charset="0"/>
                            <a:ea typeface="Cambria Math" panose="02040503050406030204" pitchFamily="18" charset="0"/>
                          </a:rPr>
                          <m:t>10</m:t>
                        </m:r>
                      </m:e>
                      <m:sup>
                        <m:r>
                          <a:rPr lang="fr-FR" b="0" i="1" smtClean="0">
                            <a:latin typeface="Cambria Math" panose="02040503050406030204" pitchFamily="18" charset="0"/>
                            <a:ea typeface="Cambria Math" panose="02040503050406030204" pitchFamily="18" charset="0"/>
                          </a:rPr>
                          <m:t>157</m:t>
                        </m:r>
                      </m:sup>
                    </m:sSup>
                  </m:oMath>
                </a14:m>
                <a:r>
                  <a:rPr lang="fr-BE" dirty="0"/>
                  <a:t>)</a:t>
                </a:r>
              </a:p>
              <a:p>
                <a:endParaRPr lang="fr-BE" dirty="0"/>
              </a:p>
              <a:p>
                <a:endParaRPr lang="fr-BE" dirty="0"/>
              </a:p>
            </p:txBody>
          </p:sp>
        </mc:Choice>
        <mc:Fallback xmlns="">
          <p:sp>
            <p:nvSpPr>
              <p:cNvPr id="2" name="Espace réservé du contenu 1">
                <a:extLst>
                  <a:ext uri="{FF2B5EF4-FFF2-40B4-BE49-F238E27FC236}">
                    <a16:creationId xmlns:a16="http://schemas.microsoft.com/office/drawing/2014/main" id="{CC17FF90-DA2B-4765-93DA-1C91232D73B2}"/>
                  </a:ext>
                </a:extLst>
              </p:cNvPr>
              <p:cNvSpPr>
                <a:spLocks noGrp="1" noRot="1" noChangeAspect="1" noMove="1" noResize="1" noEditPoints="1" noAdjustHandles="1" noChangeArrowheads="1" noChangeShapeType="1" noTextEdit="1"/>
              </p:cNvSpPr>
              <p:nvPr>
                <p:ph idx="1"/>
              </p:nvPr>
            </p:nvSpPr>
            <p:spPr>
              <a:blipFill>
                <a:blip r:embed="rId2"/>
                <a:stretch>
                  <a:fillRect l="-2926" t="-10314"/>
                </a:stretch>
              </a:blipFill>
            </p:spPr>
            <p:txBody>
              <a:bodyPr/>
              <a:lstStyle/>
              <a:p>
                <a:r>
                  <a:rPr lang="fr-BE">
                    <a:noFill/>
                  </a:rPr>
                  <a:t> </a:t>
                </a:r>
              </a:p>
            </p:txBody>
          </p:sp>
        </mc:Fallback>
      </mc:AlternateContent>
      <p:sp>
        <p:nvSpPr>
          <p:cNvPr id="3" name="Titre 2">
            <a:extLst>
              <a:ext uri="{FF2B5EF4-FFF2-40B4-BE49-F238E27FC236}">
                <a16:creationId xmlns:a16="http://schemas.microsoft.com/office/drawing/2014/main" id="{75E59F65-9658-4277-9C81-AD0572F20B6B}"/>
              </a:ext>
            </a:extLst>
          </p:cNvPr>
          <p:cNvSpPr>
            <a:spLocks noGrp="1"/>
          </p:cNvSpPr>
          <p:nvPr>
            <p:ph type="title"/>
          </p:nvPr>
        </p:nvSpPr>
        <p:spPr/>
        <p:txBody>
          <a:bodyPr/>
          <a:lstStyle/>
          <a:p>
            <a:r>
              <a:rPr lang="fr-FR" dirty="0"/>
              <a:t>Frontier</a:t>
            </a:r>
            <a:endParaRPr lang="fr-BE" dirty="0"/>
          </a:p>
        </p:txBody>
      </p:sp>
      <p:sp>
        <p:nvSpPr>
          <p:cNvPr id="4" name="Espace réservé du numéro de diapositive 3">
            <a:extLst>
              <a:ext uri="{FF2B5EF4-FFF2-40B4-BE49-F238E27FC236}">
                <a16:creationId xmlns:a16="http://schemas.microsoft.com/office/drawing/2014/main" id="{8AE23F80-EBFB-441D-9DC8-5DE9F0F1AEAD}"/>
              </a:ext>
            </a:extLst>
          </p:cNvPr>
          <p:cNvSpPr>
            <a:spLocks noGrp="1"/>
          </p:cNvSpPr>
          <p:nvPr>
            <p:ph type="sldNum" sz="quarter" idx="10"/>
          </p:nvPr>
        </p:nvSpPr>
        <p:spPr/>
        <p:txBody>
          <a:bodyPr/>
          <a:lstStyle/>
          <a:p>
            <a:fld id="{26DF9506-C750-44C3-8E12-610AD4C8F1FD}" type="slidenum">
              <a:rPr lang="fr-BE" smtClean="0"/>
              <a:t>15</a:t>
            </a:fld>
            <a:endParaRPr lang="fr-BE"/>
          </a:p>
        </p:txBody>
      </p:sp>
      <p:graphicFrame>
        <p:nvGraphicFramePr>
          <p:cNvPr id="6" name="Tableau 6">
            <a:extLst>
              <a:ext uri="{FF2B5EF4-FFF2-40B4-BE49-F238E27FC236}">
                <a16:creationId xmlns:a16="http://schemas.microsoft.com/office/drawing/2014/main" id="{CA9958BE-4183-45D6-BF74-0DD34DF33A0C}"/>
              </a:ext>
            </a:extLst>
          </p:cNvPr>
          <p:cNvGraphicFramePr>
            <a:graphicFrameLocks noGrp="1"/>
          </p:cNvGraphicFramePr>
          <p:nvPr>
            <p:extLst>
              <p:ext uri="{D42A27DB-BD31-4B8C-83A1-F6EECF244321}">
                <p14:modId xmlns:p14="http://schemas.microsoft.com/office/powerpoint/2010/main" val="2218822356"/>
              </p:ext>
            </p:extLst>
          </p:nvPr>
        </p:nvGraphicFramePr>
        <p:xfrm>
          <a:off x="1862356" y="3678806"/>
          <a:ext cx="5637402" cy="2656840"/>
        </p:xfrm>
        <a:graphic>
          <a:graphicData uri="http://schemas.openxmlformats.org/drawingml/2006/table">
            <a:tbl>
              <a:tblPr firstRow="1" bandRow="1">
                <a:tableStyleId>{21E4AEA4-8DFA-4A89-87EB-49C32662AFE0}</a:tableStyleId>
              </a:tblPr>
              <a:tblGrid>
                <a:gridCol w="2818701">
                  <a:extLst>
                    <a:ext uri="{9D8B030D-6E8A-4147-A177-3AD203B41FA5}">
                      <a16:colId xmlns:a16="http://schemas.microsoft.com/office/drawing/2014/main" val="3093246990"/>
                    </a:ext>
                  </a:extLst>
                </a:gridCol>
                <a:gridCol w="2818701">
                  <a:extLst>
                    <a:ext uri="{9D8B030D-6E8A-4147-A177-3AD203B41FA5}">
                      <a16:colId xmlns:a16="http://schemas.microsoft.com/office/drawing/2014/main" val="1565982183"/>
                    </a:ext>
                  </a:extLst>
                </a:gridCol>
              </a:tblGrid>
              <a:tr h="370840">
                <a:tc>
                  <a:txBody>
                    <a:bodyPr/>
                    <a:lstStyle/>
                    <a:p>
                      <a:pPr algn="ctr"/>
                      <a:r>
                        <a:rPr lang="fr-FR" dirty="0"/>
                        <a:t>Age de l’univers</a:t>
                      </a:r>
                      <a:endParaRPr lang="fr-BE" dirty="0"/>
                    </a:p>
                  </a:txBody>
                  <a:tcPr>
                    <a:solidFill>
                      <a:srgbClr val="C00000"/>
                    </a:solidFill>
                  </a:tcPr>
                </a:tc>
                <a:tc>
                  <a:txBody>
                    <a:bodyPr/>
                    <a:lstStyle/>
                    <a:p>
                      <a:pPr algn="ctr"/>
                      <a:r>
                        <a:rPr lang="fr-FR" dirty="0"/>
                        <a:t>Calcul en années</a:t>
                      </a:r>
                      <a:endParaRPr lang="fr-BE" dirty="0"/>
                    </a:p>
                  </a:txBody>
                  <a:tcPr>
                    <a:solidFill>
                      <a:srgbClr val="C00000"/>
                    </a:solidFill>
                  </a:tcPr>
                </a:tc>
                <a:extLst>
                  <a:ext uri="{0D108BD9-81ED-4DB2-BD59-A6C34878D82A}">
                    <a16:rowId xmlns:a16="http://schemas.microsoft.com/office/drawing/2014/main" val="831730160"/>
                  </a:ext>
                </a:extLst>
              </a:tr>
              <a:tr h="370840">
                <a:tc>
                  <a:txBody>
                    <a:bodyPr/>
                    <a:lstStyle/>
                    <a:p>
                      <a:pPr algn="ctr"/>
                      <a:r>
                        <a:rPr lang="fr-FR" dirty="0">
                          <a:solidFill>
                            <a:schemeClr val="bg1"/>
                          </a:solidFill>
                        </a:rPr>
                        <a:t>13 800 000 000 années</a:t>
                      </a:r>
                      <a:endParaRPr lang="fr-BE" dirty="0">
                        <a:solidFill>
                          <a:schemeClr val="bg1"/>
                        </a:solidFill>
                      </a:endParaRPr>
                    </a:p>
                  </a:txBody>
                  <a:tcPr>
                    <a:solidFill>
                      <a:srgbClr val="C00000"/>
                    </a:solidFill>
                  </a:tcPr>
                </a:tc>
                <a:tc>
                  <a:txBody>
                    <a:bodyPr/>
                    <a:lstStyle/>
                    <a:p>
                      <a:pPr algn="ctr"/>
                      <a:r>
                        <a:rPr lang="fr-BE" dirty="0">
                          <a:solidFill>
                            <a:schemeClr val="bg1"/>
                          </a:solidFill>
                        </a:rPr>
                        <a:t>26 000 000 000 000 000 000 000 000 000 000 000 000 000 000 000 000 000 000 000 000 000 000 000 000 000 000 000 000 000 000 000 000 000 000 000 000 000 000 000 000 000 000 000 000 années</a:t>
                      </a:r>
                    </a:p>
                  </a:txBody>
                  <a:tcPr>
                    <a:solidFill>
                      <a:srgbClr val="C00000"/>
                    </a:solidFill>
                  </a:tcPr>
                </a:tc>
                <a:extLst>
                  <a:ext uri="{0D108BD9-81ED-4DB2-BD59-A6C34878D82A}">
                    <a16:rowId xmlns:a16="http://schemas.microsoft.com/office/drawing/2014/main" val="2516784157"/>
                  </a:ext>
                </a:extLst>
              </a:tr>
            </a:tbl>
          </a:graphicData>
        </a:graphic>
      </p:graphicFrame>
    </p:spTree>
    <p:extLst>
      <p:ext uri="{BB962C8B-B14F-4D97-AF65-F5344CB8AC3E}">
        <p14:creationId xmlns:p14="http://schemas.microsoft.com/office/powerpoint/2010/main" val="314635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0F790FB5-7F46-4DF6-B938-00945D22AE25}"/>
              </a:ext>
            </a:extLst>
          </p:cNvPr>
          <p:cNvSpPr>
            <a:spLocks noGrp="1"/>
          </p:cNvSpPr>
          <p:nvPr>
            <p:ph idx="1"/>
          </p:nvPr>
        </p:nvSpPr>
        <p:spPr/>
        <p:txBody>
          <a:bodyPr/>
          <a:lstStyle/>
          <a:p>
            <a:endParaRPr lang="fr-FR" dirty="0"/>
          </a:p>
          <a:p>
            <a:r>
              <a:rPr lang="fr-FR" dirty="0"/>
              <a:t>Il n’existe pas d’algorithme exact et efficace pour résoudre ce problème.</a:t>
            </a:r>
          </a:p>
          <a:p>
            <a:endParaRPr lang="fr-FR" dirty="0"/>
          </a:p>
          <a:p>
            <a:r>
              <a:rPr lang="fr-FR" dirty="0"/>
              <a:t>On va utiliser des algorithmes qui n’ont pas la garantie de donner une solution optimale (Heuristique)</a:t>
            </a:r>
          </a:p>
          <a:p>
            <a:endParaRPr lang="fr-FR" dirty="0"/>
          </a:p>
          <a:p>
            <a:r>
              <a:rPr lang="fr-FR" dirty="0"/>
              <a:t>C’est ce qu’on appelle un problème NP-complet</a:t>
            </a:r>
            <a:endParaRPr lang="fr-BE" dirty="0"/>
          </a:p>
        </p:txBody>
      </p:sp>
      <p:sp>
        <p:nvSpPr>
          <p:cNvPr id="3" name="Titre 2">
            <a:extLst>
              <a:ext uri="{FF2B5EF4-FFF2-40B4-BE49-F238E27FC236}">
                <a16:creationId xmlns:a16="http://schemas.microsoft.com/office/drawing/2014/main" id="{B79F755E-CACF-4D5F-880E-B3A16CF2EE76}"/>
              </a:ext>
            </a:extLst>
          </p:cNvPr>
          <p:cNvSpPr>
            <a:spLocks noGrp="1"/>
          </p:cNvSpPr>
          <p:nvPr>
            <p:ph type="title"/>
          </p:nvPr>
        </p:nvSpPr>
        <p:spPr>
          <a:xfrm>
            <a:off x="3766658" y="228600"/>
            <a:ext cx="5091592" cy="962247"/>
          </a:xfrm>
        </p:spPr>
        <p:txBody>
          <a:bodyPr>
            <a:normAutofit fontScale="90000"/>
          </a:bodyPr>
          <a:lstStyle/>
          <a:p>
            <a:r>
              <a:rPr lang="fr-FR" dirty="0"/>
              <a:t>Le voyageur de commerce</a:t>
            </a:r>
            <a:endParaRPr lang="fr-BE" dirty="0"/>
          </a:p>
        </p:txBody>
      </p:sp>
      <p:sp>
        <p:nvSpPr>
          <p:cNvPr id="4" name="Espace réservé du numéro de diapositive 3">
            <a:extLst>
              <a:ext uri="{FF2B5EF4-FFF2-40B4-BE49-F238E27FC236}">
                <a16:creationId xmlns:a16="http://schemas.microsoft.com/office/drawing/2014/main" id="{D2A40C6D-5272-4B8F-90F8-E8EED9B4D650}"/>
              </a:ext>
            </a:extLst>
          </p:cNvPr>
          <p:cNvSpPr>
            <a:spLocks noGrp="1"/>
          </p:cNvSpPr>
          <p:nvPr>
            <p:ph type="sldNum" sz="quarter" idx="10"/>
          </p:nvPr>
        </p:nvSpPr>
        <p:spPr/>
        <p:txBody>
          <a:bodyPr/>
          <a:lstStyle/>
          <a:p>
            <a:fld id="{26DF9506-C750-44C3-8E12-610AD4C8F1FD}" type="slidenum">
              <a:rPr lang="fr-BE" smtClean="0"/>
              <a:t>16</a:t>
            </a:fld>
            <a:endParaRPr lang="fr-BE"/>
          </a:p>
        </p:txBody>
      </p:sp>
    </p:spTree>
    <p:extLst>
      <p:ext uri="{BB962C8B-B14F-4D97-AF65-F5344CB8AC3E}">
        <p14:creationId xmlns:p14="http://schemas.microsoft.com/office/powerpoint/2010/main" val="3629813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DEAB6EFB-4F49-497A-89FA-4E9657326CDD}"/>
              </a:ext>
            </a:extLst>
          </p:cNvPr>
          <p:cNvSpPr>
            <a:spLocks noGrp="1"/>
          </p:cNvSpPr>
          <p:nvPr>
            <p:ph idx="1"/>
          </p:nvPr>
        </p:nvSpPr>
        <p:spPr/>
        <p:txBody>
          <a:bodyPr/>
          <a:lstStyle/>
          <a:p>
            <a:endParaRPr lang="fr-FR" dirty="0"/>
          </a:p>
          <a:p>
            <a:r>
              <a:rPr lang="fr-FR" dirty="0"/>
              <a:t>Exactitude ≠ Optimalité</a:t>
            </a:r>
          </a:p>
          <a:p>
            <a:endParaRPr lang="fr-FR" dirty="0"/>
          </a:p>
          <a:p>
            <a:r>
              <a:rPr lang="fr-FR" dirty="0"/>
              <a:t>Ce qu’on va chercher c’est l’exactitude même si on peut souvent reformuler des problèmes sous forme d’optimisation.</a:t>
            </a:r>
          </a:p>
          <a:p>
            <a:endParaRPr lang="fr-FR" dirty="0"/>
          </a:p>
          <a:p>
            <a:endParaRPr lang="fr-BE" dirty="0"/>
          </a:p>
        </p:txBody>
      </p:sp>
      <p:sp>
        <p:nvSpPr>
          <p:cNvPr id="3" name="Titre 2">
            <a:extLst>
              <a:ext uri="{FF2B5EF4-FFF2-40B4-BE49-F238E27FC236}">
                <a16:creationId xmlns:a16="http://schemas.microsoft.com/office/drawing/2014/main" id="{2111FE7C-9105-487E-9B6D-22E0A4D33DF9}"/>
              </a:ext>
            </a:extLst>
          </p:cNvPr>
          <p:cNvSpPr>
            <a:spLocks noGrp="1"/>
          </p:cNvSpPr>
          <p:nvPr>
            <p:ph type="title"/>
          </p:nvPr>
        </p:nvSpPr>
        <p:spPr>
          <a:xfrm>
            <a:off x="3892492" y="228600"/>
            <a:ext cx="4965757" cy="962247"/>
          </a:xfrm>
        </p:spPr>
        <p:txBody>
          <a:bodyPr>
            <a:normAutofit fontScale="90000"/>
          </a:bodyPr>
          <a:lstStyle/>
          <a:p>
            <a:r>
              <a:rPr lang="fr-FR" dirty="0"/>
              <a:t>On fait quoi avec tout ça ?</a:t>
            </a:r>
            <a:endParaRPr lang="fr-BE" dirty="0"/>
          </a:p>
        </p:txBody>
      </p:sp>
      <p:sp>
        <p:nvSpPr>
          <p:cNvPr id="4" name="Espace réservé du numéro de diapositive 3">
            <a:extLst>
              <a:ext uri="{FF2B5EF4-FFF2-40B4-BE49-F238E27FC236}">
                <a16:creationId xmlns:a16="http://schemas.microsoft.com/office/drawing/2014/main" id="{765E3382-23CC-4050-AE6F-BB0E3859D913}"/>
              </a:ext>
            </a:extLst>
          </p:cNvPr>
          <p:cNvSpPr>
            <a:spLocks noGrp="1"/>
          </p:cNvSpPr>
          <p:nvPr>
            <p:ph type="sldNum" sz="quarter" idx="10"/>
          </p:nvPr>
        </p:nvSpPr>
        <p:spPr/>
        <p:txBody>
          <a:bodyPr/>
          <a:lstStyle/>
          <a:p>
            <a:fld id="{26DF9506-C750-44C3-8E12-610AD4C8F1FD}" type="slidenum">
              <a:rPr lang="fr-BE" smtClean="0"/>
              <a:t>17</a:t>
            </a:fld>
            <a:endParaRPr lang="fr-BE"/>
          </a:p>
        </p:txBody>
      </p:sp>
    </p:spTree>
    <p:extLst>
      <p:ext uri="{BB962C8B-B14F-4D97-AF65-F5344CB8AC3E}">
        <p14:creationId xmlns:p14="http://schemas.microsoft.com/office/powerpoint/2010/main" val="325580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2ED2960-92B4-43C8-9D1E-B404ED01F646}"/>
              </a:ext>
            </a:extLst>
          </p:cNvPr>
          <p:cNvSpPr>
            <a:spLocks noGrp="1"/>
          </p:cNvSpPr>
          <p:nvPr>
            <p:ph idx="1"/>
          </p:nvPr>
        </p:nvSpPr>
        <p:spPr/>
        <p:txBody>
          <a:bodyPr/>
          <a:lstStyle/>
          <a:p>
            <a:pPr marL="0" indent="0">
              <a:buNone/>
            </a:pPr>
            <a:endParaRPr lang="fr-FR" dirty="0"/>
          </a:p>
          <a:p>
            <a:pPr marL="0" indent="0">
              <a:buNone/>
            </a:pPr>
            <a:r>
              <a:rPr lang="fr-FR" dirty="0"/>
              <a:t>Recherche d’un contre-exemple</a:t>
            </a:r>
          </a:p>
          <a:p>
            <a:r>
              <a:rPr lang="fr-BE" dirty="0"/>
              <a:t>Un algorithme doit TOUJOURS fonctionner (selon sa spécification)</a:t>
            </a:r>
          </a:p>
          <a:p>
            <a:r>
              <a:rPr lang="fr-BE" dirty="0"/>
              <a:t>Il suffit d’un contre-exemple pour prouver qu’il est inexact</a:t>
            </a:r>
          </a:p>
          <a:p>
            <a:pPr marL="457200" lvl="1" indent="0">
              <a:buNone/>
            </a:pPr>
            <a:r>
              <a:rPr lang="fr-BE" dirty="0"/>
              <a:t>Exemple de petite taille</a:t>
            </a:r>
          </a:p>
          <a:p>
            <a:pPr marL="457200" lvl="1" indent="0">
              <a:buNone/>
            </a:pPr>
            <a:r>
              <a:rPr lang="fr-BE" dirty="0"/>
              <a:t>Cas d’égalité dans la décision</a:t>
            </a:r>
          </a:p>
          <a:p>
            <a:pPr marL="457200" lvl="1" indent="0">
              <a:buNone/>
            </a:pPr>
            <a:r>
              <a:rPr lang="fr-BE" dirty="0"/>
              <a:t>Cas limites</a:t>
            </a:r>
          </a:p>
          <a:p>
            <a:pPr marL="457200" lvl="1" indent="0">
              <a:buNone/>
            </a:pPr>
            <a:endParaRPr lang="fr-BE" dirty="0"/>
          </a:p>
          <a:p>
            <a:pPr marL="457200" lvl="1" indent="0">
              <a:buNone/>
            </a:pPr>
            <a:endParaRPr lang="fr-BE" dirty="0"/>
          </a:p>
        </p:txBody>
      </p:sp>
      <p:sp>
        <p:nvSpPr>
          <p:cNvPr id="3" name="Titre 2">
            <a:extLst>
              <a:ext uri="{FF2B5EF4-FFF2-40B4-BE49-F238E27FC236}">
                <a16:creationId xmlns:a16="http://schemas.microsoft.com/office/drawing/2014/main" id="{5E3CBA76-52C0-4C81-8DFF-04A361C66833}"/>
              </a:ext>
            </a:extLst>
          </p:cNvPr>
          <p:cNvSpPr>
            <a:spLocks noGrp="1"/>
          </p:cNvSpPr>
          <p:nvPr>
            <p:ph type="title"/>
          </p:nvPr>
        </p:nvSpPr>
        <p:spPr>
          <a:xfrm>
            <a:off x="3867326" y="228600"/>
            <a:ext cx="4990924" cy="962247"/>
          </a:xfrm>
        </p:spPr>
        <p:txBody>
          <a:bodyPr>
            <a:normAutofit fontScale="90000"/>
          </a:bodyPr>
          <a:lstStyle/>
          <a:p>
            <a:r>
              <a:rPr lang="fr-FR" dirty="0"/>
              <a:t>Prouver qu’un algorithme est inexact</a:t>
            </a:r>
            <a:endParaRPr lang="fr-BE" dirty="0"/>
          </a:p>
        </p:txBody>
      </p:sp>
      <p:sp>
        <p:nvSpPr>
          <p:cNvPr id="4" name="Espace réservé du numéro de diapositive 3">
            <a:extLst>
              <a:ext uri="{FF2B5EF4-FFF2-40B4-BE49-F238E27FC236}">
                <a16:creationId xmlns:a16="http://schemas.microsoft.com/office/drawing/2014/main" id="{7771F0F5-8E9B-4C21-9719-A48C0771C175}"/>
              </a:ext>
            </a:extLst>
          </p:cNvPr>
          <p:cNvSpPr>
            <a:spLocks noGrp="1"/>
          </p:cNvSpPr>
          <p:nvPr>
            <p:ph type="sldNum" sz="quarter" idx="10"/>
          </p:nvPr>
        </p:nvSpPr>
        <p:spPr/>
        <p:txBody>
          <a:bodyPr/>
          <a:lstStyle/>
          <a:p>
            <a:fld id="{26DF9506-C750-44C3-8E12-610AD4C8F1FD}" type="slidenum">
              <a:rPr lang="fr-BE" smtClean="0"/>
              <a:t>18</a:t>
            </a:fld>
            <a:endParaRPr lang="fr-BE"/>
          </a:p>
        </p:txBody>
      </p:sp>
    </p:spTree>
    <p:extLst>
      <p:ext uri="{BB962C8B-B14F-4D97-AF65-F5344CB8AC3E}">
        <p14:creationId xmlns:p14="http://schemas.microsoft.com/office/powerpoint/2010/main" val="2101506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70B1BA1C-BC6E-4BBF-839C-4AEB27991188}"/>
              </a:ext>
            </a:extLst>
          </p:cNvPr>
          <p:cNvSpPr>
            <a:spLocks noGrp="1"/>
          </p:cNvSpPr>
          <p:nvPr>
            <p:ph idx="1"/>
          </p:nvPr>
        </p:nvSpPr>
        <p:spPr/>
        <p:txBody>
          <a:bodyPr/>
          <a:lstStyle/>
          <a:p>
            <a:pPr marL="0" indent="0" algn="ctr">
              <a:buNone/>
            </a:pPr>
            <a:r>
              <a:rPr lang="fr-FR" dirty="0"/>
              <a:t>⛔Ne pas trouver de contre-exemple ne rend pas un ⛔ algorithme exact.</a:t>
            </a:r>
          </a:p>
          <a:p>
            <a:endParaRPr lang="fr-BE" dirty="0"/>
          </a:p>
        </p:txBody>
      </p:sp>
      <p:sp>
        <p:nvSpPr>
          <p:cNvPr id="3" name="Titre 2">
            <a:extLst>
              <a:ext uri="{FF2B5EF4-FFF2-40B4-BE49-F238E27FC236}">
                <a16:creationId xmlns:a16="http://schemas.microsoft.com/office/drawing/2014/main" id="{ABB3FF04-D9B2-47FE-8839-DF198FB53694}"/>
              </a:ext>
            </a:extLst>
          </p:cNvPr>
          <p:cNvSpPr>
            <a:spLocks noGrp="1"/>
          </p:cNvSpPr>
          <p:nvPr>
            <p:ph type="title"/>
          </p:nvPr>
        </p:nvSpPr>
        <p:spPr>
          <a:xfrm>
            <a:off x="4093828" y="228600"/>
            <a:ext cx="4764421" cy="962247"/>
          </a:xfrm>
        </p:spPr>
        <p:txBody>
          <a:bodyPr>
            <a:normAutofit fontScale="90000"/>
          </a:bodyPr>
          <a:lstStyle/>
          <a:p>
            <a:r>
              <a:rPr lang="fr-FR" dirty="0"/>
              <a:t>Prouver qu’un algorithme est exact</a:t>
            </a:r>
            <a:endParaRPr lang="fr-BE" dirty="0"/>
          </a:p>
        </p:txBody>
      </p:sp>
      <p:sp>
        <p:nvSpPr>
          <p:cNvPr id="4" name="Espace réservé du numéro de diapositive 3">
            <a:extLst>
              <a:ext uri="{FF2B5EF4-FFF2-40B4-BE49-F238E27FC236}">
                <a16:creationId xmlns:a16="http://schemas.microsoft.com/office/drawing/2014/main" id="{0525CB39-A239-4942-A646-F1085BCA9B4C}"/>
              </a:ext>
            </a:extLst>
          </p:cNvPr>
          <p:cNvSpPr>
            <a:spLocks noGrp="1"/>
          </p:cNvSpPr>
          <p:nvPr>
            <p:ph type="sldNum" sz="quarter" idx="10"/>
          </p:nvPr>
        </p:nvSpPr>
        <p:spPr/>
        <p:txBody>
          <a:bodyPr/>
          <a:lstStyle/>
          <a:p>
            <a:fld id="{26DF9506-C750-44C3-8E12-610AD4C8F1FD}" type="slidenum">
              <a:rPr lang="fr-BE" smtClean="0"/>
              <a:t>19</a:t>
            </a:fld>
            <a:endParaRPr lang="fr-BE"/>
          </a:p>
        </p:txBody>
      </p:sp>
      <p:pic>
        <p:nvPicPr>
          <p:cNvPr id="6" name="Image 5">
            <a:extLst>
              <a:ext uri="{FF2B5EF4-FFF2-40B4-BE49-F238E27FC236}">
                <a16:creationId xmlns:a16="http://schemas.microsoft.com/office/drawing/2014/main" id="{A9D096CA-5E97-44DC-A3B9-D0A7F570F2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0352" y="2678359"/>
            <a:ext cx="6023295" cy="3502434"/>
          </a:xfrm>
          <a:prstGeom prst="rect">
            <a:avLst/>
          </a:prstGeom>
        </p:spPr>
      </p:pic>
    </p:spTree>
    <p:extLst>
      <p:ext uri="{BB962C8B-B14F-4D97-AF65-F5344CB8AC3E}">
        <p14:creationId xmlns:p14="http://schemas.microsoft.com/office/powerpoint/2010/main" val="264868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3871B8D-41DE-47DC-959C-D1046596E25D}"/>
              </a:ext>
            </a:extLst>
          </p:cNvPr>
          <p:cNvSpPr>
            <a:spLocks noGrp="1"/>
          </p:cNvSpPr>
          <p:nvPr>
            <p:ph idx="1"/>
          </p:nvPr>
        </p:nvSpPr>
        <p:spPr/>
        <p:txBody>
          <a:bodyPr/>
          <a:lstStyle/>
          <a:p>
            <a:r>
              <a:rPr lang="fr-FR" dirty="0"/>
              <a:t>Pas de recette universelle…</a:t>
            </a:r>
          </a:p>
          <a:p>
            <a:endParaRPr lang="fr-FR" dirty="0"/>
          </a:p>
          <a:p>
            <a:endParaRPr lang="fr-FR" dirty="0"/>
          </a:p>
          <a:p>
            <a:endParaRPr lang="fr-FR" dirty="0"/>
          </a:p>
          <a:p>
            <a:endParaRPr lang="fr-FR" dirty="0"/>
          </a:p>
          <a:p>
            <a:endParaRPr lang="fr-FR" dirty="0"/>
          </a:p>
          <a:p>
            <a:endParaRPr lang="fr-FR" dirty="0"/>
          </a:p>
          <a:p>
            <a:endParaRPr lang="fr-FR" dirty="0"/>
          </a:p>
          <a:p>
            <a:r>
              <a:rPr lang="fr-FR" dirty="0"/>
              <a:t>Il faudrait aussi prouver l’efficacité…</a:t>
            </a:r>
          </a:p>
          <a:p>
            <a:endParaRPr lang="fr-FR" dirty="0"/>
          </a:p>
          <a:p>
            <a:endParaRPr lang="fr-BE" dirty="0"/>
          </a:p>
        </p:txBody>
      </p:sp>
      <p:sp>
        <p:nvSpPr>
          <p:cNvPr id="3" name="Titre 2">
            <a:extLst>
              <a:ext uri="{FF2B5EF4-FFF2-40B4-BE49-F238E27FC236}">
                <a16:creationId xmlns:a16="http://schemas.microsoft.com/office/drawing/2014/main" id="{03E4D435-DC76-4AC1-8725-67FC11493CE8}"/>
              </a:ext>
            </a:extLst>
          </p:cNvPr>
          <p:cNvSpPr>
            <a:spLocks noGrp="1"/>
          </p:cNvSpPr>
          <p:nvPr>
            <p:ph type="title"/>
          </p:nvPr>
        </p:nvSpPr>
        <p:spPr>
          <a:xfrm>
            <a:off x="4035106" y="228600"/>
            <a:ext cx="4823144" cy="962247"/>
          </a:xfrm>
        </p:spPr>
        <p:txBody>
          <a:bodyPr>
            <a:normAutofit fontScale="90000"/>
          </a:bodyPr>
          <a:lstStyle/>
          <a:p>
            <a:r>
              <a:rPr lang="fr-FR" dirty="0"/>
              <a:t>Prouver qu’un algorithme est exact</a:t>
            </a:r>
            <a:endParaRPr lang="fr-BE" dirty="0"/>
          </a:p>
        </p:txBody>
      </p:sp>
      <p:sp>
        <p:nvSpPr>
          <p:cNvPr id="4" name="Espace réservé du numéro de diapositive 3">
            <a:extLst>
              <a:ext uri="{FF2B5EF4-FFF2-40B4-BE49-F238E27FC236}">
                <a16:creationId xmlns:a16="http://schemas.microsoft.com/office/drawing/2014/main" id="{551F5C1B-836D-4F4E-AD56-B0AAD72B7FE7}"/>
              </a:ext>
            </a:extLst>
          </p:cNvPr>
          <p:cNvSpPr>
            <a:spLocks noGrp="1"/>
          </p:cNvSpPr>
          <p:nvPr>
            <p:ph type="sldNum" sz="quarter" idx="10"/>
          </p:nvPr>
        </p:nvSpPr>
        <p:spPr/>
        <p:txBody>
          <a:bodyPr/>
          <a:lstStyle/>
          <a:p>
            <a:fld id="{26DF9506-C750-44C3-8E12-610AD4C8F1FD}" type="slidenum">
              <a:rPr lang="fr-BE" smtClean="0"/>
              <a:t>20</a:t>
            </a:fld>
            <a:endParaRPr lang="fr-BE"/>
          </a:p>
        </p:txBody>
      </p:sp>
      <p:pic>
        <p:nvPicPr>
          <p:cNvPr id="6" name="Image 5">
            <a:extLst>
              <a:ext uri="{FF2B5EF4-FFF2-40B4-BE49-F238E27FC236}">
                <a16:creationId xmlns:a16="http://schemas.microsoft.com/office/drawing/2014/main" id="{646DD7C1-D1DD-49B1-823B-B161E0A8D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9427" y="2609239"/>
            <a:ext cx="4098372" cy="2336072"/>
          </a:xfrm>
          <a:prstGeom prst="rect">
            <a:avLst/>
          </a:prstGeom>
        </p:spPr>
      </p:pic>
    </p:spTree>
    <p:extLst>
      <p:ext uri="{BB962C8B-B14F-4D97-AF65-F5344CB8AC3E}">
        <p14:creationId xmlns:p14="http://schemas.microsoft.com/office/powerpoint/2010/main" val="3925972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58F0D61A-1E01-4807-A545-C240DE25C3F8}"/>
              </a:ext>
            </a:extLst>
          </p:cNvPr>
          <p:cNvSpPr>
            <a:spLocks noGrp="1"/>
          </p:cNvSpPr>
          <p:nvPr>
            <p:ph idx="1"/>
          </p:nvPr>
        </p:nvSpPr>
        <p:spPr/>
        <p:txBody>
          <a:bodyPr/>
          <a:lstStyle/>
          <a:p>
            <a:endParaRPr lang="fr-FR" dirty="0"/>
          </a:p>
          <a:p>
            <a:r>
              <a:rPr lang="fr-FR" dirty="0"/>
              <a:t>On va quantifier et caractériser l’efficacité selon deux grandeurs :</a:t>
            </a:r>
          </a:p>
          <a:p>
            <a:pPr marL="457200" lvl="1" indent="0">
              <a:buNone/>
            </a:pPr>
            <a:r>
              <a:rPr lang="fr-FR" dirty="0"/>
              <a:t>Le temps de calcul → La complexité temporelle</a:t>
            </a:r>
          </a:p>
          <a:p>
            <a:pPr marL="457200" lvl="1" indent="0">
              <a:buNone/>
            </a:pPr>
            <a:r>
              <a:rPr lang="fr-FR" dirty="0"/>
              <a:t>L’espace utilisé → La complexité spatiale</a:t>
            </a:r>
          </a:p>
          <a:p>
            <a:pPr marL="457200" lvl="1" indent="0">
              <a:buNone/>
            </a:pPr>
            <a:endParaRPr lang="fr-FR" dirty="0"/>
          </a:p>
          <a:p>
            <a:r>
              <a:rPr lang="fr-FR" dirty="0"/>
              <a:t>Normalement c’est sensé vous rappeler quelque chose…</a:t>
            </a:r>
            <a:endParaRPr lang="fr-BE" dirty="0"/>
          </a:p>
        </p:txBody>
      </p:sp>
      <p:sp>
        <p:nvSpPr>
          <p:cNvPr id="3" name="Titre 2">
            <a:extLst>
              <a:ext uri="{FF2B5EF4-FFF2-40B4-BE49-F238E27FC236}">
                <a16:creationId xmlns:a16="http://schemas.microsoft.com/office/drawing/2014/main" id="{5EDF46B8-4008-4224-B8CC-783812423B8D}"/>
              </a:ext>
            </a:extLst>
          </p:cNvPr>
          <p:cNvSpPr>
            <a:spLocks noGrp="1"/>
          </p:cNvSpPr>
          <p:nvPr>
            <p:ph type="title"/>
          </p:nvPr>
        </p:nvSpPr>
        <p:spPr/>
        <p:txBody>
          <a:bodyPr/>
          <a:lstStyle/>
          <a:p>
            <a:r>
              <a:rPr lang="fr-FR" dirty="0"/>
              <a:t>L’efficacité</a:t>
            </a:r>
            <a:endParaRPr lang="fr-BE" dirty="0"/>
          </a:p>
        </p:txBody>
      </p:sp>
      <p:sp>
        <p:nvSpPr>
          <p:cNvPr id="4" name="Espace réservé du numéro de diapositive 3">
            <a:extLst>
              <a:ext uri="{FF2B5EF4-FFF2-40B4-BE49-F238E27FC236}">
                <a16:creationId xmlns:a16="http://schemas.microsoft.com/office/drawing/2014/main" id="{7023BFC3-2785-4CD1-9EF6-50D166990809}"/>
              </a:ext>
            </a:extLst>
          </p:cNvPr>
          <p:cNvSpPr>
            <a:spLocks noGrp="1"/>
          </p:cNvSpPr>
          <p:nvPr>
            <p:ph type="sldNum" sz="quarter" idx="10"/>
          </p:nvPr>
        </p:nvSpPr>
        <p:spPr/>
        <p:txBody>
          <a:bodyPr/>
          <a:lstStyle/>
          <a:p>
            <a:fld id="{26DF9506-C750-44C3-8E12-610AD4C8F1FD}" type="slidenum">
              <a:rPr lang="fr-BE" smtClean="0"/>
              <a:t>21</a:t>
            </a:fld>
            <a:endParaRPr lang="fr-BE"/>
          </a:p>
        </p:txBody>
      </p:sp>
    </p:spTree>
    <p:extLst>
      <p:ext uri="{BB962C8B-B14F-4D97-AF65-F5344CB8AC3E}">
        <p14:creationId xmlns:p14="http://schemas.microsoft.com/office/powerpoint/2010/main" val="416787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0357E2C6-C430-4A6E-89E2-FBCFED6BFFDD}"/>
              </a:ext>
            </a:extLst>
          </p:cNvPr>
          <p:cNvSpPr>
            <a:spLocks noGrp="1"/>
          </p:cNvSpPr>
          <p:nvPr>
            <p:ph type="sldNum" sz="quarter" idx="10"/>
          </p:nvPr>
        </p:nvSpPr>
        <p:spPr/>
        <p:txBody>
          <a:bodyPr/>
          <a:lstStyle/>
          <a:p>
            <a:fld id="{26DF9506-C750-44C3-8E12-610AD4C8F1FD}" type="slidenum">
              <a:rPr lang="fr-BE" smtClean="0"/>
              <a:t>22</a:t>
            </a:fld>
            <a:endParaRPr lang="fr-BE"/>
          </a:p>
        </p:txBody>
      </p:sp>
      <p:sp>
        <p:nvSpPr>
          <p:cNvPr id="3" name="ZoneTexte 2">
            <a:extLst>
              <a:ext uri="{FF2B5EF4-FFF2-40B4-BE49-F238E27FC236}">
                <a16:creationId xmlns:a16="http://schemas.microsoft.com/office/drawing/2014/main" id="{65DED546-88C4-441F-B3A8-974AC568E3F5}"/>
              </a:ext>
            </a:extLst>
          </p:cNvPr>
          <p:cNvSpPr txBox="1"/>
          <p:nvPr/>
        </p:nvSpPr>
        <p:spPr>
          <a:xfrm>
            <a:off x="1732326" y="3075057"/>
            <a:ext cx="5679347" cy="707886"/>
          </a:xfrm>
          <a:prstGeom prst="rect">
            <a:avLst/>
          </a:prstGeom>
          <a:noFill/>
        </p:spPr>
        <p:txBody>
          <a:bodyPr wrap="square" rtlCol="0">
            <a:spAutoFit/>
          </a:bodyPr>
          <a:lstStyle/>
          <a:p>
            <a:r>
              <a:rPr lang="fr-FR" sz="4000" dirty="0">
                <a:latin typeface="Arial" panose="020B0604020202020204" pitchFamily="34" charset="0"/>
                <a:cs typeface="Arial" panose="020B0604020202020204" pitchFamily="34" charset="0"/>
              </a:rPr>
              <a:t>Complexité calculatoire</a:t>
            </a:r>
            <a:endParaRPr lang="fr-BE"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0024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Espace réservé du contenu 4">
                <a:extLst>
                  <a:ext uri="{FF2B5EF4-FFF2-40B4-BE49-F238E27FC236}">
                    <a16:creationId xmlns:a16="http://schemas.microsoft.com/office/drawing/2014/main" id="{2A9BA5D4-4285-4D69-B15B-0E495ACA3EA7}"/>
                  </a:ext>
                </a:extLst>
              </p:cNvPr>
              <p:cNvGraphicFramePr>
                <a:graphicFrameLocks noGrp="1"/>
              </p:cNvGraphicFramePr>
              <p:nvPr>
                <p:ph idx="1"/>
                <p:extLst>
                  <p:ext uri="{D42A27DB-BD31-4B8C-83A1-F6EECF244321}">
                    <p14:modId xmlns:p14="http://schemas.microsoft.com/office/powerpoint/2010/main" val="3254557227"/>
                  </p:ext>
                </p:extLst>
              </p:nvPr>
            </p:nvGraphicFramePr>
            <p:xfrm>
              <a:off x="831411" y="1591957"/>
              <a:ext cx="7481178" cy="4087057"/>
            </p:xfrm>
            <a:graphic>
              <a:graphicData uri="http://schemas.openxmlformats.org/drawingml/2006/table">
                <a:tbl>
                  <a:tblPr/>
                  <a:tblGrid>
                    <a:gridCol w="3740589">
                      <a:extLst>
                        <a:ext uri="{9D8B030D-6E8A-4147-A177-3AD203B41FA5}">
                          <a16:colId xmlns:a16="http://schemas.microsoft.com/office/drawing/2014/main" val="400339787"/>
                        </a:ext>
                      </a:extLst>
                    </a:gridCol>
                    <a:gridCol w="3740589">
                      <a:extLst>
                        <a:ext uri="{9D8B030D-6E8A-4147-A177-3AD203B41FA5}">
                          <a16:colId xmlns:a16="http://schemas.microsoft.com/office/drawing/2014/main" val="1131045066"/>
                        </a:ext>
                      </a:extLst>
                    </a:gridCol>
                  </a:tblGrid>
                  <a:tr h="346953">
                    <a:tc>
                      <a:txBody>
                        <a:bodyPr/>
                        <a:lstStyle/>
                        <a:p>
                          <a:pPr algn="ctr"/>
                          <a:r>
                            <a:rPr lang="fr-BE" sz="1700" dirty="0">
                              <a:effectLst/>
                            </a:rPr>
                            <a:t>Notation</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tc>
                      <a:txBody>
                        <a:bodyPr/>
                        <a:lstStyle/>
                        <a:p>
                          <a:pPr algn="ctr"/>
                          <a:r>
                            <a:rPr lang="fr-BE" sz="1700">
                              <a:effectLst/>
                            </a:rPr>
                            <a:t>Type de complexité</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2093836083"/>
                      </a:ext>
                    </a:extLst>
                  </a:tr>
                  <a:tr h="6071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sz="1700" b="0" i="1" smtClean="0">
                                    <a:effectLst/>
                                    <a:latin typeface="Cambria Math" panose="02040503050406030204" pitchFamily="18" charset="0"/>
                                  </a:rPr>
                                  <m:t>𝑂</m:t>
                                </m:r>
                                <m:r>
                                  <a:rPr lang="fr-FR" sz="1700" b="0" i="1" smtClean="0">
                                    <a:effectLst/>
                                    <a:latin typeface="Cambria Math" panose="02040503050406030204" pitchFamily="18" charset="0"/>
                                  </a:rPr>
                                  <m:t>(1)</m:t>
                                </m:r>
                              </m:oMath>
                            </m:oMathPara>
                          </a14:m>
                          <a:endParaRPr lang="fr-BE" sz="1700" dirty="0">
                            <a:effectLst/>
                          </a:endParaRP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fr-FR" sz="1700" dirty="0">
                              <a:effectLst/>
                            </a:rPr>
                            <a:t>complexité constante (indépendante de la taille de la donnée)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133288151"/>
                      </a:ext>
                    </a:extLst>
                  </a:tr>
                  <a:tr h="3469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sz="1700" b="0" i="1" smtClean="0">
                                    <a:effectLst/>
                                    <a:latin typeface="Cambria Math" panose="02040503050406030204" pitchFamily="18" charset="0"/>
                                  </a:rPr>
                                  <m:t>𝑂</m:t>
                                </m:r>
                                <m:r>
                                  <a:rPr lang="fr-FR" sz="1700" b="0" i="1" smtClean="0">
                                    <a:effectLst/>
                                    <a:latin typeface="Cambria Math" panose="02040503050406030204" pitchFamily="18" charset="0"/>
                                  </a:rPr>
                                  <m:t>(</m:t>
                                </m:r>
                                <m:r>
                                  <m:rPr>
                                    <m:sty m:val="p"/>
                                  </m:rPr>
                                  <a:rPr lang="fr-FR" sz="1700" b="0" i="0" smtClean="0">
                                    <a:effectLst/>
                                    <a:latin typeface="Cambria Math" panose="02040503050406030204" pitchFamily="18" charset="0"/>
                                  </a:rPr>
                                  <m:t>log</m:t>
                                </m:r>
                                <m:r>
                                  <a:rPr lang="fr-FR" sz="1700" b="0" i="1" smtClean="0">
                                    <a:effectLst/>
                                    <a:latin typeface="Cambria Math" panose="02040503050406030204" pitchFamily="18" charset="0"/>
                                  </a:rPr>
                                  <m:t>⁡(</m:t>
                                </m:r>
                                <m:r>
                                  <a:rPr lang="fr-FR" sz="1700" b="0" i="1" smtClean="0">
                                    <a:effectLst/>
                                    <a:latin typeface="Cambria Math" panose="02040503050406030204" pitchFamily="18" charset="0"/>
                                  </a:rPr>
                                  <m:t>𝑛</m:t>
                                </m:r>
                                <m:r>
                                  <a:rPr lang="fr-FR" sz="1700" b="0" i="1" smtClean="0">
                                    <a:effectLst/>
                                    <a:latin typeface="Cambria Math" panose="02040503050406030204" pitchFamily="18" charset="0"/>
                                  </a:rPr>
                                  <m:t>))</m:t>
                                </m:r>
                              </m:oMath>
                            </m:oMathPara>
                          </a14:m>
                          <a:endParaRPr lang="fr-BE" sz="1700" dirty="0">
                            <a:effectLst/>
                          </a:endParaRP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fr-BE" sz="1700">
                              <a:effectLst/>
                            </a:rPr>
                            <a:t>complexité logarithmique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41563505"/>
                      </a:ext>
                    </a:extLst>
                  </a:tr>
                  <a:tr h="3469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sz="1700" b="0" i="1" smtClean="0">
                                    <a:effectLst/>
                                    <a:latin typeface="Cambria Math" panose="02040503050406030204" pitchFamily="18" charset="0"/>
                                  </a:rPr>
                                  <m:t>𝑂</m:t>
                                </m:r>
                                <m:r>
                                  <a:rPr lang="fr-FR" sz="1700" b="0" i="1" smtClean="0">
                                    <a:effectLst/>
                                    <a:latin typeface="Cambria Math" panose="02040503050406030204" pitchFamily="18" charset="0"/>
                                  </a:rPr>
                                  <m:t>(</m:t>
                                </m:r>
                                <m:r>
                                  <a:rPr lang="fr-FR" sz="1700" b="0" i="1" smtClean="0">
                                    <a:effectLst/>
                                    <a:latin typeface="Cambria Math" panose="02040503050406030204" pitchFamily="18" charset="0"/>
                                  </a:rPr>
                                  <m:t>𝑛</m:t>
                                </m:r>
                                <m:r>
                                  <a:rPr lang="fr-FR" sz="1700" b="0" i="1" smtClean="0">
                                    <a:effectLst/>
                                    <a:latin typeface="Cambria Math" panose="02040503050406030204" pitchFamily="18" charset="0"/>
                                  </a:rPr>
                                  <m:t>)</m:t>
                                </m:r>
                              </m:oMath>
                            </m:oMathPara>
                          </a14:m>
                          <a:endParaRPr lang="fr-BE" sz="1700" dirty="0">
                            <a:effectLst/>
                          </a:endParaRP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fr-BE" sz="1700">
                              <a:effectLst/>
                            </a:rPr>
                            <a:t>complexité linéaire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4202921816"/>
                      </a:ext>
                    </a:extLst>
                  </a:tr>
                  <a:tr h="3469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sz="1700" b="0" i="1" smtClean="0">
                                    <a:effectLst/>
                                    <a:latin typeface="Cambria Math" panose="02040503050406030204" pitchFamily="18" charset="0"/>
                                  </a:rPr>
                                  <m:t>𝑂</m:t>
                                </m:r>
                                <m:r>
                                  <a:rPr lang="fr-FR" sz="1700" b="0" i="1" smtClean="0">
                                    <a:effectLst/>
                                    <a:latin typeface="Cambria Math" panose="02040503050406030204" pitchFamily="18" charset="0"/>
                                  </a:rPr>
                                  <m:t>(</m:t>
                                </m:r>
                                <m:r>
                                  <a:rPr lang="fr-FR" sz="1700" b="0" i="1" smtClean="0">
                                    <a:effectLst/>
                                    <a:latin typeface="Cambria Math" panose="02040503050406030204" pitchFamily="18" charset="0"/>
                                  </a:rPr>
                                  <m:t>𝑛𝑙𝑜𝑔</m:t>
                                </m:r>
                                <m:r>
                                  <a:rPr lang="fr-FR" sz="1700" b="0" i="1" smtClean="0">
                                    <a:effectLst/>
                                    <a:latin typeface="Cambria Math" panose="02040503050406030204" pitchFamily="18" charset="0"/>
                                  </a:rPr>
                                  <m:t>(</m:t>
                                </m:r>
                                <m:r>
                                  <a:rPr lang="fr-FR" sz="1700" b="0" i="1" smtClean="0">
                                    <a:effectLst/>
                                    <a:latin typeface="Cambria Math" panose="02040503050406030204" pitchFamily="18" charset="0"/>
                                  </a:rPr>
                                  <m:t>𝑛</m:t>
                                </m:r>
                                <m:r>
                                  <a:rPr lang="fr-FR" sz="1700" b="0" i="1" smtClean="0">
                                    <a:effectLst/>
                                    <a:latin typeface="Cambria Math" panose="02040503050406030204" pitchFamily="18" charset="0"/>
                                  </a:rPr>
                                  <m:t>))</m:t>
                                </m:r>
                              </m:oMath>
                            </m:oMathPara>
                          </a14:m>
                          <a:endParaRPr lang="fr-BE" sz="1700" dirty="0">
                            <a:effectLst/>
                          </a:endParaRP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fr-BE" sz="1700">
                              <a:effectLst/>
                            </a:rPr>
                            <a:t>complexité quasi linéaire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390260361"/>
                      </a:ext>
                    </a:extLst>
                  </a:tr>
                  <a:tr h="3469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sz="1700" b="0" i="1" smtClean="0">
                                    <a:effectLst/>
                                    <a:latin typeface="Cambria Math" panose="02040503050406030204" pitchFamily="18" charset="0"/>
                                  </a:rPr>
                                  <m:t>𝑂</m:t>
                                </m:r>
                                <m:r>
                                  <a:rPr lang="fr-FR" sz="1700" b="0" i="1" smtClean="0">
                                    <a:effectLst/>
                                    <a:latin typeface="Cambria Math" panose="02040503050406030204" pitchFamily="18" charset="0"/>
                                  </a:rPr>
                                  <m:t>(</m:t>
                                </m:r>
                                <m:r>
                                  <a:rPr lang="fr-FR" sz="1700" b="0" i="1" smtClean="0">
                                    <a:effectLst/>
                                    <a:latin typeface="Cambria Math" panose="02040503050406030204" pitchFamily="18" charset="0"/>
                                  </a:rPr>
                                  <m:t>𝑛</m:t>
                                </m:r>
                                <m:r>
                                  <a:rPr lang="fr-FR" sz="1700" b="0" i="1" smtClean="0">
                                    <a:effectLst/>
                                    <a:latin typeface="Cambria Math" panose="02040503050406030204" pitchFamily="18" charset="0"/>
                                  </a:rPr>
                                  <m:t>²)</m:t>
                                </m:r>
                              </m:oMath>
                            </m:oMathPara>
                          </a14:m>
                          <a:endParaRPr lang="fr-BE" sz="1700" dirty="0">
                            <a:effectLst/>
                          </a:endParaRP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fr-BE" sz="1700">
                              <a:effectLst/>
                            </a:rPr>
                            <a:t>complexité quadratique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785384636"/>
                      </a:ext>
                    </a:extLst>
                  </a:tr>
                  <a:tr h="3469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sz="1700" b="0" i="1" smtClean="0">
                                    <a:effectLst/>
                                    <a:latin typeface="Cambria Math" panose="02040503050406030204" pitchFamily="18" charset="0"/>
                                  </a:rPr>
                                  <m:t>𝑂</m:t>
                                </m:r>
                                <m:r>
                                  <a:rPr lang="fr-FR" sz="1700" b="0" i="1" smtClean="0">
                                    <a:effectLst/>
                                    <a:latin typeface="Cambria Math" panose="02040503050406030204" pitchFamily="18" charset="0"/>
                                  </a:rPr>
                                  <m:t>(</m:t>
                                </m:r>
                                <m:r>
                                  <a:rPr lang="fr-FR" sz="1700" b="0" i="1" smtClean="0">
                                    <a:effectLst/>
                                    <a:latin typeface="Cambria Math" panose="02040503050406030204" pitchFamily="18" charset="0"/>
                                  </a:rPr>
                                  <m:t>𝑛</m:t>
                                </m:r>
                                <m:r>
                                  <a:rPr lang="fr-FR" sz="1700" b="0" i="1" smtClean="0">
                                    <a:effectLst/>
                                    <a:latin typeface="Cambria Math" panose="02040503050406030204" pitchFamily="18" charset="0"/>
                                  </a:rPr>
                                  <m:t>³)</m:t>
                                </m:r>
                              </m:oMath>
                            </m:oMathPara>
                          </a14:m>
                          <a:endParaRPr lang="fr-BE" sz="1700" dirty="0">
                            <a:effectLst/>
                          </a:endParaRP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fr-BE" sz="1700">
                              <a:effectLst/>
                            </a:rPr>
                            <a:t>complexité cubique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743426988"/>
                      </a:ext>
                    </a:extLst>
                  </a:tr>
                  <a:tr h="3469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sz="1700" b="0" i="1" smtClean="0">
                                    <a:effectLst/>
                                    <a:latin typeface="Cambria Math" panose="02040503050406030204" pitchFamily="18" charset="0"/>
                                  </a:rPr>
                                  <m:t>𝑂</m:t>
                                </m:r>
                                <m:r>
                                  <a:rPr lang="fr-FR" sz="1700" b="0" i="1" smtClean="0">
                                    <a:effectLst/>
                                    <a:latin typeface="Cambria Math" panose="02040503050406030204" pitchFamily="18" charset="0"/>
                                  </a:rPr>
                                  <m:t>(</m:t>
                                </m:r>
                                <m:sSup>
                                  <m:sSupPr>
                                    <m:ctrlPr>
                                      <a:rPr lang="fr-FR" sz="1700" b="0" i="1" smtClean="0">
                                        <a:effectLst/>
                                        <a:latin typeface="Cambria Math" panose="02040503050406030204" pitchFamily="18" charset="0"/>
                                      </a:rPr>
                                    </m:ctrlPr>
                                  </m:sSupPr>
                                  <m:e>
                                    <m:r>
                                      <a:rPr lang="fr-FR" sz="1700" b="0" i="1" smtClean="0">
                                        <a:effectLst/>
                                        <a:latin typeface="Cambria Math" panose="02040503050406030204" pitchFamily="18" charset="0"/>
                                      </a:rPr>
                                      <m:t>𝑛</m:t>
                                    </m:r>
                                  </m:e>
                                  <m:sup>
                                    <m:r>
                                      <a:rPr lang="fr-FR" sz="1700" b="0" i="1" smtClean="0">
                                        <a:effectLst/>
                                        <a:latin typeface="Cambria Math" panose="02040503050406030204" pitchFamily="18" charset="0"/>
                                      </a:rPr>
                                      <m:t>𝑝</m:t>
                                    </m:r>
                                  </m:sup>
                                </m:sSup>
                                <m:r>
                                  <a:rPr lang="fr-FR" sz="1700" b="0" i="1" smtClean="0">
                                    <a:effectLst/>
                                    <a:latin typeface="Cambria Math" panose="02040503050406030204" pitchFamily="18" charset="0"/>
                                  </a:rPr>
                                  <m:t>)</m:t>
                                </m:r>
                              </m:oMath>
                            </m:oMathPara>
                          </a14:m>
                          <a:endParaRPr lang="fr-BE" sz="1700" dirty="0">
                            <a:effectLst/>
                          </a:endParaRP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fr-BE" sz="1700">
                              <a:effectLst/>
                            </a:rPr>
                            <a:t>complexité polynomiale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164881130"/>
                      </a:ext>
                    </a:extLst>
                  </a:tr>
                  <a:tr h="3469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sz="1700" b="0" i="1" smtClean="0">
                                    <a:effectLst/>
                                    <a:latin typeface="Cambria Math" panose="02040503050406030204" pitchFamily="18" charset="0"/>
                                  </a:rPr>
                                  <m:t>𝑂</m:t>
                                </m:r>
                                <m:r>
                                  <a:rPr lang="fr-FR" sz="1700" b="0" i="1" smtClean="0">
                                    <a:effectLst/>
                                    <a:latin typeface="Cambria Math" panose="02040503050406030204" pitchFamily="18" charset="0"/>
                                  </a:rPr>
                                  <m:t>(</m:t>
                                </m:r>
                                <m:sSup>
                                  <m:sSupPr>
                                    <m:ctrlPr>
                                      <a:rPr lang="fr-FR" sz="1700" b="0" i="1" smtClean="0">
                                        <a:effectLst/>
                                        <a:latin typeface="Cambria Math" panose="02040503050406030204" pitchFamily="18" charset="0"/>
                                      </a:rPr>
                                    </m:ctrlPr>
                                  </m:sSupPr>
                                  <m:e>
                                    <m:r>
                                      <a:rPr lang="fr-FR" sz="1700" b="0" i="1" smtClean="0">
                                        <a:effectLst/>
                                        <a:latin typeface="Cambria Math" panose="02040503050406030204" pitchFamily="18" charset="0"/>
                                      </a:rPr>
                                      <m:t>𝑛</m:t>
                                    </m:r>
                                  </m:e>
                                  <m:sup>
                                    <m:r>
                                      <m:rPr>
                                        <m:sty m:val="p"/>
                                      </m:rPr>
                                      <a:rPr lang="fr-FR" sz="1700" b="0" i="0" smtClean="0">
                                        <a:effectLst/>
                                        <a:latin typeface="Cambria Math" panose="02040503050406030204" pitchFamily="18" charset="0"/>
                                      </a:rPr>
                                      <m:t>log</m:t>
                                    </m:r>
                                    <m:r>
                                      <a:rPr lang="fr-FR" sz="1700" b="0" i="1" smtClean="0">
                                        <a:effectLst/>
                                        <a:latin typeface="Cambria Math" panose="02040503050406030204" pitchFamily="18" charset="0"/>
                                      </a:rPr>
                                      <m:t>⁡(</m:t>
                                    </m:r>
                                    <m:r>
                                      <a:rPr lang="fr-FR" sz="1700" b="0" i="1" smtClean="0">
                                        <a:effectLst/>
                                        <a:latin typeface="Cambria Math" panose="02040503050406030204" pitchFamily="18" charset="0"/>
                                      </a:rPr>
                                      <m:t>𝑛</m:t>
                                    </m:r>
                                    <m:r>
                                      <a:rPr lang="fr-FR" sz="1700" b="0" i="1" smtClean="0">
                                        <a:effectLst/>
                                        <a:latin typeface="Cambria Math" panose="02040503050406030204" pitchFamily="18" charset="0"/>
                                      </a:rPr>
                                      <m:t>)</m:t>
                                    </m:r>
                                  </m:sup>
                                </m:sSup>
                                <m:r>
                                  <a:rPr lang="fr-FR" sz="1700" b="0" i="1" smtClean="0">
                                    <a:effectLst/>
                                    <a:latin typeface="Cambria Math" panose="02040503050406030204" pitchFamily="18" charset="0"/>
                                  </a:rPr>
                                  <m:t>)</m:t>
                                </m:r>
                              </m:oMath>
                            </m:oMathPara>
                          </a14:m>
                          <a:endParaRPr lang="fr-BE" sz="1700" dirty="0">
                            <a:effectLst/>
                          </a:endParaRP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fr-BE" sz="1700">
                              <a:effectLst/>
                            </a:rPr>
                            <a:t>complexité quasi polynomiale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833414344"/>
                      </a:ext>
                    </a:extLst>
                  </a:tr>
                  <a:tr h="3469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sz="1700" b="0" i="1" smtClean="0">
                                    <a:effectLst/>
                                    <a:latin typeface="Cambria Math" panose="02040503050406030204" pitchFamily="18" charset="0"/>
                                  </a:rPr>
                                  <m:t>𝑂</m:t>
                                </m:r>
                                <m:r>
                                  <a:rPr lang="fr-FR" sz="1700" b="0" i="1" smtClean="0">
                                    <a:effectLst/>
                                    <a:latin typeface="Cambria Math" panose="02040503050406030204" pitchFamily="18" charset="0"/>
                                  </a:rPr>
                                  <m:t>(</m:t>
                                </m:r>
                                <m:sSup>
                                  <m:sSupPr>
                                    <m:ctrlPr>
                                      <a:rPr lang="fr-FR" sz="1700" b="0" i="1" smtClean="0">
                                        <a:effectLst/>
                                        <a:latin typeface="Cambria Math" panose="02040503050406030204" pitchFamily="18" charset="0"/>
                                      </a:rPr>
                                    </m:ctrlPr>
                                  </m:sSupPr>
                                  <m:e>
                                    <m:r>
                                      <a:rPr lang="fr-FR" sz="1700" b="0" i="1" smtClean="0">
                                        <a:effectLst/>
                                        <a:latin typeface="Cambria Math" panose="02040503050406030204" pitchFamily="18" charset="0"/>
                                      </a:rPr>
                                      <m:t>2</m:t>
                                    </m:r>
                                  </m:e>
                                  <m:sup>
                                    <m:r>
                                      <a:rPr lang="fr-FR" sz="1700" b="0" i="1" smtClean="0">
                                        <a:effectLst/>
                                        <a:latin typeface="Cambria Math" panose="02040503050406030204" pitchFamily="18" charset="0"/>
                                      </a:rPr>
                                      <m:t>𝑛</m:t>
                                    </m:r>
                                  </m:sup>
                                </m:sSup>
                                <m:r>
                                  <a:rPr lang="fr-FR" sz="1700" b="0" i="1" smtClean="0">
                                    <a:effectLst/>
                                    <a:latin typeface="Cambria Math" panose="02040503050406030204" pitchFamily="18" charset="0"/>
                                  </a:rPr>
                                  <m:t>)</m:t>
                                </m:r>
                              </m:oMath>
                            </m:oMathPara>
                          </a14:m>
                          <a:endParaRPr lang="fr-BE" sz="1700" dirty="0">
                            <a:effectLst/>
                          </a:endParaRP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fr-BE" sz="1700">
                              <a:effectLst/>
                            </a:rPr>
                            <a:t>complexité exponentielle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267889877"/>
                      </a:ext>
                    </a:extLst>
                  </a:tr>
                  <a:tr h="3469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sz="1700" b="0" i="1" smtClean="0">
                                    <a:effectLst/>
                                    <a:latin typeface="Cambria Math" panose="02040503050406030204" pitchFamily="18" charset="0"/>
                                  </a:rPr>
                                  <m:t>𝑂</m:t>
                                </m:r>
                                <m:r>
                                  <a:rPr lang="fr-FR" sz="1700" b="0" i="1" smtClean="0">
                                    <a:effectLst/>
                                    <a:latin typeface="Cambria Math" panose="02040503050406030204" pitchFamily="18" charset="0"/>
                                  </a:rPr>
                                  <m:t>(</m:t>
                                </m:r>
                                <m:r>
                                  <a:rPr lang="fr-FR" sz="1700" b="0" i="1" smtClean="0">
                                    <a:effectLst/>
                                    <a:latin typeface="Cambria Math" panose="02040503050406030204" pitchFamily="18" charset="0"/>
                                  </a:rPr>
                                  <m:t>𝑛</m:t>
                                </m:r>
                                <m:r>
                                  <a:rPr lang="fr-FR" sz="1700" b="0" i="1" smtClean="0">
                                    <a:effectLst/>
                                    <a:latin typeface="Cambria Math" panose="02040503050406030204" pitchFamily="18" charset="0"/>
                                  </a:rPr>
                                  <m:t>!)</m:t>
                                </m:r>
                              </m:oMath>
                            </m:oMathPara>
                          </a14:m>
                          <a:endParaRPr lang="fr-BE" sz="1700" dirty="0">
                            <a:effectLst/>
                          </a:endParaRP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tc>
                      <a:txBody>
                        <a:bodyPr/>
                        <a:lstStyle/>
                        <a:p>
                          <a:r>
                            <a:rPr lang="fr-BE" sz="1700" dirty="0">
                              <a:effectLst/>
                            </a:rPr>
                            <a:t>complexité factorielle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941749376"/>
                      </a:ext>
                    </a:extLst>
                  </a:tr>
                </a:tbl>
              </a:graphicData>
            </a:graphic>
          </p:graphicFrame>
        </mc:Choice>
        <mc:Fallback xmlns="">
          <p:graphicFrame>
            <p:nvGraphicFramePr>
              <p:cNvPr id="5" name="Espace réservé du contenu 4">
                <a:extLst>
                  <a:ext uri="{FF2B5EF4-FFF2-40B4-BE49-F238E27FC236}">
                    <a16:creationId xmlns:a16="http://schemas.microsoft.com/office/drawing/2014/main" id="{2A9BA5D4-4285-4D69-B15B-0E495ACA3EA7}"/>
                  </a:ext>
                </a:extLst>
              </p:cNvPr>
              <p:cNvGraphicFramePr>
                <a:graphicFrameLocks noGrp="1"/>
              </p:cNvGraphicFramePr>
              <p:nvPr>
                <p:ph idx="1"/>
                <p:extLst>
                  <p:ext uri="{D42A27DB-BD31-4B8C-83A1-F6EECF244321}">
                    <p14:modId xmlns:p14="http://schemas.microsoft.com/office/powerpoint/2010/main" val="3254557227"/>
                  </p:ext>
                </p:extLst>
              </p:nvPr>
            </p:nvGraphicFramePr>
            <p:xfrm>
              <a:off x="831411" y="1591957"/>
              <a:ext cx="7481178" cy="4087057"/>
            </p:xfrm>
            <a:graphic>
              <a:graphicData uri="http://schemas.openxmlformats.org/drawingml/2006/table">
                <a:tbl>
                  <a:tblPr/>
                  <a:tblGrid>
                    <a:gridCol w="3740589">
                      <a:extLst>
                        <a:ext uri="{9D8B030D-6E8A-4147-A177-3AD203B41FA5}">
                          <a16:colId xmlns:a16="http://schemas.microsoft.com/office/drawing/2014/main" val="400339787"/>
                        </a:ext>
                      </a:extLst>
                    </a:gridCol>
                    <a:gridCol w="3740589">
                      <a:extLst>
                        <a:ext uri="{9D8B030D-6E8A-4147-A177-3AD203B41FA5}">
                          <a16:colId xmlns:a16="http://schemas.microsoft.com/office/drawing/2014/main" val="1131045066"/>
                        </a:ext>
                      </a:extLst>
                    </a:gridCol>
                  </a:tblGrid>
                  <a:tr h="346953">
                    <a:tc>
                      <a:txBody>
                        <a:bodyPr/>
                        <a:lstStyle/>
                        <a:p>
                          <a:pPr algn="ctr"/>
                          <a:r>
                            <a:rPr lang="fr-BE" sz="1700" dirty="0">
                              <a:effectLst/>
                            </a:rPr>
                            <a:t>Notation</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tc>
                      <a:txBody>
                        <a:bodyPr/>
                        <a:lstStyle/>
                        <a:p>
                          <a:pPr algn="ctr"/>
                          <a:r>
                            <a:rPr lang="fr-BE" sz="1700">
                              <a:effectLst/>
                            </a:rPr>
                            <a:t>Type de complexité</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2093836083"/>
                      </a:ext>
                    </a:extLst>
                  </a:tr>
                  <a:tr h="607168">
                    <a:tc>
                      <a:txBody>
                        <a:bodyPr/>
                        <a:lstStyle/>
                        <a:p>
                          <a:endParaRPr lang="fr-F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blipFill>
                          <a:blip r:embed="rId2"/>
                          <a:stretch>
                            <a:fillRect l="-163" t="-60000" r="-100163" b="-528000"/>
                          </a:stretch>
                        </a:blipFill>
                      </a:tcPr>
                    </a:tc>
                    <a:tc>
                      <a:txBody>
                        <a:bodyPr/>
                        <a:lstStyle/>
                        <a:p>
                          <a:r>
                            <a:rPr lang="fr-FR" sz="1700" dirty="0">
                              <a:effectLst/>
                            </a:rPr>
                            <a:t>complexité constante (indépendante de la taille de la donnée)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133288151"/>
                      </a:ext>
                    </a:extLst>
                  </a:tr>
                  <a:tr h="346953">
                    <a:tc>
                      <a:txBody>
                        <a:bodyPr/>
                        <a:lstStyle/>
                        <a:p>
                          <a:endParaRPr lang="fr-F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blipFill>
                          <a:blip r:embed="rId2"/>
                          <a:stretch>
                            <a:fillRect l="-163" t="-280702" r="-100163" b="-826316"/>
                          </a:stretch>
                        </a:blipFill>
                      </a:tcPr>
                    </a:tc>
                    <a:tc>
                      <a:txBody>
                        <a:bodyPr/>
                        <a:lstStyle/>
                        <a:p>
                          <a:r>
                            <a:rPr lang="fr-BE" sz="1700">
                              <a:effectLst/>
                            </a:rPr>
                            <a:t>complexité logarithmique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41563505"/>
                      </a:ext>
                    </a:extLst>
                  </a:tr>
                  <a:tr h="346953">
                    <a:tc>
                      <a:txBody>
                        <a:bodyPr/>
                        <a:lstStyle/>
                        <a:p>
                          <a:endParaRPr lang="fr-F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blipFill>
                          <a:blip r:embed="rId2"/>
                          <a:stretch>
                            <a:fillRect l="-163" t="-380702" r="-100163" b="-726316"/>
                          </a:stretch>
                        </a:blipFill>
                      </a:tcPr>
                    </a:tc>
                    <a:tc>
                      <a:txBody>
                        <a:bodyPr/>
                        <a:lstStyle/>
                        <a:p>
                          <a:r>
                            <a:rPr lang="fr-BE" sz="1700">
                              <a:effectLst/>
                            </a:rPr>
                            <a:t>complexité linéaire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4202921816"/>
                      </a:ext>
                    </a:extLst>
                  </a:tr>
                  <a:tr h="346953">
                    <a:tc>
                      <a:txBody>
                        <a:bodyPr/>
                        <a:lstStyle/>
                        <a:p>
                          <a:endParaRPr lang="fr-F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blipFill>
                          <a:blip r:embed="rId2"/>
                          <a:stretch>
                            <a:fillRect l="-163" t="-480702" r="-100163" b="-626316"/>
                          </a:stretch>
                        </a:blipFill>
                      </a:tcPr>
                    </a:tc>
                    <a:tc>
                      <a:txBody>
                        <a:bodyPr/>
                        <a:lstStyle/>
                        <a:p>
                          <a:r>
                            <a:rPr lang="fr-BE" sz="1700">
                              <a:effectLst/>
                            </a:rPr>
                            <a:t>complexité quasi linéaire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390260361"/>
                      </a:ext>
                    </a:extLst>
                  </a:tr>
                  <a:tr h="346953">
                    <a:tc>
                      <a:txBody>
                        <a:bodyPr/>
                        <a:lstStyle/>
                        <a:p>
                          <a:endParaRPr lang="fr-F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blipFill>
                          <a:blip r:embed="rId2"/>
                          <a:stretch>
                            <a:fillRect l="-163" t="-591071" r="-100163" b="-537500"/>
                          </a:stretch>
                        </a:blipFill>
                      </a:tcPr>
                    </a:tc>
                    <a:tc>
                      <a:txBody>
                        <a:bodyPr/>
                        <a:lstStyle/>
                        <a:p>
                          <a:r>
                            <a:rPr lang="fr-BE" sz="1700">
                              <a:effectLst/>
                            </a:rPr>
                            <a:t>complexité quadratique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785384636"/>
                      </a:ext>
                    </a:extLst>
                  </a:tr>
                  <a:tr h="346953">
                    <a:tc>
                      <a:txBody>
                        <a:bodyPr/>
                        <a:lstStyle/>
                        <a:p>
                          <a:endParaRPr lang="fr-F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blipFill>
                          <a:blip r:embed="rId2"/>
                          <a:stretch>
                            <a:fillRect l="-163" t="-678947" r="-100163" b="-428070"/>
                          </a:stretch>
                        </a:blipFill>
                      </a:tcPr>
                    </a:tc>
                    <a:tc>
                      <a:txBody>
                        <a:bodyPr/>
                        <a:lstStyle/>
                        <a:p>
                          <a:r>
                            <a:rPr lang="fr-BE" sz="1700">
                              <a:effectLst/>
                            </a:rPr>
                            <a:t>complexité cubique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743426988"/>
                      </a:ext>
                    </a:extLst>
                  </a:tr>
                  <a:tr h="346953">
                    <a:tc>
                      <a:txBody>
                        <a:bodyPr/>
                        <a:lstStyle/>
                        <a:p>
                          <a:endParaRPr lang="fr-F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blipFill>
                          <a:blip r:embed="rId2"/>
                          <a:stretch>
                            <a:fillRect l="-163" t="-778947" r="-100163" b="-328070"/>
                          </a:stretch>
                        </a:blipFill>
                      </a:tcPr>
                    </a:tc>
                    <a:tc>
                      <a:txBody>
                        <a:bodyPr/>
                        <a:lstStyle/>
                        <a:p>
                          <a:r>
                            <a:rPr lang="fr-BE" sz="1700">
                              <a:effectLst/>
                            </a:rPr>
                            <a:t>complexité polynomiale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164881130"/>
                      </a:ext>
                    </a:extLst>
                  </a:tr>
                  <a:tr h="357312">
                    <a:tc>
                      <a:txBody>
                        <a:bodyPr/>
                        <a:lstStyle/>
                        <a:p>
                          <a:endParaRPr lang="fr-F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blipFill>
                          <a:blip r:embed="rId2"/>
                          <a:stretch>
                            <a:fillRect l="-163" t="-849153" r="-100163" b="-216949"/>
                          </a:stretch>
                        </a:blipFill>
                      </a:tcPr>
                    </a:tc>
                    <a:tc>
                      <a:txBody>
                        <a:bodyPr/>
                        <a:lstStyle/>
                        <a:p>
                          <a:r>
                            <a:rPr lang="fr-BE" sz="1700">
                              <a:effectLst/>
                            </a:rPr>
                            <a:t>complexité quasi polynomiale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833414344"/>
                      </a:ext>
                    </a:extLst>
                  </a:tr>
                  <a:tr h="346953">
                    <a:tc>
                      <a:txBody>
                        <a:bodyPr/>
                        <a:lstStyle/>
                        <a:p>
                          <a:endParaRPr lang="fr-F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blipFill>
                          <a:blip r:embed="rId2"/>
                          <a:stretch>
                            <a:fillRect l="-163" t="-982456" r="-100163" b="-124561"/>
                          </a:stretch>
                        </a:blipFill>
                      </a:tcPr>
                    </a:tc>
                    <a:tc>
                      <a:txBody>
                        <a:bodyPr/>
                        <a:lstStyle/>
                        <a:p>
                          <a:r>
                            <a:rPr lang="fr-BE" sz="1700">
                              <a:effectLst/>
                            </a:rPr>
                            <a:t>complexité exponentielle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267889877"/>
                      </a:ext>
                    </a:extLst>
                  </a:tr>
                  <a:tr h="346953">
                    <a:tc>
                      <a:txBody>
                        <a:bodyPr/>
                        <a:lstStyle/>
                        <a:p>
                          <a:endParaRPr lang="fr-F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blipFill>
                          <a:blip r:embed="rId2"/>
                          <a:stretch>
                            <a:fillRect l="-163" t="-1082456" r="-100163" b="-24561"/>
                          </a:stretch>
                        </a:blipFill>
                      </a:tcPr>
                    </a:tc>
                    <a:tc>
                      <a:txBody>
                        <a:bodyPr/>
                        <a:lstStyle/>
                        <a:p>
                          <a:r>
                            <a:rPr lang="fr-BE" sz="1700" dirty="0">
                              <a:effectLst/>
                            </a:rPr>
                            <a:t>complexité factorielle</a:t>
                          </a:r>
                        </a:p>
                      </a:txBody>
                      <a:tcPr marL="86738" marR="86738" marT="43369" marB="43369" anchor="ctr">
                        <a:lnL w="7620" cap="flat" cmpd="sng" algn="ctr">
                          <a:solidFill>
                            <a:srgbClr val="A2A9B1"/>
                          </a:solidFill>
                          <a:prstDash val="solid"/>
                          <a:round/>
                          <a:headEnd type="none" w="med" len="med"/>
                          <a:tailEnd type="none" w="med" len="med"/>
                        </a:lnL>
                        <a:lnR w="7620" cap="flat" cmpd="sng" algn="ctr">
                          <a:solidFill>
                            <a:srgbClr val="A2A9B1"/>
                          </a:solidFill>
                          <a:prstDash val="solid"/>
                          <a:round/>
                          <a:headEnd type="none" w="med" len="med"/>
                          <a:tailEnd type="none" w="med" len="med"/>
                        </a:lnR>
                        <a:lnT w="7620" cap="flat" cmpd="sng" algn="ctr">
                          <a:solidFill>
                            <a:srgbClr val="A2A9B1"/>
                          </a:solidFill>
                          <a:prstDash val="solid"/>
                          <a:round/>
                          <a:headEnd type="none" w="med" len="med"/>
                          <a:tailEnd type="none" w="med" len="med"/>
                        </a:lnT>
                        <a:lnB w="762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941749376"/>
                      </a:ext>
                    </a:extLst>
                  </a:tr>
                </a:tbl>
              </a:graphicData>
            </a:graphic>
          </p:graphicFrame>
        </mc:Fallback>
      </mc:AlternateContent>
      <p:sp>
        <p:nvSpPr>
          <p:cNvPr id="3" name="Titre 2">
            <a:extLst>
              <a:ext uri="{FF2B5EF4-FFF2-40B4-BE49-F238E27FC236}">
                <a16:creationId xmlns:a16="http://schemas.microsoft.com/office/drawing/2014/main" id="{7F37CF0E-B71F-4871-A498-B624CAC028D5}"/>
              </a:ext>
            </a:extLst>
          </p:cNvPr>
          <p:cNvSpPr>
            <a:spLocks noGrp="1"/>
          </p:cNvSpPr>
          <p:nvPr>
            <p:ph type="title"/>
          </p:nvPr>
        </p:nvSpPr>
        <p:spPr>
          <a:xfrm>
            <a:off x="4152550" y="228600"/>
            <a:ext cx="4705699" cy="962247"/>
          </a:xfrm>
        </p:spPr>
        <p:txBody>
          <a:bodyPr>
            <a:normAutofit/>
          </a:bodyPr>
          <a:lstStyle/>
          <a:p>
            <a:r>
              <a:rPr lang="fr-FR" dirty="0"/>
              <a:t>La complexité</a:t>
            </a:r>
            <a:endParaRPr lang="fr-BE" dirty="0"/>
          </a:p>
        </p:txBody>
      </p:sp>
      <p:sp>
        <p:nvSpPr>
          <p:cNvPr id="4" name="Espace réservé du numéro de diapositive 3">
            <a:extLst>
              <a:ext uri="{FF2B5EF4-FFF2-40B4-BE49-F238E27FC236}">
                <a16:creationId xmlns:a16="http://schemas.microsoft.com/office/drawing/2014/main" id="{5DF04EB2-36B1-452D-A6D7-B3909B792C11}"/>
              </a:ext>
            </a:extLst>
          </p:cNvPr>
          <p:cNvSpPr>
            <a:spLocks noGrp="1"/>
          </p:cNvSpPr>
          <p:nvPr>
            <p:ph type="sldNum" sz="quarter" idx="10"/>
          </p:nvPr>
        </p:nvSpPr>
        <p:spPr/>
        <p:txBody>
          <a:bodyPr/>
          <a:lstStyle/>
          <a:p>
            <a:fld id="{26DF9506-C750-44C3-8E12-610AD4C8F1FD}" type="slidenum">
              <a:rPr lang="fr-BE" smtClean="0"/>
              <a:t>23</a:t>
            </a:fld>
            <a:endParaRPr lang="fr-BE"/>
          </a:p>
        </p:txBody>
      </p:sp>
    </p:spTree>
    <p:extLst>
      <p:ext uri="{BB962C8B-B14F-4D97-AF65-F5344CB8AC3E}">
        <p14:creationId xmlns:p14="http://schemas.microsoft.com/office/powerpoint/2010/main" val="2326998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3C3F808D-0DD9-4F77-8205-E9FD389378E8}"/>
              </a:ext>
            </a:extLst>
          </p:cNvPr>
          <p:cNvSpPr>
            <a:spLocks noGrp="1"/>
          </p:cNvSpPr>
          <p:nvPr>
            <p:ph type="sldNum" sz="quarter" idx="10"/>
          </p:nvPr>
        </p:nvSpPr>
        <p:spPr/>
        <p:txBody>
          <a:bodyPr/>
          <a:lstStyle/>
          <a:p>
            <a:fld id="{26DF9506-C750-44C3-8E12-610AD4C8F1FD}" type="slidenum">
              <a:rPr lang="fr-BE" smtClean="0"/>
              <a:t>24</a:t>
            </a:fld>
            <a:endParaRPr lang="fr-BE"/>
          </a:p>
        </p:txBody>
      </p:sp>
      <p:pic>
        <p:nvPicPr>
          <p:cNvPr id="3" name="Picture 2">
            <a:extLst>
              <a:ext uri="{FF2B5EF4-FFF2-40B4-BE49-F238E27FC236}">
                <a16:creationId xmlns:a16="http://schemas.microsoft.com/office/drawing/2014/main" id="{D4C797C2-ED85-4E01-91C2-ADA9F675C1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956" y="1017895"/>
            <a:ext cx="8134088" cy="5244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87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B2CDFA70-7DA3-401A-B267-5BAE898596C0}"/>
                  </a:ext>
                </a:extLst>
              </p:cNvPr>
              <p:cNvSpPr>
                <a:spLocks noGrp="1"/>
              </p:cNvSpPr>
              <p:nvPr>
                <p:ph idx="1"/>
              </p:nvPr>
            </p:nvSpPr>
            <p:spPr/>
            <p:txBody>
              <a:bodyPr/>
              <a:lstStyle/>
              <a:p>
                <a:endParaRPr lang="fr-FR" dirty="0"/>
              </a:p>
              <a:p>
                <a:r>
                  <a:rPr lang="fr-FR" dirty="0"/>
                  <a:t>Objectif :</a:t>
                </a:r>
              </a:p>
              <a:p>
                <a:pPr marL="457200" lvl="1" indent="0">
                  <a:buNone/>
                </a:pPr>
                <a:r>
                  <a:rPr lang="fr-FR" sz="1800" b="0" i="0" u="none" strike="noStrike" baseline="0" dirty="0">
                    <a:cs typeface="Arial" panose="020B0604020202020204" pitchFamily="34" charset="0"/>
                  </a:rPr>
                  <a:t>Analyser le temps (ou l’espace) requis, en se concentrant sur l’algorithme et l’influence de la taille du problème, généralement </a:t>
                </a:r>
                <a:r>
                  <a:rPr lang="fr-BE" sz="1800" b="0" i="0" u="none" strike="noStrike" baseline="0" dirty="0">
                    <a:cs typeface="Arial" panose="020B0604020202020204" pitchFamily="34" charset="0"/>
                  </a:rPr>
                  <a:t>dans le pire cas</a:t>
                </a:r>
                <a:endParaRPr lang="fr-FR" sz="1800" dirty="0">
                  <a:cs typeface="Arial" panose="020B0604020202020204" pitchFamily="34" charset="0"/>
                </a:endParaRPr>
              </a:p>
              <a:p>
                <a:endParaRPr lang="fr-BE" dirty="0"/>
              </a:p>
              <a:p>
                <a:r>
                  <a:rPr lang="fr-BE" dirty="0"/>
                  <a:t>On va s’intéresser à l’évolution de la complexité lorsque la taille du problème augmente </a:t>
                </a:r>
                <a14:m>
                  <m:oMath xmlns:m="http://schemas.openxmlformats.org/officeDocument/2006/math">
                    <m:func>
                      <m:funcPr>
                        <m:ctrlPr>
                          <a:rPr lang="pt-BR" i="1" smtClean="0">
                            <a:latin typeface="Cambria Math" panose="02040503050406030204" pitchFamily="18" charset="0"/>
                          </a:rPr>
                        </m:ctrlPr>
                      </m:funcPr>
                      <m:fName>
                        <m:limLow>
                          <m:limLowPr>
                            <m:ctrlPr>
                              <a:rPr lang="pt-BR" i="1" smtClean="0">
                                <a:latin typeface="Cambria Math" panose="02040503050406030204" pitchFamily="18" charset="0"/>
                              </a:rPr>
                            </m:ctrlPr>
                          </m:limLowPr>
                          <m:e>
                            <m:r>
                              <a:rPr lang="fr-FR" b="0" i="0" smtClean="0">
                                <a:latin typeface="Cambria Math" panose="02040503050406030204" pitchFamily="18" charset="0"/>
                              </a:rPr>
                              <m:t>(</m:t>
                            </m:r>
                            <m:r>
                              <m:rPr>
                                <m:sty m:val="p"/>
                              </m:rPr>
                              <a:rPr lang="pt-BR" i="0" smtClean="0">
                                <a:latin typeface="Cambria Math" panose="02040503050406030204" pitchFamily="18" charset="0"/>
                              </a:rPr>
                              <m:t>lim</m:t>
                            </m:r>
                          </m:e>
                          <m:lim>
                            <m:r>
                              <a:rPr lang="pt-BR" i="1" smtClean="0">
                                <a:latin typeface="Cambria Math" panose="02040503050406030204" pitchFamily="18" charset="0"/>
                              </a:rPr>
                              <m:t>𝑛</m:t>
                            </m:r>
                            <m:r>
                              <a:rPr lang="pt-BR" i="1" smtClean="0">
                                <a:latin typeface="Cambria Math" panose="02040503050406030204" pitchFamily="18" charset="0"/>
                              </a:rPr>
                              <m:t>→∞</m:t>
                            </m:r>
                          </m:lim>
                        </m:limLow>
                      </m:fName>
                      <m:e>
                        <m:r>
                          <a:rPr lang="fr-FR" b="0" i="1" smtClean="0">
                            <a:latin typeface="Cambria Math" panose="02040503050406030204" pitchFamily="18" charset="0"/>
                          </a:rPr>
                          <m:t>)</m:t>
                        </m:r>
                      </m:e>
                    </m:func>
                  </m:oMath>
                </a14:m>
                <a:endParaRPr lang="fr-BE" dirty="0"/>
              </a:p>
            </p:txBody>
          </p:sp>
        </mc:Choice>
        <mc:Fallback xmlns="">
          <p:sp>
            <p:nvSpPr>
              <p:cNvPr id="2" name="Espace réservé du contenu 1">
                <a:extLst>
                  <a:ext uri="{FF2B5EF4-FFF2-40B4-BE49-F238E27FC236}">
                    <a16:creationId xmlns:a16="http://schemas.microsoft.com/office/drawing/2014/main" id="{B2CDFA70-7DA3-401A-B267-5BAE898596C0}"/>
                  </a:ext>
                </a:extLst>
              </p:cNvPr>
              <p:cNvSpPr>
                <a:spLocks noGrp="1" noRot="1" noChangeAspect="1" noMove="1" noResize="1" noEditPoints="1" noAdjustHandles="1" noChangeArrowheads="1" noChangeShapeType="1" noTextEdit="1"/>
              </p:cNvSpPr>
              <p:nvPr>
                <p:ph idx="1"/>
              </p:nvPr>
            </p:nvSpPr>
            <p:spPr>
              <a:blipFill>
                <a:blip r:embed="rId2"/>
                <a:stretch>
                  <a:fillRect l="-2926"/>
                </a:stretch>
              </a:blipFill>
            </p:spPr>
            <p:txBody>
              <a:bodyPr/>
              <a:lstStyle/>
              <a:p>
                <a:r>
                  <a:rPr lang="fr-BE">
                    <a:noFill/>
                  </a:rPr>
                  <a:t> </a:t>
                </a:r>
              </a:p>
            </p:txBody>
          </p:sp>
        </mc:Fallback>
      </mc:AlternateContent>
      <p:sp>
        <p:nvSpPr>
          <p:cNvPr id="3" name="Titre 2">
            <a:extLst>
              <a:ext uri="{FF2B5EF4-FFF2-40B4-BE49-F238E27FC236}">
                <a16:creationId xmlns:a16="http://schemas.microsoft.com/office/drawing/2014/main" id="{8A11E9F2-9A8D-4EF0-BA6A-2DD89AB677EA}"/>
              </a:ext>
            </a:extLst>
          </p:cNvPr>
          <p:cNvSpPr>
            <a:spLocks noGrp="1"/>
          </p:cNvSpPr>
          <p:nvPr>
            <p:ph type="title"/>
          </p:nvPr>
        </p:nvSpPr>
        <p:spPr/>
        <p:txBody>
          <a:bodyPr>
            <a:normAutofit fontScale="90000"/>
          </a:bodyPr>
          <a:lstStyle/>
          <a:p>
            <a:r>
              <a:rPr lang="fr-FR" dirty="0"/>
              <a:t>Analyse asymptotique</a:t>
            </a:r>
            <a:endParaRPr lang="fr-BE" dirty="0"/>
          </a:p>
        </p:txBody>
      </p:sp>
      <p:sp>
        <p:nvSpPr>
          <p:cNvPr id="4" name="Espace réservé du numéro de diapositive 3">
            <a:extLst>
              <a:ext uri="{FF2B5EF4-FFF2-40B4-BE49-F238E27FC236}">
                <a16:creationId xmlns:a16="http://schemas.microsoft.com/office/drawing/2014/main" id="{899A0F4D-1AA2-4A62-86B7-E0F9A76251A4}"/>
              </a:ext>
            </a:extLst>
          </p:cNvPr>
          <p:cNvSpPr>
            <a:spLocks noGrp="1"/>
          </p:cNvSpPr>
          <p:nvPr>
            <p:ph type="sldNum" sz="quarter" idx="10"/>
          </p:nvPr>
        </p:nvSpPr>
        <p:spPr/>
        <p:txBody>
          <a:bodyPr/>
          <a:lstStyle/>
          <a:p>
            <a:fld id="{26DF9506-C750-44C3-8E12-610AD4C8F1FD}" type="slidenum">
              <a:rPr lang="fr-BE" smtClean="0"/>
              <a:t>25</a:t>
            </a:fld>
            <a:endParaRPr lang="fr-BE"/>
          </a:p>
        </p:txBody>
      </p:sp>
    </p:spTree>
    <p:extLst>
      <p:ext uri="{BB962C8B-B14F-4D97-AF65-F5344CB8AC3E}">
        <p14:creationId xmlns:p14="http://schemas.microsoft.com/office/powerpoint/2010/main" val="3812626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470D538A-6400-4582-93B8-D5F54D11B776}"/>
                  </a:ext>
                </a:extLst>
              </p:cNvPr>
              <p:cNvSpPr>
                <a:spLocks noGrp="1"/>
              </p:cNvSpPr>
              <p:nvPr>
                <p:ph idx="1"/>
              </p:nvPr>
            </p:nvSpPr>
            <p:spPr>
              <a:xfrm>
                <a:off x="318977" y="1627464"/>
                <a:ext cx="8539273" cy="4347309"/>
              </a:xfrm>
            </p:spPr>
            <p:txBody>
              <a:bodyPr/>
              <a:lstStyle/>
              <a:p>
                <a:pPr marL="0" indent="0" algn="l">
                  <a:buNone/>
                </a:pPr>
                <a:r>
                  <a:rPr lang="fr-FR" b="0" i="0" u="none" strike="noStrike" baseline="0" dirty="0">
                    <a:solidFill>
                      <a:srgbClr val="000000"/>
                    </a:solidFill>
                    <a:cs typeface="Arial" panose="020B0604020202020204" pitchFamily="34" charset="0"/>
                  </a:rPr>
                  <a:t>Par exemple, si la taille </a:t>
                </a:r>
                <a:r>
                  <a:rPr lang="fr-FR" b="0" i="1" u="none" strike="noStrike" baseline="0" dirty="0">
                    <a:solidFill>
                      <a:srgbClr val="2F6C9C"/>
                    </a:solidFill>
                    <a:cs typeface="Arial" panose="020B0604020202020204" pitchFamily="34" charset="0"/>
                  </a:rPr>
                  <a:t>n </a:t>
                </a:r>
                <a:r>
                  <a:rPr lang="fr-FR" b="0" i="0" u="none" strike="noStrike" baseline="0" dirty="0">
                    <a:solidFill>
                      <a:srgbClr val="000000"/>
                    </a:solidFill>
                    <a:cs typeface="Arial" panose="020B0604020202020204" pitchFamily="34" charset="0"/>
                  </a:rPr>
                  <a:t>du problème est multipliée par </a:t>
                </a:r>
                <a:r>
                  <a:rPr lang="fr-FR" b="0" i="0" u="none" strike="noStrike" baseline="0" dirty="0">
                    <a:solidFill>
                      <a:srgbClr val="2F6C9C"/>
                    </a:solidFill>
                    <a:cs typeface="Arial" panose="020B0604020202020204" pitchFamily="34" charset="0"/>
                  </a:rPr>
                  <a:t>10 </a:t>
                </a:r>
                <a:r>
                  <a:rPr lang="fr-FR" b="0" i="0" u="none" strike="noStrike" baseline="0" dirty="0">
                    <a:solidFill>
                      <a:srgbClr val="000000"/>
                    </a:solidFill>
                    <a:cs typeface="Arial" panose="020B0604020202020204" pitchFamily="34" charset="0"/>
                  </a:rPr>
                  <a:t>comment évolue le temps </a:t>
                </a:r>
                <a:r>
                  <a:rPr lang="fr-FR" b="0" i="1" u="none" strike="noStrike" baseline="0" dirty="0">
                    <a:solidFill>
                      <a:srgbClr val="2F6C9C"/>
                    </a:solidFill>
                    <a:cs typeface="Arial" panose="020B0604020202020204" pitchFamily="34" charset="0"/>
                  </a:rPr>
                  <a:t>T </a:t>
                </a:r>
                <a:r>
                  <a:rPr lang="fr-FR" b="0" i="0" u="none" strike="noStrike" baseline="0" dirty="0">
                    <a:solidFill>
                      <a:srgbClr val="2F6C9C"/>
                    </a:solidFill>
                    <a:cs typeface="Arial" panose="020B0604020202020204" pitchFamily="34" charset="0"/>
                  </a:rPr>
                  <a:t>= </a:t>
                </a:r>
                <a:r>
                  <a:rPr lang="fr-FR" b="0" i="1" u="none" strike="noStrike" baseline="0" dirty="0">
                    <a:solidFill>
                      <a:srgbClr val="2F6C9C"/>
                    </a:solidFill>
                    <a:cs typeface="Arial" panose="020B0604020202020204" pitchFamily="34" charset="0"/>
                  </a:rPr>
                  <a:t>f </a:t>
                </a:r>
                <a:r>
                  <a:rPr lang="fr-FR" b="0" i="0" u="none" strike="noStrike" baseline="0" dirty="0">
                    <a:solidFill>
                      <a:srgbClr val="2F6C9C"/>
                    </a:solidFill>
                    <a:cs typeface="Arial" panose="020B0604020202020204" pitchFamily="34" charset="0"/>
                  </a:rPr>
                  <a:t>(</a:t>
                </a:r>
                <a:r>
                  <a:rPr lang="fr-FR" b="0" i="1" u="none" strike="noStrike" baseline="0" dirty="0">
                    <a:solidFill>
                      <a:srgbClr val="2F6C9C"/>
                    </a:solidFill>
                    <a:cs typeface="Arial" panose="020B0604020202020204" pitchFamily="34" charset="0"/>
                  </a:rPr>
                  <a:t>n</a:t>
                </a:r>
                <a:r>
                  <a:rPr lang="fr-FR" b="0" i="0" u="none" strike="noStrike" baseline="0" dirty="0">
                    <a:solidFill>
                      <a:srgbClr val="2F6C9C"/>
                    </a:solidFill>
                    <a:cs typeface="Arial" panose="020B0604020202020204" pitchFamily="34" charset="0"/>
                  </a:rPr>
                  <a:t>) </a:t>
                </a:r>
                <a:r>
                  <a:rPr lang="fr-FR" b="0" i="0" u="none" strike="noStrike" baseline="0" dirty="0">
                    <a:solidFill>
                      <a:srgbClr val="000000"/>
                    </a:solidFill>
                    <a:cs typeface="Arial" panose="020B0604020202020204" pitchFamily="34" charset="0"/>
                  </a:rPr>
                  <a:t>?</a:t>
                </a:r>
              </a:p>
              <a:p>
                <a:pPr marL="0" indent="0" algn="l">
                  <a:buNone/>
                </a:pPr>
                <a:r>
                  <a:rPr lang="fr-FR" sz="2000" b="0" i="0" u="none" strike="noStrike" baseline="0" dirty="0">
                    <a:solidFill>
                      <a:srgbClr val="000000"/>
                    </a:solidFill>
                    <a:cs typeface="Arial" panose="020B0604020202020204" pitchFamily="34" charset="0"/>
                  </a:rPr>
                  <a:t>Si </a:t>
                </a:r>
                <a14:m>
                  <m:oMath xmlns:m="http://schemas.openxmlformats.org/officeDocument/2006/math">
                    <m:r>
                      <a:rPr lang="fr-FR" sz="2000" b="0" i="1" u="none" strike="noStrike" baseline="0" dirty="0" smtClean="0">
                        <a:solidFill>
                          <a:srgbClr val="2F6C9C"/>
                        </a:solidFill>
                        <a:latin typeface="Cambria Math" panose="02040503050406030204" pitchFamily="18" charset="0"/>
                        <a:cs typeface="Arial" panose="020B0604020202020204" pitchFamily="34" charset="0"/>
                      </a:rPr>
                      <m:t>𝑓</m:t>
                    </m:r>
                    <m:r>
                      <a:rPr lang="fr-FR" sz="2000" b="0" i="1" u="none" strike="noStrike" baseline="0" dirty="0" smtClean="0">
                        <a:solidFill>
                          <a:srgbClr val="2F6C9C"/>
                        </a:solidFill>
                        <a:latin typeface="Cambria Math" panose="02040503050406030204" pitchFamily="18" charset="0"/>
                        <a:cs typeface="Arial" panose="020B0604020202020204" pitchFamily="34" charset="0"/>
                      </a:rPr>
                      <m:t>(</m:t>
                    </m:r>
                    <m:r>
                      <a:rPr lang="fr-FR" sz="2000" b="0" i="1" u="none" strike="noStrike" baseline="0" dirty="0" smtClean="0">
                        <a:solidFill>
                          <a:srgbClr val="2F6C9C"/>
                        </a:solidFill>
                        <a:latin typeface="Cambria Math" panose="02040503050406030204" pitchFamily="18" charset="0"/>
                        <a:cs typeface="Arial" panose="020B0604020202020204" pitchFamily="34" charset="0"/>
                      </a:rPr>
                      <m:t>𝑛</m:t>
                    </m:r>
                    <m:r>
                      <a:rPr lang="fr-FR" sz="2000" b="0" i="1" u="none" strike="noStrike" baseline="0" dirty="0" smtClean="0">
                        <a:solidFill>
                          <a:srgbClr val="2F6C9C"/>
                        </a:solidFill>
                        <a:latin typeface="Cambria Math" panose="02040503050406030204" pitchFamily="18" charset="0"/>
                        <a:cs typeface="Arial" panose="020B0604020202020204" pitchFamily="34" charset="0"/>
                      </a:rPr>
                      <m:t>) = </m:t>
                    </m:r>
                    <m:r>
                      <a:rPr lang="fr-FR" sz="2000" b="0" i="1" u="none" strike="noStrike" baseline="0" dirty="0" smtClean="0">
                        <a:solidFill>
                          <a:srgbClr val="2F6C9C"/>
                        </a:solidFill>
                        <a:latin typeface="Cambria Math" panose="02040503050406030204" pitchFamily="18" charset="0"/>
                        <a:cs typeface="Arial" panose="020B0604020202020204" pitchFamily="34" charset="0"/>
                      </a:rPr>
                      <m:t>𝑐</m:t>
                    </m:r>
                    <m:r>
                      <a:rPr lang="fr-FR" sz="2000" b="0" i="1" u="none" strike="noStrike" baseline="0" dirty="0" smtClean="0">
                        <a:solidFill>
                          <a:srgbClr val="2F6C9C"/>
                        </a:solidFill>
                        <a:latin typeface="Cambria Math" panose="02040503050406030204" pitchFamily="18" charset="0"/>
                        <a:cs typeface="Arial" panose="020B0604020202020204" pitchFamily="34" charset="0"/>
                      </a:rPr>
                      <m:t> ⇒</m:t>
                    </m:r>
                    <m:r>
                      <a:rPr lang="fr-FR" sz="2000" b="0" i="1" u="none" strike="noStrike" baseline="0" dirty="0" smtClean="0">
                        <a:solidFill>
                          <a:srgbClr val="5DB4E7"/>
                        </a:solidFill>
                        <a:latin typeface="Cambria Math" panose="02040503050406030204" pitchFamily="18" charset="0"/>
                        <a:cs typeface="Arial" panose="020B0604020202020204" pitchFamily="34" charset="0"/>
                      </a:rPr>
                      <m:t>𝑓</m:t>
                    </m:r>
                    <m:r>
                      <a:rPr lang="fr-FR" sz="2000" b="0" i="1" u="none" strike="noStrike" baseline="0" dirty="0" smtClean="0">
                        <a:solidFill>
                          <a:srgbClr val="5DB4E7"/>
                        </a:solidFill>
                        <a:latin typeface="Cambria Math" panose="02040503050406030204" pitchFamily="18" charset="0"/>
                        <a:cs typeface="Arial" panose="020B0604020202020204" pitchFamily="34" charset="0"/>
                      </a:rPr>
                      <m:t>(10</m:t>
                    </m:r>
                    <m:r>
                      <a:rPr lang="fr-FR" sz="2000" b="0" i="1" u="none" strike="noStrike" baseline="0" dirty="0" smtClean="0">
                        <a:solidFill>
                          <a:srgbClr val="5DB4E7"/>
                        </a:solidFill>
                        <a:latin typeface="Cambria Math" panose="02040503050406030204" pitchFamily="18" charset="0"/>
                        <a:cs typeface="Arial" panose="020B0604020202020204" pitchFamily="34" charset="0"/>
                      </a:rPr>
                      <m:t>𝑛</m:t>
                    </m:r>
                    <m:r>
                      <a:rPr lang="fr-FR" sz="2000" b="0" i="1" u="none" strike="noStrike" baseline="0" dirty="0" smtClean="0">
                        <a:solidFill>
                          <a:srgbClr val="5DB4E7"/>
                        </a:solidFill>
                        <a:latin typeface="Cambria Math" panose="02040503050406030204" pitchFamily="18" charset="0"/>
                        <a:cs typeface="Arial" panose="020B0604020202020204" pitchFamily="34" charset="0"/>
                      </a:rPr>
                      <m:t>)=</m:t>
                    </m:r>
                    <m:r>
                      <a:rPr lang="fr-FR" sz="2000" b="0" i="1" u="none" strike="noStrike" baseline="0" dirty="0" smtClean="0">
                        <a:solidFill>
                          <a:srgbClr val="2F6C9C"/>
                        </a:solidFill>
                        <a:latin typeface="Cambria Math" panose="02040503050406030204" pitchFamily="18" charset="0"/>
                        <a:cs typeface="Arial" panose="020B0604020202020204" pitchFamily="34" charset="0"/>
                      </a:rPr>
                      <m:t>𝑐</m:t>
                    </m:r>
                    <m:r>
                      <a:rPr lang="fr-FR" sz="2000" b="0" i="1" u="none" strike="noStrike" baseline="0" dirty="0" smtClean="0">
                        <a:solidFill>
                          <a:srgbClr val="2F6C9C"/>
                        </a:solidFill>
                        <a:latin typeface="Cambria Math" panose="02040503050406030204" pitchFamily="18" charset="0"/>
                        <a:cs typeface="Arial" panose="020B0604020202020204" pitchFamily="34" charset="0"/>
                      </a:rPr>
                      <m:t> </m:t>
                    </m:r>
                  </m:oMath>
                </a14:m>
                <a:r>
                  <a:rPr lang="fr-FR" sz="2000" b="0" i="1" u="none" strike="noStrike" baseline="0" dirty="0">
                    <a:solidFill>
                      <a:srgbClr val="2F6C9C"/>
                    </a:solidFill>
                    <a:cs typeface="Arial" panose="020B0604020202020204" pitchFamily="34" charset="0"/>
                  </a:rPr>
                  <a:t>		                     		    T</a:t>
                </a:r>
                <a:endParaRPr lang="fr-FR" sz="2000" b="0" i="0" u="none" strike="noStrike" baseline="0" dirty="0">
                  <a:solidFill>
                    <a:srgbClr val="000000"/>
                  </a:solidFill>
                  <a:cs typeface="Arial" panose="020B0604020202020204" pitchFamily="34" charset="0"/>
                </a:endParaRPr>
              </a:p>
              <a:p>
                <a:pPr marL="0" indent="0" algn="l">
                  <a:buNone/>
                </a:pPr>
                <a:r>
                  <a:rPr lang="pt-BR" sz="2000" b="0" i="0" u="none" strike="noStrike" baseline="0" dirty="0">
                    <a:solidFill>
                      <a:srgbClr val="000000"/>
                    </a:solidFill>
                    <a:cs typeface="Arial" panose="020B0604020202020204" pitchFamily="34" charset="0"/>
                  </a:rPr>
                  <a:t>Si </a:t>
                </a:r>
                <a14:m>
                  <m:oMath xmlns:m="http://schemas.openxmlformats.org/officeDocument/2006/math">
                    <m:r>
                      <a:rPr lang="pt-BR" sz="2000" b="0" i="1" u="none" strike="noStrike" baseline="0" dirty="0" smtClean="0">
                        <a:solidFill>
                          <a:srgbClr val="2F6C9C"/>
                        </a:solidFill>
                        <a:latin typeface="Cambria Math" panose="02040503050406030204" pitchFamily="18" charset="0"/>
                        <a:cs typeface="Arial" panose="020B0604020202020204" pitchFamily="34" charset="0"/>
                      </a:rPr>
                      <m:t>𝑓</m:t>
                    </m:r>
                    <m:d>
                      <m:dPr>
                        <m:ctrlPr>
                          <a:rPr lang="pt-BR" sz="2000" b="0" i="1" u="none" strike="noStrike" baseline="0" dirty="0" smtClean="0">
                            <a:solidFill>
                              <a:srgbClr val="2F6C9C"/>
                            </a:solidFill>
                            <a:latin typeface="Cambria Math" panose="02040503050406030204" pitchFamily="18" charset="0"/>
                            <a:cs typeface="Arial" panose="020B0604020202020204" pitchFamily="34" charset="0"/>
                          </a:rPr>
                        </m:ctrlPr>
                      </m:dPr>
                      <m:e>
                        <m:r>
                          <a:rPr lang="pt-BR" sz="2000" b="0" i="1" u="none" strike="noStrike" baseline="0" dirty="0" smtClean="0">
                            <a:solidFill>
                              <a:srgbClr val="2F6C9C"/>
                            </a:solidFill>
                            <a:latin typeface="Cambria Math" panose="02040503050406030204" pitchFamily="18" charset="0"/>
                            <a:cs typeface="Arial" panose="020B0604020202020204" pitchFamily="34" charset="0"/>
                          </a:rPr>
                          <m:t>𝑛</m:t>
                        </m:r>
                      </m:e>
                    </m:d>
                    <m:r>
                      <a:rPr lang="pt-BR" sz="2000" b="0" i="1" u="none" strike="noStrike" baseline="0" dirty="0" smtClean="0">
                        <a:solidFill>
                          <a:srgbClr val="2F6C9C"/>
                        </a:solidFill>
                        <a:latin typeface="Cambria Math" panose="02040503050406030204" pitchFamily="18" charset="0"/>
                        <a:cs typeface="Arial" panose="020B0604020202020204" pitchFamily="34" charset="0"/>
                      </a:rPr>
                      <m:t>=</m:t>
                    </m:r>
                    <m:r>
                      <a:rPr lang="pt-BR" sz="2000" b="0" i="1" u="none" strike="noStrike" baseline="0" dirty="0" smtClean="0">
                        <a:solidFill>
                          <a:srgbClr val="2F6C9C"/>
                        </a:solidFill>
                        <a:latin typeface="Cambria Math" panose="02040503050406030204" pitchFamily="18" charset="0"/>
                        <a:cs typeface="Arial" panose="020B0604020202020204" pitchFamily="34" charset="0"/>
                      </a:rPr>
                      <m:t>𝑐</m:t>
                    </m:r>
                    <m:r>
                      <a:rPr lang="pt-BR" sz="2000" b="0" i="1" u="none" strike="noStrike" baseline="0" dirty="0" smtClean="0">
                        <a:solidFill>
                          <a:srgbClr val="2F6C9C"/>
                        </a:solidFill>
                        <a:latin typeface="Cambria Math" panose="02040503050406030204" pitchFamily="18" charset="0"/>
                        <a:cs typeface="Arial" panose="020B0604020202020204" pitchFamily="34" charset="0"/>
                      </a:rPr>
                      <m:t>.</m:t>
                    </m:r>
                    <m:r>
                      <a:rPr lang="pt-BR" sz="2000" b="0" i="1" u="none" strike="noStrike" baseline="0" dirty="0" smtClean="0">
                        <a:solidFill>
                          <a:srgbClr val="2F6C9C"/>
                        </a:solidFill>
                        <a:latin typeface="Cambria Math" panose="02040503050406030204" pitchFamily="18" charset="0"/>
                        <a:cs typeface="Arial" panose="020B0604020202020204" pitchFamily="34" charset="0"/>
                      </a:rPr>
                      <m:t>𝑛</m:t>
                    </m:r>
                    <m:r>
                      <a:rPr lang="pt-BR" sz="2000" b="0" i="1" u="none" strike="noStrike" baseline="0" dirty="0" smtClean="0">
                        <a:solidFill>
                          <a:srgbClr val="5DB4E7"/>
                        </a:solidFill>
                        <a:latin typeface="Cambria Math" panose="02040503050406030204" pitchFamily="18" charset="0"/>
                        <a:cs typeface="Arial" panose="020B0604020202020204" pitchFamily="34" charset="0"/>
                      </a:rPr>
                      <m:t>⇒</m:t>
                    </m:r>
                    <m:r>
                      <a:rPr lang="pt-BR" sz="2000" b="0" i="1" u="none" strike="noStrike" baseline="0" dirty="0" smtClean="0">
                        <a:solidFill>
                          <a:srgbClr val="5DB4E7"/>
                        </a:solidFill>
                        <a:latin typeface="Cambria Math" panose="02040503050406030204" pitchFamily="18" charset="0"/>
                        <a:cs typeface="Arial" panose="020B0604020202020204" pitchFamily="34" charset="0"/>
                      </a:rPr>
                      <m:t>𝑓</m:t>
                    </m:r>
                    <m:d>
                      <m:dPr>
                        <m:ctrlPr>
                          <a:rPr lang="pt-BR" sz="2000" b="0" i="1" u="none" strike="noStrike" baseline="0" dirty="0" smtClean="0">
                            <a:solidFill>
                              <a:srgbClr val="5DB4E7"/>
                            </a:solidFill>
                            <a:latin typeface="Cambria Math" panose="02040503050406030204" pitchFamily="18" charset="0"/>
                            <a:cs typeface="Arial" panose="020B0604020202020204" pitchFamily="34" charset="0"/>
                          </a:rPr>
                        </m:ctrlPr>
                      </m:dPr>
                      <m:e>
                        <m:r>
                          <a:rPr lang="pt-BR" sz="2000" b="0" i="1" u="none" strike="noStrike" baseline="0" dirty="0" smtClean="0">
                            <a:solidFill>
                              <a:srgbClr val="5DB4E7"/>
                            </a:solidFill>
                            <a:latin typeface="Cambria Math" panose="02040503050406030204" pitchFamily="18" charset="0"/>
                            <a:cs typeface="Arial" panose="020B0604020202020204" pitchFamily="34" charset="0"/>
                          </a:rPr>
                          <m:t>10</m:t>
                        </m:r>
                        <m:r>
                          <a:rPr lang="pt-BR" sz="2000" b="0" i="1" u="none" strike="noStrike" baseline="0" dirty="0" smtClean="0">
                            <a:solidFill>
                              <a:srgbClr val="5DB4E7"/>
                            </a:solidFill>
                            <a:latin typeface="Cambria Math" panose="02040503050406030204" pitchFamily="18" charset="0"/>
                            <a:cs typeface="Arial" panose="020B0604020202020204" pitchFamily="34" charset="0"/>
                          </a:rPr>
                          <m:t>𝑛</m:t>
                        </m:r>
                      </m:e>
                    </m:d>
                    <m:r>
                      <a:rPr lang="pt-BR" sz="2000" b="0" i="1" u="none" strike="noStrike" baseline="0" dirty="0" smtClean="0">
                        <a:solidFill>
                          <a:srgbClr val="2F6C9C"/>
                        </a:solidFill>
                        <a:latin typeface="Cambria Math" panose="02040503050406030204" pitchFamily="18" charset="0"/>
                        <a:cs typeface="Arial" panose="020B0604020202020204" pitchFamily="34" charset="0"/>
                      </a:rPr>
                      <m:t>=</m:t>
                    </m:r>
                    <m:r>
                      <a:rPr lang="pt-BR" sz="2000" b="0" i="1" u="none" strike="noStrike" baseline="0" dirty="0" smtClean="0">
                        <a:solidFill>
                          <a:srgbClr val="2F6C9C"/>
                        </a:solidFill>
                        <a:latin typeface="Cambria Math" panose="02040503050406030204" pitchFamily="18" charset="0"/>
                        <a:cs typeface="Arial" panose="020B0604020202020204" pitchFamily="34" charset="0"/>
                      </a:rPr>
                      <m:t>𝑐</m:t>
                    </m:r>
                    <m:r>
                      <a:rPr lang="fr-FR" sz="2000" b="0" i="1" u="none" strike="noStrike" baseline="0" dirty="0" smtClean="0">
                        <a:solidFill>
                          <a:srgbClr val="2F6C9C"/>
                        </a:solidFill>
                        <a:latin typeface="Cambria Math" panose="02040503050406030204" pitchFamily="18" charset="0"/>
                        <a:cs typeface="Arial" panose="020B0604020202020204" pitchFamily="34" charset="0"/>
                      </a:rPr>
                      <m:t>∗</m:t>
                    </m:r>
                    <m:r>
                      <a:rPr lang="pt-BR" sz="2000" b="0" i="1" u="none" strike="noStrike" baseline="0" dirty="0" smtClean="0">
                        <a:solidFill>
                          <a:srgbClr val="2F6C9C"/>
                        </a:solidFill>
                        <a:latin typeface="Cambria Math" panose="02040503050406030204" pitchFamily="18" charset="0"/>
                        <a:cs typeface="Arial" panose="020B0604020202020204" pitchFamily="34" charset="0"/>
                      </a:rPr>
                      <m:t>(10</m:t>
                    </m:r>
                    <m:r>
                      <a:rPr lang="pt-BR" sz="2000" b="0" i="1" u="none" strike="noStrike" baseline="0" dirty="0" smtClean="0">
                        <a:solidFill>
                          <a:srgbClr val="2F6C9C"/>
                        </a:solidFill>
                        <a:latin typeface="Cambria Math" panose="02040503050406030204" pitchFamily="18" charset="0"/>
                        <a:cs typeface="Arial" panose="020B0604020202020204" pitchFamily="34" charset="0"/>
                      </a:rPr>
                      <m:t>𝑛</m:t>
                    </m:r>
                    <m:r>
                      <a:rPr lang="fr-FR" sz="2000" b="0" i="1" u="none" strike="noStrike" baseline="0" dirty="0" smtClean="0">
                        <a:solidFill>
                          <a:srgbClr val="2F6C9C"/>
                        </a:solidFill>
                        <a:latin typeface="Cambria Math" panose="02040503050406030204" pitchFamily="18" charset="0"/>
                        <a:cs typeface="Arial" panose="020B0604020202020204" pitchFamily="34" charset="0"/>
                      </a:rPr>
                      <m:t>)</m:t>
                    </m:r>
                    <m:r>
                      <a:rPr lang="pt-BR" sz="2000" b="0" i="1" u="none" strike="noStrike" baseline="0" dirty="0" smtClean="0">
                        <a:solidFill>
                          <a:srgbClr val="2F6C9C"/>
                        </a:solidFill>
                        <a:latin typeface="Cambria Math" panose="02040503050406030204" pitchFamily="18" charset="0"/>
                        <a:cs typeface="Arial" panose="020B0604020202020204" pitchFamily="34" charset="0"/>
                      </a:rPr>
                      <m:t>=10</m:t>
                    </m:r>
                    <m:r>
                      <a:rPr lang="pt-BR" sz="2000" b="0" i="1" u="none" strike="noStrike" baseline="0" dirty="0" smtClean="0">
                        <a:solidFill>
                          <a:srgbClr val="2F6C9C"/>
                        </a:solidFill>
                        <a:latin typeface="Cambria Math" panose="02040503050406030204" pitchFamily="18" charset="0"/>
                        <a:cs typeface="Arial" panose="020B0604020202020204" pitchFamily="34" charset="0"/>
                      </a:rPr>
                      <m:t>𝑓</m:t>
                    </m:r>
                    <m:r>
                      <a:rPr lang="pt-BR" sz="2000" b="0" i="1" u="none" strike="noStrike" baseline="0" dirty="0" smtClean="0">
                        <a:solidFill>
                          <a:srgbClr val="2F6C9C"/>
                        </a:solidFill>
                        <a:latin typeface="Cambria Math" panose="02040503050406030204" pitchFamily="18" charset="0"/>
                        <a:cs typeface="Arial" panose="020B0604020202020204" pitchFamily="34" charset="0"/>
                      </a:rPr>
                      <m:t>(</m:t>
                    </m:r>
                    <m:r>
                      <a:rPr lang="pt-BR" sz="2000" b="0" i="1" u="none" strike="noStrike" baseline="0" dirty="0" smtClean="0">
                        <a:solidFill>
                          <a:srgbClr val="2F6C9C"/>
                        </a:solidFill>
                        <a:latin typeface="Cambria Math" panose="02040503050406030204" pitchFamily="18" charset="0"/>
                        <a:cs typeface="Arial" panose="020B0604020202020204" pitchFamily="34" charset="0"/>
                      </a:rPr>
                      <m:t>𝑛</m:t>
                    </m:r>
                    <m:r>
                      <a:rPr lang="pt-BR" sz="2000" b="0" i="1" u="none" strike="noStrike" baseline="0" dirty="0" smtClean="0">
                        <a:solidFill>
                          <a:srgbClr val="2F6C9C"/>
                        </a:solidFill>
                        <a:latin typeface="Cambria Math" panose="02040503050406030204" pitchFamily="18" charset="0"/>
                        <a:cs typeface="Arial" panose="020B0604020202020204" pitchFamily="34" charset="0"/>
                      </a:rPr>
                      <m:t>)</m:t>
                    </m:r>
                  </m:oMath>
                </a14:m>
                <a:r>
                  <a:rPr lang="pt-BR" sz="2000" b="0" i="1" u="none" strike="noStrike" baseline="0" dirty="0">
                    <a:solidFill>
                      <a:srgbClr val="2F6C9C"/>
                    </a:solidFill>
                    <a:cs typeface="Arial" panose="020B0604020202020204" pitchFamily="34" charset="0"/>
                  </a:rPr>
                  <a:t>          		 T × </a:t>
                </a:r>
                <a:r>
                  <a:rPr lang="pt-BR" sz="2000" b="0" i="0" u="none" strike="noStrike" baseline="0" dirty="0">
                    <a:solidFill>
                      <a:srgbClr val="2F6C9C"/>
                    </a:solidFill>
                    <a:cs typeface="Arial" panose="020B0604020202020204" pitchFamily="34" charset="0"/>
                  </a:rPr>
                  <a:t>10</a:t>
                </a:r>
              </a:p>
              <a:p>
                <a:pPr marL="0" indent="0">
                  <a:buNone/>
                </a:pPr>
                <a:r>
                  <a:rPr lang="pt-BR" sz="2000" b="0" i="0" u="none" strike="noStrike" baseline="0" dirty="0">
                    <a:solidFill>
                      <a:srgbClr val="000000"/>
                    </a:solidFill>
                    <a:cs typeface="Arial" panose="020B0604020202020204" pitchFamily="34" charset="0"/>
                  </a:rPr>
                  <a:t>Si </a:t>
                </a:r>
                <a14:m>
                  <m:oMath xmlns:m="http://schemas.openxmlformats.org/officeDocument/2006/math">
                    <m:r>
                      <a:rPr lang="pt-BR" sz="2000" b="0" i="1" u="none" strike="noStrike" baseline="0" dirty="0" smtClean="0">
                        <a:solidFill>
                          <a:srgbClr val="2F6C9C"/>
                        </a:solidFill>
                        <a:latin typeface="Cambria Math" panose="02040503050406030204" pitchFamily="18" charset="0"/>
                        <a:cs typeface="Arial" panose="020B0604020202020204" pitchFamily="34" charset="0"/>
                      </a:rPr>
                      <m:t>𝑓</m:t>
                    </m:r>
                    <m:d>
                      <m:dPr>
                        <m:ctrlPr>
                          <a:rPr lang="pt-BR" sz="2000" b="0" i="1" u="none" strike="noStrike" baseline="0" dirty="0" smtClean="0">
                            <a:solidFill>
                              <a:srgbClr val="2F6C9C"/>
                            </a:solidFill>
                            <a:latin typeface="Cambria Math" panose="02040503050406030204" pitchFamily="18" charset="0"/>
                            <a:cs typeface="Arial" panose="020B0604020202020204" pitchFamily="34" charset="0"/>
                          </a:rPr>
                        </m:ctrlPr>
                      </m:dPr>
                      <m:e>
                        <m:r>
                          <a:rPr lang="pt-BR" sz="2000" b="0" i="1" u="none" strike="noStrike" baseline="0" dirty="0" smtClean="0">
                            <a:solidFill>
                              <a:srgbClr val="2F6C9C"/>
                            </a:solidFill>
                            <a:latin typeface="Cambria Math" panose="02040503050406030204" pitchFamily="18" charset="0"/>
                            <a:cs typeface="Arial" panose="020B0604020202020204" pitchFamily="34" charset="0"/>
                          </a:rPr>
                          <m:t>𝑛</m:t>
                        </m:r>
                      </m:e>
                    </m:d>
                    <m:r>
                      <a:rPr lang="pt-BR" sz="2000" b="0" i="1" u="none" strike="noStrike" baseline="0" dirty="0" smtClean="0">
                        <a:solidFill>
                          <a:srgbClr val="2F6C9C"/>
                        </a:solidFill>
                        <a:latin typeface="Cambria Math" panose="02040503050406030204" pitchFamily="18" charset="0"/>
                        <a:cs typeface="Arial" panose="020B0604020202020204" pitchFamily="34" charset="0"/>
                      </a:rPr>
                      <m:t>=</m:t>
                    </m:r>
                    <m:r>
                      <a:rPr lang="pt-BR" sz="2000" b="0" i="1" u="none" strike="noStrike" baseline="0" dirty="0" smtClean="0">
                        <a:solidFill>
                          <a:srgbClr val="2F6C9C"/>
                        </a:solidFill>
                        <a:latin typeface="Cambria Math" panose="02040503050406030204" pitchFamily="18" charset="0"/>
                        <a:cs typeface="Arial" panose="020B0604020202020204" pitchFamily="34" charset="0"/>
                      </a:rPr>
                      <m:t>𝑐</m:t>
                    </m:r>
                    <m:r>
                      <a:rPr lang="pt-BR" sz="2000" b="0" i="1" u="none" strike="noStrike" baseline="0" dirty="0" smtClean="0">
                        <a:solidFill>
                          <a:srgbClr val="2F6C9C"/>
                        </a:solidFill>
                        <a:latin typeface="Cambria Math" panose="02040503050406030204" pitchFamily="18" charset="0"/>
                        <a:cs typeface="Arial" panose="020B0604020202020204" pitchFamily="34" charset="0"/>
                      </a:rPr>
                      <m:t>.</m:t>
                    </m:r>
                    <m:sSup>
                      <m:sSupPr>
                        <m:ctrlPr>
                          <a:rPr lang="pt-BR" sz="2000" b="0" i="1" u="none" strike="noStrike" baseline="0" dirty="0" smtClean="0">
                            <a:solidFill>
                              <a:srgbClr val="2F6C9C"/>
                            </a:solidFill>
                            <a:latin typeface="Cambria Math" panose="02040503050406030204" pitchFamily="18" charset="0"/>
                            <a:cs typeface="Arial" panose="020B0604020202020204" pitchFamily="34" charset="0"/>
                          </a:rPr>
                        </m:ctrlPr>
                      </m:sSupPr>
                      <m:e>
                        <m:r>
                          <a:rPr lang="fr-FR" sz="2000" b="0" i="1" u="none" strike="noStrike" baseline="0" dirty="0" smtClean="0">
                            <a:solidFill>
                              <a:srgbClr val="2F6C9C"/>
                            </a:solidFill>
                            <a:latin typeface="Cambria Math" panose="02040503050406030204" pitchFamily="18" charset="0"/>
                            <a:cs typeface="Arial" panose="020B0604020202020204" pitchFamily="34" charset="0"/>
                          </a:rPr>
                          <m:t>𝑛</m:t>
                        </m:r>
                      </m:e>
                      <m:sup>
                        <m:r>
                          <a:rPr lang="fr-FR" sz="2000" b="0" i="1" u="none" strike="noStrike" baseline="0" dirty="0" smtClean="0">
                            <a:solidFill>
                              <a:srgbClr val="2F6C9C"/>
                            </a:solidFill>
                            <a:latin typeface="Cambria Math" panose="02040503050406030204" pitchFamily="18" charset="0"/>
                            <a:cs typeface="Arial" panose="020B0604020202020204" pitchFamily="34" charset="0"/>
                          </a:rPr>
                          <m:t>2</m:t>
                        </m:r>
                      </m:sup>
                    </m:sSup>
                    <m:r>
                      <a:rPr lang="pt-BR" sz="2000" b="0" i="1" u="none" strike="noStrike" baseline="0" dirty="0" smtClean="0">
                        <a:solidFill>
                          <a:srgbClr val="5DB4E7"/>
                        </a:solidFill>
                        <a:latin typeface="Cambria Math" panose="02040503050406030204" pitchFamily="18" charset="0"/>
                        <a:cs typeface="Arial" panose="020B0604020202020204" pitchFamily="34" charset="0"/>
                      </a:rPr>
                      <m:t>⇒</m:t>
                    </m:r>
                    <m:r>
                      <a:rPr lang="pt-BR" sz="2000" b="0" i="1" u="none" strike="noStrike" baseline="0" dirty="0" smtClean="0">
                        <a:solidFill>
                          <a:srgbClr val="5DB4E7"/>
                        </a:solidFill>
                        <a:latin typeface="Cambria Math" panose="02040503050406030204" pitchFamily="18" charset="0"/>
                        <a:cs typeface="Arial" panose="020B0604020202020204" pitchFamily="34" charset="0"/>
                      </a:rPr>
                      <m:t>𝑓</m:t>
                    </m:r>
                    <m:d>
                      <m:dPr>
                        <m:ctrlPr>
                          <a:rPr lang="pt-BR" sz="2000" b="0" i="1" u="none" strike="noStrike" baseline="0" dirty="0" smtClean="0">
                            <a:solidFill>
                              <a:srgbClr val="5DB4E7"/>
                            </a:solidFill>
                            <a:latin typeface="Cambria Math" panose="02040503050406030204" pitchFamily="18" charset="0"/>
                            <a:cs typeface="Arial" panose="020B0604020202020204" pitchFamily="34" charset="0"/>
                          </a:rPr>
                        </m:ctrlPr>
                      </m:dPr>
                      <m:e>
                        <m:r>
                          <a:rPr lang="pt-BR" sz="2000" b="0" i="1" u="none" strike="noStrike" baseline="0" dirty="0" smtClean="0">
                            <a:solidFill>
                              <a:srgbClr val="5DB4E7"/>
                            </a:solidFill>
                            <a:latin typeface="Cambria Math" panose="02040503050406030204" pitchFamily="18" charset="0"/>
                            <a:cs typeface="Arial" panose="020B0604020202020204" pitchFamily="34" charset="0"/>
                          </a:rPr>
                          <m:t>10</m:t>
                        </m:r>
                        <m:sSup>
                          <m:sSupPr>
                            <m:ctrlPr>
                              <a:rPr lang="pt-BR" sz="2000" i="1" dirty="0" smtClean="0">
                                <a:solidFill>
                                  <a:srgbClr val="5DB4E7"/>
                                </a:solidFill>
                                <a:latin typeface="Cambria Math" panose="02040503050406030204" pitchFamily="18" charset="0"/>
                                <a:cs typeface="Arial" panose="020B0604020202020204" pitchFamily="34" charset="0"/>
                              </a:rPr>
                            </m:ctrlPr>
                          </m:sSupPr>
                          <m:e>
                            <m:r>
                              <a:rPr lang="fr-FR" sz="2000" i="1" dirty="0">
                                <a:solidFill>
                                  <a:srgbClr val="5DB4E7"/>
                                </a:solidFill>
                                <a:latin typeface="Cambria Math" panose="02040503050406030204" pitchFamily="18" charset="0"/>
                                <a:cs typeface="Arial" panose="020B0604020202020204" pitchFamily="34" charset="0"/>
                              </a:rPr>
                              <m:t>𝑛</m:t>
                            </m:r>
                          </m:e>
                          <m:sup>
                            <m:r>
                              <a:rPr lang="fr-FR" sz="2000" i="1" dirty="0">
                                <a:solidFill>
                                  <a:srgbClr val="5DB4E7"/>
                                </a:solidFill>
                                <a:latin typeface="Cambria Math" panose="02040503050406030204" pitchFamily="18" charset="0"/>
                                <a:cs typeface="Arial" panose="020B0604020202020204" pitchFamily="34" charset="0"/>
                              </a:rPr>
                              <m:t>2</m:t>
                            </m:r>
                          </m:sup>
                        </m:sSup>
                      </m:e>
                    </m:d>
                    <m:r>
                      <a:rPr lang="pt-BR" sz="2000" b="0" i="1" u="none" strike="noStrike" baseline="0" dirty="0" smtClean="0">
                        <a:solidFill>
                          <a:srgbClr val="2F6C9C"/>
                        </a:solidFill>
                        <a:latin typeface="Cambria Math" panose="02040503050406030204" pitchFamily="18" charset="0"/>
                        <a:cs typeface="Arial" panose="020B0604020202020204" pitchFamily="34" charset="0"/>
                      </a:rPr>
                      <m:t>=</m:t>
                    </m:r>
                    <m:r>
                      <a:rPr lang="pt-BR" sz="2000" b="0" i="1" u="none" strike="noStrike" baseline="0" dirty="0" smtClean="0">
                        <a:solidFill>
                          <a:srgbClr val="2F6C9C"/>
                        </a:solidFill>
                        <a:latin typeface="Cambria Math" panose="02040503050406030204" pitchFamily="18" charset="0"/>
                        <a:cs typeface="Arial" panose="020B0604020202020204" pitchFamily="34" charset="0"/>
                      </a:rPr>
                      <m:t>𝑐</m:t>
                    </m:r>
                    <m:r>
                      <a:rPr lang="fr-FR" sz="2000" b="0" i="1" u="none" strike="noStrike" baseline="0" dirty="0" smtClean="0">
                        <a:solidFill>
                          <a:srgbClr val="2F6C9C"/>
                        </a:solidFill>
                        <a:latin typeface="Cambria Math" panose="02040503050406030204" pitchFamily="18" charset="0"/>
                        <a:cs typeface="Arial" panose="020B0604020202020204" pitchFamily="34" charset="0"/>
                      </a:rPr>
                      <m:t>∗</m:t>
                    </m:r>
                    <m:r>
                      <a:rPr lang="pt-BR" sz="2000" b="0" i="1" u="none" strike="noStrike" baseline="0" dirty="0" smtClean="0">
                        <a:solidFill>
                          <a:srgbClr val="2F6C9C"/>
                        </a:solidFill>
                        <a:latin typeface="Cambria Math" panose="02040503050406030204" pitchFamily="18" charset="0"/>
                        <a:cs typeface="Arial" panose="020B0604020202020204" pitchFamily="34" charset="0"/>
                      </a:rPr>
                      <m:t>(10</m:t>
                    </m:r>
                    <m:sSup>
                      <m:sSupPr>
                        <m:ctrlPr>
                          <a:rPr lang="pt-BR" sz="2000" i="1" dirty="0">
                            <a:solidFill>
                              <a:srgbClr val="2F6C9C"/>
                            </a:solidFill>
                            <a:latin typeface="Cambria Math" panose="02040503050406030204" pitchFamily="18" charset="0"/>
                            <a:cs typeface="Arial" panose="020B0604020202020204" pitchFamily="34" charset="0"/>
                          </a:rPr>
                        </m:ctrlPr>
                      </m:sSupPr>
                      <m:e>
                        <m:r>
                          <a:rPr lang="fr-FR" sz="2000" i="1" dirty="0">
                            <a:solidFill>
                              <a:srgbClr val="2F6C9C"/>
                            </a:solidFill>
                            <a:latin typeface="Cambria Math" panose="02040503050406030204" pitchFamily="18" charset="0"/>
                            <a:cs typeface="Arial" panose="020B0604020202020204" pitchFamily="34" charset="0"/>
                          </a:rPr>
                          <m:t>𝑛</m:t>
                        </m:r>
                        <m:r>
                          <a:rPr lang="fr-FR" sz="2000" b="0" i="1" dirty="0" smtClean="0">
                            <a:solidFill>
                              <a:srgbClr val="2F6C9C"/>
                            </a:solidFill>
                            <a:latin typeface="Cambria Math" panose="02040503050406030204" pitchFamily="18" charset="0"/>
                            <a:cs typeface="Arial" panose="020B0604020202020204" pitchFamily="34" charset="0"/>
                          </a:rPr>
                          <m:t>)</m:t>
                        </m:r>
                      </m:e>
                      <m:sup>
                        <m:r>
                          <a:rPr lang="fr-FR" sz="2000" i="1" dirty="0">
                            <a:solidFill>
                              <a:srgbClr val="2F6C9C"/>
                            </a:solidFill>
                            <a:latin typeface="Cambria Math" panose="02040503050406030204" pitchFamily="18" charset="0"/>
                            <a:cs typeface="Arial" panose="020B0604020202020204" pitchFamily="34" charset="0"/>
                          </a:rPr>
                          <m:t>2</m:t>
                        </m:r>
                      </m:sup>
                    </m:sSup>
                    <m:r>
                      <a:rPr lang="pt-BR" sz="2000" b="0" i="1" u="none" strike="noStrike" baseline="0" dirty="0" smtClean="0">
                        <a:solidFill>
                          <a:srgbClr val="2F6C9C"/>
                        </a:solidFill>
                        <a:latin typeface="Cambria Math" panose="02040503050406030204" pitchFamily="18" charset="0"/>
                        <a:cs typeface="Arial" panose="020B0604020202020204" pitchFamily="34" charset="0"/>
                      </a:rPr>
                      <m:t>=100</m:t>
                    </m:r>
                    <m:r>
                      <a:rPr lang="pt-BR" sz="2000" b="0" i="1" u="none" strike="noStrike" baseline="0" dirty="0" smtClean="0">
                        <a:solidFill>
                          <a:srgbClr val="2F6C9C"/>
                        </a:solidFill>
                        <a:latin typeface="Cambria Math" panose="02040503050406030204" pitchFamily="18" charset="0"/>
                        <a:cs typeface="Arial" panose="020B0604020202020204" pitchFamily="34" charset="0"/>
                      </a:rPr>
                      <m:t>𝑓</m:t>
                    </m:r>
                    <m:r>
                      <a:rPr lang="pt-BR" sz="2000" b="0" i="1" u="none" strike="noStrike" baseline="0" dirty="0" smtClean="0">
                        <a:solidFill>
                          <a:srgbClr val="2F6C9C"/>
                        </a:solidFill>
                        <a:latin typeface="Cambria Math" panose="02040503050406030204" pitchFamily="18" charset="0"/>
                        <a:cs typeface="Arial" panose="020B0604020202020204" pitchFamily="34" charset="0"/>
                      </a:rPr>
                      <m:t>(</m:t>
                    </m:r>
                    <m:r>
                      <a:rPr lang="pt-BR" sz="2000" b="0" i="1" u="none" strike="noStrike" baseline="0" dirty="0" smtClean="0">
                        <a:solidFill>
                          <a:srgbClr val="2F6C9C"/>
                        </a:solidFill>
                        <a:latin typeface="Cambria Math" panose="02040503050406030204" pitchFamily="18" charset="0"/>
                        <a:cs typeface="Arial" panose="020B0604020202020204" pitchFamily="34" charset="0"/>
                      </a:rPr>
                      <m:t>𝑛</m:t>
                    </m:r>
                    <m:r>
                      <a:rPr lang="pt-BR" sz="2000" b="0" i="1" u="none" strike="noStrike" baseline="0" dirty="0" smtClean="0">
                        <a:solidFill>
                          <a:srgbClr val="2F6C9C"/>
                        </a:solidFill>
                        <a:latin typeface="Cambria Math" panose="02040503050406030204" pitchFamily="18" charset="0"/>
                        <a:cs typeface="Arial" panose="020B0604020202020204" pitchFamily="34" charset="0"/>
                      </a:rPr>
                      <m:t>)</m:t>
                    </m:r>
                  </m:oMath>
                </a14:m>
                <a:r>
                  <a:rPr lang="pt-BR" sz="2000" b="0" i="0" u="none" strike="noStrike" baseline="0" dirty="0">
                    <a:solidFill>
                      <a:srgbClr val="2F6C9C"/>
                    </a:solidFill>
                    <a:cs typeface="Arial" panose="020B0604020202020204" pitchFamily="34" charset="0"/>
                  </a:rPr>
                  <a:t>   		</a:t>
                </a:r>
                <a:r>
                  <a:rPr lang="pt-BR" sz="2000" b="0" i="1" u="none" strike="noStrike" baseline="0" dirty="0">
                    <a:solidFill>
                      <a:srgbClr val="2F6C9C"/>
                    </a:solidFill>
                    <a:cs typeface="Arial" panose="020B0604020202020204" pitchFamily="34" charset="0"/>
                  </a:rPr>
                  <a:t>T × </a:t>
                </a:r>
                <a:r>
                  <a:rPr lang="pt-BR" sz="2000" b="0" i="0" u="none" strike="noStrike" baseline="0" dirty="0">
                    <a:solidFill>
                      <a:srgbClr val="2F6C9C"/>
                    </a:solidFill>
                    <a:cs typeface="Arial" panose="020B0604020202020204" pitchFamily="34" charset="0"/>
                  </a:rPr>
                  <a:t>100</a:t>
                </a:r>
              </a:p>
              <a:p>
                <a:endParaRPr lang="fr-FR" b="0" i="0" u="none" strike="noStrike" baseline="0" dirty="0">
                  <a:solidFill>
                    <a:srgbClr val="000000"/>
                  </a:solidFill>
                  <a:cs typeface="Arial" panose="020B0604020202020204" pitchFamily="34" charset="0"/>
                </a:endParaRPr>
              </a:p>
              <a:p>
                <a:r>
                  <a:rPr lang="fr-FR" b="0" i="0" u="none" strike="noStrike" baseline="0" dirty="0">
                    <a:solidFill>
                      <a:srgbClr val="000000"/>
                    </a:solidFill>
                    <a:cs typeface="Arial" panose="020B0604020202020204" pitchFamily="34" charset="0"/>
                  </a:rPr>
                  <a:t>La vitesse du processeur est un des facteurs qui conditionnent la valeur de la constante </a:t>
                </a:r>
                <a:r>
                  <a:rPr lang="fr-FR" b="0" i="1" u="none" strike="noStrike" baseline="0" dirty="0">
                    <a:solidFill>
                      <a:srgbClr val="2F6C9C"/>
                    </a:solidFill>
                    <a:cs typeface="Arial" panose="020B0604020202020204" pitchFamily="34" charset="0"/>
                  </a:rPr>
                  <a:t>c</a:t>
                </a:r>
              </a:p>
              <a:p>
                <a:r>
                  <a:rPr lang="fr-FR" b="0" i="0" u="none" strike="noStrike" baseline="0" dirty="0">
                    <a:solidFill>
                      <a:srgbClr val="000000"/>
                    </a:solidFill>
                    <a:cs typeface="Arial" panose="020B0604020202020204" pitchFamily="34" charset="0"/>
                  </a:rPr>
                  <a:t>Mais la vitesse du processeur ne change rien au rapport </a:t>
                </a:r>
              </a:p>
              <a:p>
                <a:pPr marL="0" indent="0">
                  <a:buNone/>
                </a:pPr>
                <a14:m>
                  <m:oMathPara xmlns:m="http://schemas.openxmlformats.org/officeDocument/2006/math">
                    <m:oMathParaPr>
                      <m:jc m:val="centerGroup"/>
                    </m:oMathParaPr>
                    <m:oMath xmlns:m="http://schemas.openxmlformats.org/officeDocument/2006/math">
                      <m:f>
                        <m:fPr>
                          <m:type m:val="skw"/>
                          <m:ctrlPr>
                            <a:rPr lang="fr-FR" b="0" i="1" u="none" strike="noStrike" baseline="0" dirty="0" smtClean="0">
                              <a:solidFill>
                                <a:srgbClr val="2F6C9C"/>
                              </a:solidFill>
                              <a:latin typeface="Cambria Math" panose="02040503050406030204" pitchFamily="18" charset="0"/>
                              <a:cs typeface="Arial" panose="020B0604020202020204" pitchFamily="34" charset="0"/>
                            </a:rPr>
                          </m:ctrlPr>
                        </m:fPr>
                        <m:num>
                          <m:r>
                            <a:rPr lang="fr-FR" b="0" i="1" u="none" strike="noStrike" baseline="0" dirty="0" smtClean="0">
                              <a:solidFill>
                                <a:srgbClr val="2F6C9C"/>
                              </a:solidFill>
                              <a:latin typeface="Cambria Math" panose="02040503050406030204" pitchFamily="18" charset="0"/>
                              <a:cs typeface="Arial" panose="020B0604020202020204" pitchFamily="34" charset="0"/>
                            </a:rPr>
                            <m:t>𝑓</m:t>
                          </m:r>
                          <m:r>
                            <a:rPr lang="fr-FR" b="0" i="1" u="none" strike="noStrike" baseline="0" dirty="0" smtClean="0">
                              <a:solidFill>
                                <a:srgbClr val="2F6C9C"/>
                              </a:solidFill>
                              <a:latin typeface="Cambria Math" panose="02040503050406030204" pitchFamily="18" charset="0"/>
                              <a:cs typeface="Arial" panose="020B0604020202020204" pitchFamily="34" charset="0"/>
                            </a:rPr>
                            <m:t>(10</m:t>
                          </m:r>
                          <m:r>
                            <a:rPr lang="fr-FR" b="0" i="1" u="none" strike="noStrike" baseline="0" dirty="0" smtClean="0">
                              <a:solidFill>
                                <a:srgbClr val="2F6C9C"/>
                              </a:solidFill>
                              <a:latin typeface="Cambria Math" panose="02040503050406030204" pitchFamily="18" charset="0"/>
                              <a:cs typeface="Arial" panose="020B0604020202020204" pitchFamily="34" charset="0"/>
                            </a:rPr>
                            <m:t>𝑛</m:t>
                          </m:r>
                          <m:r>
                            <a:rPr lang="fr-FR" b="0" i="1" u="none" strike="noStrike" baseline="0" dirty="0" smtClean="0">
                              <a:solidFill>
                                <a:srgbClr val="2F6C9C"/>
                              </a:solidFill>
                              <a:latin typeface="Cambria Math" panose="02040503050406030204" pitchFamily="18" charset="0"/>
                              <a:cs typeface="Arial" panose="020B0604020202020204" pitchFamily="34" charset="0"/>
                            </a:rPr>
                            <m:t>)</m:t>
                          </m:r>
                        </m:num>
                        <m:den>
                          <m:r>
                            <a:rPr lang="fr-FR" b="0" i="1" u="none" strike="noStrike" baseline="0" dirty="0" smtClean="0">
                              <a:solidFill>
                                <a:srgbClr val="2F6C9C"/>
                              </a:solidFill>
                              <a:latin typeface="Cambria Math" panose="02040503050406030204" pitchFamily="18" charset="0"/>
                              <a:cs typeface="Arial" panose="020B0604020202020204" pitchFamily="34" charset="0"/>
                            </a:rPr>
                            <m:t>𝑓</m:t>
                          </m:r>
                          <m:r>
                            <a:rPr lang="fr-FR" b="0" i="1" u="none" strike="noStrike" baseline="0" dirty="0" smtClean="0">
                              <a:solidFill>
                                <a:srgbClr val="2F6C9C"/>
                              </a:solidFill>
                              <a:latin typeface="Cambria Math" panose="02040503050406030204" pitchFamily="18" charset="0"/>
                              <a:cs typeface="Arial" panose="020B0604020202020204" pitchFamily="34" charset="0"/>
                            </a:rPr>
                            <m:t>(</m:t>
                          </m:r>
                          <m:r>
                            <a:rPr lang="fr-FR" b="0" i="1" u="none" strike="noStrike" baseline="0" dirty="0" smtClean="0">
                              <a:solidFill>
                                <a:srgbClr val="2F6C9C"/>
                              </a:solidFill>
                              <a:latin typeface="Cambria Math" panose="02040503050406030204" pitchFamily="18" charset="0"/>
                              <a:cs typeface="Arial" panose="020B0604020202020204" pitchFamily="34" charset="0"/>
                            </a:rPr>
                            <m:t>𝑛</m:t>
                          </m:r>
                          <m:r>
                            <a:rPr lang="fr-FR" b="0" i="1" u="none" strike="noStrike" baseline="0" dirty="0" smtClean="0">
                              <a:solidFill>
                                <a:srgbClr val="2F6C9C"/>
                              </a:solidFill>
                              <a:latin typeface="Cambria Math" panose="02040503050406030204" pitchFamily="18" charset="0"/>
                              <a:cs typeface="Arial" panose="020B0604020202020204" pitchFamily="34" charset="0"/>
                            </a:rPr>
                            <m:t>)</m:t>
                          </m:r>
                        </m:den>
                      </m:f>
                    </m:oMath>
                  </m:oMathPara>
                </a14:m>
                <a:endParaRPr lang="fr-BE" dirty="0">
                  <a:cs typeface="Arial" panose="020B0604020202020204" pitchFamily="34" charset="0"/>
                </a:endParaRPr>
              </a:p>
            </p:txBody>
          </p:sp>
        </mc:Choice>
        <mc:Fallback xmlns="">
          <p:sp>
            <p:nvSpPr>
              <p:cNvPr id="2" name="Espace réservé du contenu 1">
                <a:extLst>
                  <a:ext uri="{FF2B5EF4-FFF2-40B4-BE49-F238E27FC236}">
                    <a16:creationId xmlns:a16="http://schemas.microsoft.com/office/drawing/2014/main" id="{470D538A-6400-4582-93B8-D5F54D11B776}"/>
                  </a:ext>
                </a:extLst>
              </p:cNvPr>
              <p:cNvSpPr>
                <a:spLocks noGrp="1" noRot="1" noChangeAspect="1" noMove="1" noResize="1" noEditPoints="1" noAdjustHandles="1" noChangeArrowheads="1" noChangeShapeType="1" noTextEdit="1"/>
              </p:cNvSpPr>
              <p:nvPr>
                <p:ph idx="1"/>
              </p:nvPr>
            </p:nvSpPr>
            <p:spPr>
              <a:xfrm>
                <a:off x="318977" y="1627464"/>
                <a:ext cx="8539273" cy="4347309"/>
              </a:xfrm>
              <a:blipFill>
                <a:blip r:embed="rId2"/>
                <a:stretch>
                  <a:fillRect l="-2926" t="-1823"/>
                </a:stretch>
              </a:blipFill>
            </p:spPr>
            <p:txBody>
              <a:bodyPr/>
              <a:lstStyle/>
              <a:p>
                <a:r>
                  <a:rPr lang="fr-BE">
                    <a:noFill/>
                  </a:rPr>
                  <a:t> </a:t>
                </a:r>
              </a:p>
            </p:txBody>
          </p:sp>
        </mc:Fallback>
      </mc:AlternateContent>
      <p:sp>
        <p:nvSpPr>
          <p:cNvPr id="3" name="Titre 2">
            <a:extLst>
              <a:ext uri="{FF2B5EF4-FFF2-40B4-BE49-F238E27FC236}">
                <a16:creationId xmlns:a16="http://schemas.microsoft.com/office/drawing/2014/main" id="{8BBDE96D-AD3E-4B4C-9A5E-A2616B16E426}"/>
              </a:ext>
            </a:extLst>
          </p:cNvPr>
          <p:cNvSpPr>
            <a:spLocks noGrp="1"/>
          </p:cNvSpPr>
          <p:nvPr>
            <p:ph type="title"/>
          </p:nvPr>
        </p:nvSpPr>
        <p:spPr/>
        <p:txBody>
          <a:bodyPr>
            <a:normAutofit fontScale="90000"/>
          </a:bodyPr>
          <a:lstStyle/>
          <a:p>
            <a:r>
              <a:rPr lang="fr-FR" dirty="0"/>
              <a:t>Comment le temps évolue ?</a:t>
            </a:r>
            <a:endParaRPr lang="fr-BE" dirty="0"/>
          </a:p>
        </p:txBody>
      </p:sp>
      <p:sp>
        <p:nvSpPr>
          <p:cNvPr id="4" name="Espace réservé du numéro de diapositive 3">
            <a:extLst>
              <a:ext uri="{FF2B5EF4-FFF2-40B4-BE49-F238E27FC236}">
                <a16:creationId xmlns:a16="http://schemas.microsoft.com/office/drawing/2014/main" id="{AABFD417-4839-4CA4-9F34-797960E594CE}"/>
              </a:ext>
            </a:extLst>
          </p:cNvPr>
          <p:cNvSpPr>
            <a:spLocks noGrp="1"/>
          </p:cNvSpPr>
          <p:nvPr>
            <p:ph type="sldNum" sz="quarter" idx="10"/>
          </p:nvPr>
        </p:nvSpPr>
        <p:spPr/>
        <p:txBody>
          <a:bodyPr/>
          <a:lstStyle/>
          <a:p>
            <a:fld id="{26DF9506-C750-44C3-8E12-610AD4C8F1FD}" type="slidenum">
              <a:rPr lang="fr-BE" smtClean="0"/>
              <a:t>26</a:t>
            </a:fld>
            <a:endParaRPr lang="fr-BE"/>
          </a:p>
        </p:txBody>
      </p:sp>
    </p:spTree>
    <p:extLst>
      <p:ext uri="{BB962C8B-B14F-4D97-AF65-F5344CB8AC3E}">
        <p14:creationId xmlns:p14="http://schemas.microsoft.com/office/powerpoint/2010/main" val="3515321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A4B1D92-11FA-480A-A614-BE933095D73C}"/>
              </a:ext>
            </a:extLst>
          </p:cNvPr>
          <p:cNvSpPr>
            <a:spLocks noGrp="1"/>
          </p:cNvSpPr>
          <p:nvPr>
            <p:ph idx="1"/>
          </p:nvPr>
        </p:nvSpPr>
        <p:spPr/>
        <p:txBody>
          <a:bodyPr/>
          <a:lstStyle/>
          <a:p>
            <a:endParaRPr lang="fr-FR" dirty="0"/>
          </a:p>
          <a:p>
            <a:r>
              <a:rPr lang="fr-FR" dirty="0"/>
              <a:t>Dans ce type de problème, la constante correspond à tout ce qui ne dépend pas de la taille du problème même si elle peut varier !</a:t>
            </a:r>
          </a:p>
          <a:p>
            <a:endParaRPr lang="fr-FR" dirty="0"/>
          </a:p>
          <a:p>
            <a:r>
              <a:rPr lang="fr-FR" dirty="0"/>
              <a:t>On peut, dans notre cas, négliger les constantes !</a:t>
            </a:r>
            <a:endParaRPr lang="fr-BE" dirty="0"/>
          </a:p>
        </p:txBody>
      </p:sp>
      <p:sp>
        <p:nvSpPr>
          <p:cNvPr id="3" name="Titre 2">
            <a:extLst>
              <a:ext uri="{FF2B5EF4-FFF2-40B4-BE49-F238E27FC236}">
                <a16:creationId xmlns:a16="http://schemas.microsoft.com/office/drawing/2014/main" id="{610DDFC4-BF6A-4D06-9D9F-0E46D30B8D54}"/>
              </a:ext>
            </a:extLst>
          </p:cNvPr>
          <p:cNvSpPr>
            <a:spLocks noGrp="1"/>
          </p:cNvSpPr>
          <p:nvPr>
            <p:ph type="title"/>
          </p:nvPr>
        </p:nvSpPr>
        <p:spPr/>
        <p:txBody>
          <a:bodyPr/>
          <a:lstStyle/>
          <a:p>
            <a:r>
              <a:rPr lang="fr-FR" dirty="0"/>
              <a:t>En résumé</a:t>
            </a:r>
            <a:endParaRPr lang="fr-BE" dirty="0"/>
          </a:p>
        </p:txBody>
      </p:sp>
      <p:sp>
        <p:nvSpPr>
          <p:cNvPr id="4" name="Espace réservé du numéro de diapositive 3">
            <a:extLst>
              <a:ext uri="{FF2B5EF4-FFF2-40B4-BE49-F238E27FC236}">
                <a16:creationId xmlns:a16="http://schemas.microsoft.com/office/drawing/2014/main" id="{3E223E8F-2297-47E6-8E7E-5177E6E6D3D1}"/>
              </a:ext>
            </a:extLst>
          </p:cNvPr>
          <p:cNvSpPr>
            <a:spLocks noGrp="1"/>
          </p:cNvSpPr>
          <p:nvPr>
            <p:ph type="sldNum" sz="quarter" idx="10"/>
          </p:nvPr>
        </p:nvSpPr>
        <p:spPr/>
        <p:txBody>
          <a:bodyPr/>
          <a:lstStyle/>
          <a:p>
            <a:fld id="{26DF9506-C750-44C3-8E12-610AD4C8F1FD}" type="slidenum">
              <a:rPr lang="fr-BE" smtClean="0"/>
              <a:t>27</a:t>
            </a:fld>
            <a:endParaRPr lang="fr-BE"/>
          </a:p>
        </p:txBody>
      </p:sp>
    </p:spTree>
    <p:extLst>
      <p:ext uri="{BB962C8B-B14F-4D97-AF65-F5344CB8AC3E}">
        <p14:creationId xmlns:p14="http://schemas.microsoft.com/office/powerpoint/2010/main" val="2509597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8F98779C-0D69-47B8-A261-AF5D7EC8655D}"/>
              </a:ext>
            </a:extLst>
          </p:cNvPr>
          <p:cNvSpPr>
            <a:spLocks noGrp="1"/>
          </p:cNvSpPr>
          <p:nvPr>
            <p:ph idx="1"/>
          </p:nvPr>
        </p:nvSpPr>
        <p:spPr/>
        <p:txBody>
          <a:bodyPr/>
          <a:lstStyle/>
          <a:p>
            <a:r>
              <a:rPr lang="fr-FR" dirty="0"/>
              <a:t>C’est une instruction en langage de haut niveau</a:t>
            </a:r>
          </a:p>
          <a:p>
            <a:endParaRPr lang="fr-FR" dirty="0"/>
          </a:p>
          <a:p>
            <a:r>
              <a:rPr lang="fr-FR" dirty="0"/>
              <a:t>Elle représente un nombre constant d’opérations élémentaires exécutées par le processeur</a:t>
            </a:r>
          </a:p>
          <a:p>
            <a:endParaRPr lang="fr-FR" dirty="0"/>
          </a:p>
          <a:p>
            <a:r>
              <a:rPr lang="fr-FR" dirty="0"/>
              <a:t>Exemples :</a:t>
            </a:r>
          </a:p>
          <a:p>
            <a:pPr marL="457200" lvl="1" indent="0">
              <a:buNone/>
            </a:pPr>
            <a:r>
              <a:rPr lang="fr-FR" dirty="0"/>
              <a:t>Une affectation, une comparaison, un embranchement, une opération arithmétique, un accès à un tableau, un return, un appel de fonction, …</a:t>
            </a:r>
            <a:endParaRPr lang="fr-BE" dirty="0"/>
          </a:p>
        </p:txBody>
      </p:sp>
      <p:sp>
        <p:nvSpPr>
          <p:cNvPr id="3" name="Titre 2">
            <a:extLst>
              <a:ext uri="{FF2B5EF4-FFF2-40B4-BE49-F238E27FC236}">
                <a16:creationId xmlns:a16="http://schemas.microsoft.com/office/drawing/2014/main" id="{45EB700D-EC6C-4E56-B3BC-5E3267FA4B6B}"/>
              </a:ext>
            </a:extLst>
          </p:cNvPr>
          <p:cNvSpPr>
            <a:spLocks noGrp="1"/>
          </p:cNvSpPr>
          <p:nvPr>
            <p:ph type="title"/>
          </p:nvPr>
        </p:nvSpPr>
        <p:spPr/>
        <p:txBody>
          <a:bodyPr/>
          <a:lstStyle/>
          <a:p>
            <a:r>
              <a:rPr lang="fr-FR" dirty="0"/>
              <a:t>Opération primitive</a:t>
            </a:r>
            <a:endParaRPr lang="fr-BE" dirty="0"/>
          </a:p>
        </p:txBody>
      </p:sp>
      <p:sp>
        <p:nvSpPr>
          <p:cNvPr id="4" name="Espace réservé du numéro de diapositive 3">
            <a:extLst>
              <a:ext uri="{FF2B5EF4-FFF2-40B4-BE49-F238E27FC236}">
                <a16:creationId xmlns:a16="http://schemas.microsoft.com/office/drawing/2014/main" id="{2CE90375-C3FE-45BF-8C75-CDB8199E1A30}"/>
              </a:ext>
            </a:extLst>
          </p:cNvPr>
          <p:cNvSpPr>
            <a:spLocks noGrp="1"/>
          </p:cNvSpPr>
          <p:nvPr>
            <p:ph type="sldNum" sz="quarter" idx="10"/>
          </p:nvPr>
        </p:nvSpPr>
        <p:spPr/>
        <p:txBody>
          <a:bodyPr/>
          <a:lstStyle/>
          <a:p>
            <a:fld id="{26DF9506-C750-44C3-8E12-610AD4C8F1FD}" type="slidenum">
              <a:rPr lang="fr-BE" smtClean="0"/>
              <a:t>28</a:t>
            </a:fld>
            <a:endParaRPr lang="fr-BE"/>
          </a:p>
        </p:txBody>
      </p:sp>
    </p:spTree>
    <p:extLst>
      <p:ext uri="{BB962C8B-B14F-4D97-AF65-F5344CB8AC3E}">
        <p14:creationId xmlns:p14="http://schemas.microsoft.com/office/powerpoint/2010/main" val="327556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9E8F1780-DCBA-44A0-BC4C-101824ED2803}"/>
                  </a:ext>
                </a:extLst>
              </p:cNvPr>
              <p:cNvSpPr>
                <a:spLocks noGrp="1"/>
              </p:cNvSpPr>
              <p:nvPr>
                <p:ph idx="1"/>
              </p:nvPr>
            </p:nvSpPr>
            <p:spPr/>
            <p:txBody>
              <a:bodyPr/>
              <a:lstStyle/>
              <a:p>
                <a:r>
                  <a:rPr lang="fr-FR" dirty="0"/>
                  <a:t>Notation dite « Big O » ➜</a:t>
                </a:r>
                <a14:m>
                  <m:oMath xmlns:m="http://schemas.openxmlformats.org/officeDocument/2006/math">
                    <m:r>
                      <a:rPr lang="fr-FR" i="1" dirty="0" smtClean="0">
                        <a:latin typeface="Cambria Math" panose="02040503050406030204" pitchFamily="18" charset="0"/>
                      </a:rPr>
                      <m:t> </m:t>
                    </m:r>
                    <m:r>
                      <a:rPr lang="fr-FR" b="0" i="1" dirty="0" smtClean="0">
                        <a:latin typeface="Cambria Math" panose="02040503050406030204" pitchFamily="18" charset="0"/>
                      </a:rPr>
                      <m:t>𝑂</m:t>
                    </m:r>
                    <m:r>
                      <a:rPr lang="fr-FR" b="0" i="1" dirty="0" smtClean="0">
                        <a:latin typeface="Cambria Math" panose="02040503050406030204" pitchFamily="18" charset="0"/>
                      </a:rPr>
                      <m:t>(</m:t>
                    </m:r>
                    <m:r>
                      <a:rPr lang="fr-FR" b="0" i="1" dirty="0" smtClean="0">
                        <a:latin typeface="Cambria Math" panose="02040503050406030204" pitchFamily="18" charset="0"/>
                      </a:rPr>
                      <m:t>𝑓</m:t>
                    </m:r>
                    <m:d>
                      <m:dPr>
                        <m:ctrlPr>
                          <a:rPr lang="fr-FR" b="0" i="1" dirty="0" smtClean="0">
                            <a:latin typeface="Cambria Math" panose="02040503050406030204" pitchFamily="18" charset="0"/>
                          </a:rPr>
                        </m:ctrlPr>
                      </m:dPr>
                      <m:e>
                        <m:r>
                          <a:rPr lang="fr-FR" b="0" i="1" dirty="0" smtClean="0">
                            <a:latin typeface="Cambria Math" panose="02040503050406030204" pitchFamily="18" charset="0"/>
                          </a:rPr>
                          <m:t>𝑛</m:t>
                        </m:r>
                      </m:e>
                    </m:d>
                    <m:r>
                      <a:rPr lang="fr-FR" b="0" i="1" dirty="0" smtClean="0">
                        <a:latin typeface="Cambria Math" panose="02040503050406030204" pitchFamily="18" charset="0"/>
                      </a:rPr>
                      <m:t>)</m:t>
                    </m:r>
                  </m:oMath>
                </a14:m>
                <a:endParaRPr lang="fr-BE" dirty="0"/>
              </a:p>
              <a:p>
                <a:endParaRPr lang="fr-BE" dirty="0"/>
              </a:p>
              <a:p>
                <a:r>
                  <a:rPr lang="fr-BE" dirty="0"/>
                  <a:t>On ne retient que la grandeur :</a:t>
                </a:r>
              </a:p>
              <a:p>
                <a:pPr marL="274320" lvl="1" indent="0">
                  <a:buNone/>
                </a:pPr>
                <a:r>
                  <a:rPr lang="fr-BE" dirty="0"/>
                  <a:t>Exemple : </a:t>
                </a:r>
                <a14:m>
                  <m:oMath xmlns:m="http://schemas.openxmlformats.org/officeDocument/2006/math">
                    <m:r>
                      <m:rPr>
                        <m:nor/>
                      </m:rPr>
                      <a:rPr lang="fr-BE" i="1"/>
                      <m:t>O</m:t>
                    </m:r>
                    <m:r>
                      <m:rPr>
                        <m:nor/>
                      </m:rPr>
                      <a:rPr lang="fr-BE"/>
                      <m:t>(3</m:t>
                    </m:r>
                    <m:r>
                      <m:rPr>
                        <m:nor/>
                      </m:rPr>
                      <a:rPr lang="fr-BE" i="1"/>
                      <m:t>n</m:t>
                    </m:r>
                    <m:r>
                      <m:rPr>
                        <m:nor/>
                      </m:rPr>
                      <a:rPr lang="fr-BE"/>
                      <m:t>² + 5</m:t>
                    </m:r>
                    <m:r>
                      <m:rPr>
                        <m:nor/>
                      </m:rPr>
                      <a:rPr lang="fr-BE" i="1"/>
                      <m:t>n</m:t>
                    </m:r>
                    <m:r>
                      <m:rPr>
                        <m:nor/>
                      </m:rPr>
                      <a:rPr lang="fr-BE"/>
                      <m:t> + 7)</m:t>
                    </m:r>
                  </m:oMath>
                </a14:m>
                <a:r>
                  <a:rPr lang="fr-BE" dirty="0"/>
                  <a:t> </a:t>
                </a:r>
                <a:r>
                  <a:rPr lang="fr-FR" dirty="0"/>
                  <a:t>➜</a:t>
                </a:r>
                <a:r>
                  <a:rPr lang="fr-BE" dirty="0"/>
                  <a:t> </a:t>
                </a:r>
                <a14:m>
                  <m:oMath xmlns:m="http://schemas.openxmlformats.org/officeDocument/2006/math">
                    <m:r>
                      <m:rPr>
                        <m:nor/>
                      </m:rPr>
                      <a:rPr lang="fr-BE" i="1"/>
                      <m:t>O</m:t>
                    </m:r>
                    <m:r>
                      <m:rPr>
                        <m:nor/>
                      </m:rPr>
                      <a:rPr lang="fr-BE"/>
                      <m:t>(</m:t>
                    </m:r>
                    <m:r>
                      <m:rPr>
                        <m:nor/>
                      </m:rPr>
                      <a:rPr lang="fr-BE" i="1"/>
                      <m:t>n</m:t>
                    </m:r>
                    <m:r>
                      <m:rPr>
                        <m:nor/>
                      </m:rPr>
                      <a:rPr lang="fr-BE"/>
                      <m:t>²</m:t>
                    </m:r>
                  </m:oMath>
                </a14:m>
                <a:r>
                  <a:rPr lang="fr-BE" dirty="0"/>
                  <a:t>)</a:t>
                </a:r>
              </a:p>
              <a:p>
                <a:endParaRPr lang="fr-BE" dirty="0"/>
              </a:p>
              <a:p>
                <a:r>
                  <a:rPr lang="fr-BE" dirty="0"/>
                  <a:t>Indépendante :</a:t>
                </a:r>
              </a:p>
              <a:p>
                <a:pPr lvl="1"/>
                <a:r>
                  <a:rPr lang="fr-FR" dirty="0"/>
                  <a:t>du langage de programmation utilisé</a:t>
                </a:r>
              </a:p>
              <a:p>
                <a:pPr lvl="1"/>
                <a:r>
                  <a:rPr lang="fr-FR" dirty="0"/>
                  <a:t>du processeur de l’ordinateur sur lequel sera exécuté le code</a:t>
                </a:r>
              </a:p>
              <a:p>
                <a:pPr lvl="1"/>
                <a:r>
                  <a:rPr lang="fr-FR" dirty="0"/>
                  <a:t>de l’éventuel compilateur employé.</a:t>
                </a:r>
                <a:endParaRPr lang="fr-BE" dirty="0"/>
              </a:p>
              <a:p>
                <a:endParaRPr lang="fr-BE" dirty="0"/>
              </a:p>
            </p:txBody>
          </p:sp>
        </mc:Choice>
        <mc:Fallback xmlns="">
          <p:sp>
            <p:nvSpPr>
              <p:cNvPr id="2" name="Espace réservé du contenu 1">
                <a:extLst>
                  <a:ext uri="{FF2B5EF4-FFF2-40B4-BE49-F238E27FC236}">
                    <a16:creationId xmlns:a16="http://schemas.microsoft.com/office/drawing/2014/main" id="{9E8F1780-DCBA-44A0-BC4C-101824ED2803}"/>
                  </a:ext>
                </a:extLst>
              </p:cNvPr>
              <p:cNvSpPr>
                <a:spLocks noGrp="1" noRot="1" noChangeAspect="1" noMove="1" noResize="1" noEditPoints="1" noAdjustHandles="1" noChangeArrowheads="1" noChangeShapeType="1" noTextEdit="1"/>
              </p:cNvSpPr>
              <p:nvPr>
                <p:ph idx="1"/>
              </p:nvPr>
            </p:nvSpPr>
            <p:spPr>
              <a:blipFill>
                <a:blip r:embed="rId2"/>
                <a:stretch>
                  <a:fillRect l="-2926" t="-10314"/>
                </a:stretch>
              </a:blipFill>
            </p:spPr>
            <p:txBody>
              <a:bodyPr/>
              <a:lstStyle/>
              <a:p>
                <a:r>
                  <a:rPr lang="fr-BE">
                    <a:noFill/>
                  </a:rPr>
                  <a:t> </a:t>
                </a:r>
              </a:p>
            </p:txBody>
          </p:sp>
        </mc:Fallback>
      </mc:AlternateContent>
      <p:sp>
        <p:nvSpPr>
          <p:cNvPr id="3" name="Titre 2">
            <a:extLst>
              <a:ext uri="{FF2B5EF4-FFF2-40B4-BE49-F238E27FC236}">
                <a16:creationId xmlns:a16="http://schemas.microsoft.com/office/drawing/2014/main" id="{24D6062D-071E-4A22-9276-5F8ACC695AD9}"/>
              </a:ext>
            </a:extLst>
          </p:cNvPr>
          <p:cNvSpPr>
            <a:spLocks noGrp="1"/>
          </p:cNvSpPr>
          <p:nvPr>
            <p:ph type="title"/>
          </p:nvPr>
        </p:nvSpPr>
        <p:spPr>
          <a:xfrm>
            <a:off x="4093828" y="228600"/>
            <a:ext cx="4764421" cy="962247"/>
          </a:xfrm>
        </p:spPr>
        <p:txBody>
          <a:bodyPr>
            <a:normAutofit fontScale="90000"/>
          </a:bodyPr>
          <a:lstStyle/>
          <a:p>
            <a:r>
              <a:rPr lang="fr-FR" dirty="0"/>
              <a:t>La complexité temporelle</a:t>
            </a:r>
            <a:endParaRPr lang="fr-BE" dirty="0"/>
          </a:p>
        </p:txBody>
      </p:sp>
      <p:sp>
        <p:nvSpPr>
          <p:cNvPr id="4" name="Espace réservé du numéro de diapositive 3">
            <a:extLst>
              <a:ext uri="{FF2B5EF4-FFF2-40B4-BE49-F238E27FC236}">
                <a16:creationId xmlns:a16="http://schemas.microsoft.com/office/drawing/2014/main" id="{0505989D-643E-4E2C-AD1A-6F11BD59F54B}"/>
              </a:ext>
            </a:extLst>
          </p:cNvPr>
          <p:cNvSpPr>
            <a:spLocks noGrp="1"/>
          </p:cNvSpPr>
          <p:nvPr>
            <p:ph type="sldNum" sz="quarter" idx="10"/>
          </p:nvPr>
        </p:nvSpPr>
        <p:spPr/>
        <p:txBody>
          <a:bodyPr/>
          <a:lstStyle/>
          <a:p>
            <a:fld id="{26DF9506-C750-44C3-8E12-610AD4C8F1FD}" type="slidenum">
              <a:rPr lang="fr-BE" smtClean="0"/>
              <a:t>29</a:t>
            </a:fld>
            <a:endParaRPr lang="fr-BE"/>
          </a:p>
        </p:txBody>
      </p:sp>
    </p:spTree>
    <p:extLst>
      <p:ext uri="{BB962C8B-B14F-4D97-AF65-F5344CB8AC3E}">
        <p14:creationId xmlns:p14="http://schemas.microsoft.com/office/powerpoint/2010/main" val="2188996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55EAE188-8388-496C-BFBE-A2F6AD87ECD3}"/>
                  </a:ext>
                </a:extLst>
              </p:cNvPr>
              <p:cNvSpPr>
                <a:spLocks noGrp="1"/>
              </p:cNvSpPr>
              <p:nvPr>
                <p:ph idx="1"/>
              </p:nvPr>
            </p:nvSpPr>
            <p:spPr/>
            <p:txBody>
              <a:bodyPr/>
              <a:lstStyle/>
              <a:p>
                <a:r>
                  <a:rPr lang="fr-FR" dirty="0"/>
                  <a:t>Compter le nombre d’opérations primitives</a:t>
                </a:r>
              </a:p>
              <a:p>
                <a:pPr marL="274320" lvl="1" indent="0">
                  <a:buNone/>
                </a:pPr>
                <a14:m>
                  <m:oMath xmlns:m="http://schemas.openxmlformats.org/officeDocument/2006/math">
                    <m:r>
                      <a:rPr lang="fr-FR" b="0" i="1" smtClean="0">
                        <a:latin typeface="Cambria Math" panose="02040503050406030204" pitchFamily="18" charset="0"/>
                      </a:rPr>
                      <m:t>𝑎</m:t>
                    </m:r>
                    <m:r>
                      <a:rPr lang="fr-FR" b="0" i="1" smtClean="0">
                        <a:latin typeface="Cambria Math" panose="02040503050406030204" pitchFamily="18" charset="0"/>
                      </a:rPr>
                      <m:t>=</m:t>
                    </m:r>
                    <m:r>
                      <a:rPr lang="fr-FR" b="0" i="1" smtClean="0">
                        <a:latin typeface="Cambria Math" panose="02040503050406030204" pitchFamily="18" charset="0"/>
                      </a:rPr>
                      <m:t>𝑏</m:t>
                    </m:r>
                    <m:r>
                      <a:rPr lang="fr-FR" b="0" i="1" smtClean="0">
                        <a:latin typeface="Cambria Math" panose="02040503050406030204" pitchFamily="18" charset="0"/>
                      </a:rPr>
                      <m:t>∗3</m:t>
                    </m:r>
                  </m:oMath>
                </a14:m>
                <a:r>
                  <a:rPr lang="fr-FR" dirty="0"/>
                  <a:t> ➜ 1 multiplication + 1 affectation = 2 ‘unités’</a:t>
                </a:r>
              </a:p>
              <a:p>
                <a:endParaRPr lang="fr-FR" dirty="0"/>
              </a:p>
              <a:p>
                <a:r>
                  <a:rPr lang="fr-FR" dirty="0"/>
                  <a:t>La taille des données, notée </a:t>
                </a:r>
                <a:r>
                  <a:rPr lang="fr-FR" b="1" i="1" dirty="0"/>
                  <a:t>n </a:t>
                </a:r>
                <a:endParaRPr lang="fr-FR" dirty="0"/>
              </a:p>
              <a:p>
                <a:endParaRPr lang="fr-FR" b="1" i="1" dirty="0"/>
              </a:p>
              <a:p>
                <a:r>
                  <a:rPr lang="fr-FR" dirty="0"/>
                  <a:t>La donnée en question</a:t>
                </a:r>
              </a:p>
              <a:p>
                <a:pPr marL="457200" lvl="1" indent="0">
                  <a:buNone/>
                </a:pPr>
                <a:r>
                  <a:rPr lang="fr-FR" dirty="0"/>
                  <a:t>Calcul dans le meilleur des cas</a:t>
                </a:r>
              </a:p>
              <a:p>
                <a:pPr marL="457200" lvl="1" indent="0">
                  <a:buNone/>
                </a:pPr>
                <a:r>
                  <a:rPr lang="fr-FR" dirty="0"/>
                  <a:t>Calcul dans le pire des cas</a:t>
                </a:r>
              </a:p>
              <a:p>
                <a:pPr marL="457200" lvl="1" indent="0">
                  <a:buNone/>
                </a:pPr>
                <a:r>
                  <a:rPr lang="fr-FR" dirty="0"/>
                  <a:t>Calcul dans le cas moyen</a:t>
                </a:r>
                <a:endParaRPr lang="fr-BE" dirty="0"/>
              </a:p>
            </p:txBody>
          </p:sp>
        </mc:Choice>
        <mc:Fallback xmlns="">
          <p:sp>
            <p:nvSpPr>
              <p:cNvPr id="2" name="Espace réservé du contenu 1">
                <a:extLst>
                  <a:ext uri="{FF2B5EF4-FFF2-40B4-BE49-F238E27FC236}">
                    <a16:creationId xmlns:a16="http://schemas.microsoft.com/office/drawing/2014/main" id="{55EAE188-8388-496C-BFBE-A2F6AD87ECD3}"/>
                  </a:ext>
                </a:extLst>
              </p:cNvPr>
              <p:cNvSpPr>
                <a:spLocks noGrp="1" noRot="1" noChangeAspect="1" noMove="1" noResize="1" noEditPoints="1" noAdjustHandles="1" noChangeArrowheads="1" noChangeShapeType="1" noTextEdit="1"/>
              </p:cNvSpPr>
              <p:nvPr>
                <p:ph idx="1"/>
              </p:nvPr>
            </p:nvSpPr>
            <p:spPr>
              <a:blipFill>
                <a:blip r:embed="rId2"/>
                <a:stretch>
                  <a:fillRect l="-2926" t="-10314"/>
                </a:stretch>
              </a:blipFill>
            </p:spPr>
            <p:txBody>
              <a:bodyPr/>
              <a:lstStyle/>
              <a:p>
                <a:r>
                  <a:rPr lang="fr-BE">
                    <a:noFill/>
                  </a:rPr>
                  <a:t> </a:t>
                </a:r>
              </a:p>
            </p:txBody>
          </p:sp>
        </mc:Fallback>
      </mc:AlternateContent>
      <p:sp>
        <p:nvSpPr>
          <p:cNvPr id="3" name="Titre 2">
            <a:extLst>
              <a:ext uri="{FF2B5EF4-FFF2-40B4-BE49-F238E27FC236}">
                <a16:creationId xmlns:a16="http://schemas.microsoft.com/office/drawing/2014/main" id="{5A4CD108-D07D-4B30-A104-29BD878FBFDF}"/>
              </a:ext>
            </a:extLst>
          </p:cNvPr>
          <p:cNvSpPr>
            <a:spLocks noGrp="1"/>
          </p:cNvSpPr>
          <p:nvPr>
            <p:ph type="title"/>
          </p:nvPr>
        </p:nvSpPr>
        <p:spPr/>
        <p:txBody>
          <a:bodyPr>
            <a:normAutofit fontScale="90000"/>
          </a:bodyPr>
          <a:lstStyle/>
          <a:p>
            <a:r>
              <a:rPr lang="fr-FR" dirty="0"/>
              <a:t>Comment on la calcule ?</a:t>
            </a:r>
            <a:endParaRPr lang="fr-BE" dirty="0"/>
          </a:p>
        </p:txBody>
      </p:sp>
      <p:sp>
        <p:nvSpPr>
          <p:cNvPr id="4" name="Espace réservé du numéro de diapositive 3">
            <a:extLst>
              <a:ext uri="{FF2B5EF4-FFF2-40B4-BE49-F238E27FC236}">
                <a16:creationId xmlns:a16="http://schemas.microsoft.com/office/drawing/2014/main" id="{C371044F-506C-4912-B55F-FB3357883B89}"/>
              </a:ext>
            </a:extLst>
          </p:cNvPr>
          <p:cNvSpPr>
            <a:spLocks noGrp="1"/>
          </p:cNvSpPr>
          <p:nvPr>
            <p:ph type="sldNum" sz="quarter" idx="10"/>
          </p:nvPr>
        </p:nvSpPr>
        <p:spPr/>
        <p:txBody>
          <a:bodyPr/>
          <a:lstStyle/>
          <a:p>
            <a:fld id="{26DF9506-C750-44C3-8E12-610AD4C8F1FD}" type="slidenum">
              <a:rPr lang="fr-BE" smtClean="0"/>
              <a:t>30</a:t>
            </a:fld>
            <a:endParaRPr lang="fr-BE"/>
          </a:p>
        </p:txBody>
      </p:sp>
    </p:spTree>
    <p:extLst>
      <p:ext uri="{BB962C8B-B14F-4D97-AF65-F5344CB8AC3E}">
        <p14:creationId xmlns:p14="http://schemas.microsoft.com/office/powerpoint/2010/main" val="16733244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6A225A9-560D-46B5-9922-82E7397CE34D}"/>
              </a:ext>
            </a:extLst>
          </p:cNvPr>
          <p:cNvSpPr>
            <a:spLocks noGrp="1"/>
          </p:cNvSpPr>
          <p:nvPr>
            <p:ph idx="1"/>
          </p:nvPr>
        </p:nvSpPr>
        <p:spPr/>
        <p:txBody>
          <a:bodyPr/>
          <a:lstStyle/>
          <a:p>
            <a:endParaRPr lang="fr-BE"/>
          </a:p>
        </p:txBody>
      </p:sp>
      <p:sp>
        <p:nvSpPr>
          <p:cNvPr id="3" name="Titre 2">
            <a:extLst>
              <a:ext uri="{FF2B5EF4-FFF2-40B4-BE49-F238E27FC236}">
                <a16:creationId xmlns:a16="http://schemas.microsoft.com/office/drawing/2014/main" id="{4B7B0B26-5689-4CAF-8CBE-E9193D5B596E}"/>
              </a:ext>
            </a:extLst>
          </p:cNvPr>
          <p:cNvSpPr>
            <a:spLocks noGrp="1"/>
          </p:cNvSpPr>
          <p:nvPr>
            <p:ph type="title"/>
          </p:nvPr>
        </p:nvSpPr>
        <p:spPr>
          <a:xfrm>
            <a:off x="4068662" y="228600"/>
            <a:ext cx="4789588" cy="962247"/>
          </a:xfrm>
        </p:spPr>
        <p:txBody>
          <a:bodyPr>
            <a:normAutofit fontScale="90000"/>
          </a:bodyPr>
          <a:lstStyle/>
          <a:p>
            <a:r>
              <a:rPr lang="fr-FR" dirty="0"/>
              <a:t>Cas pratique – Recherche dichotomique</a:t>
            </a:r>
            <a:endParaRPr lang="fr-BE" dirty="0"/>
          </a:p>
        </p:txBody>
      </p:sp>
      <p:sp>
        <p:nvSpPr>
          <p:cNvPr id="4" name="Espace réservé du numéro de diapositive 3">
            <a:extLst>
              <a:ext uri="{FF2B5EF4-FFF2-40B4-BE49-F238E27FC236}">
                <a16:creationId xmlns:a16="http://schemas.microsoft.com/office/drawing/2014/main" id="{66B1371F-ED90-4D32-AFBA-A2BEA1365455}"/>
              </a:ext>
            </a:extLst>
          </p:cNvPr>
          <p:cNvSpPr>
            <a:spLocks noGrp="1"/>
          </p:cNvSpPr>
          <p:nvPr>
            <p:ph type="sldNum" sz="quarter" idx="10"/>
          </p:nvPr>
        </p:nvSpPr>
        <p:spPr/>
        <p:txBody>
          <a:bodyPr/>
          <a:lstStyle/>
          <a:p>
            <a:fld id="{26DF9506-C750-44C3-8E12-610AD4C8F1FD}" type="slidenum">
              <a:rPr lang="fr-BE" smtClean="0"/>
              <a:t>31</a:t>
            </a:fld>
            <a:endParaRPr lang="fr-BE"/>
          </a:p>
        </p:txBody>
      </p:sp>
      <p:pic>
        <p:nvPicPr>
          <p:cNvPr id="5" name="Picture 2">
            <a:extLst>
              <a:ext uri="{FF2B5EF4-FFF2-40B4-BE49-F238E27FC236}">
                <a16:creationId xmlns:a16="http://schemas.microsoft.com/office/drawing/2014/main" id="{E6870DBB-26C8-49F7-B8A7-8A5041A507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7811" y="2238854"/>
            <a:ext cx="5168378" cy="284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504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96A225A9-560D-46B5-9922-82E7397CE34D}"/>
                  </a:ext>
                </a:extLst>
              </p:cNvPr>
              <p:cNvSpPr>
                <a:spLocks noGrp="1"/>
              </p:cNvSpPr>
              <p:nvPr>
                <p:ph idx="1"/>
              </p:nvPr>
            </p:nvSpPr>
            <p:spPr/>
            <p:txBody>
              <a:bodyPr/>
              <a:lstStyle/>
              <a:p>
                <a:endParaRPr lang="fr-FR" dirty="0"/>
              </a:p>
              <a:p>
                <a:r>
                  <a:rPr lang="fr-FR" dirty="0"/>
                  <a:t>Prenons un tableau de taille </a:t>
                </a:r>
                <a14:m>
                  <m:oMath xmlns:m="http://schemas.openxmlformats.org/officeDocument/2006/math">
                    <m:r>
                      <a:rPr lang="fr-FR" b="0" i="1" smtClean="0">
                        <a:latin typeface="Cambria Math" panose="02040503050406030204" pitchFamily="18" charset="0"/>
                      </a:rPr>
                      <m:t>𝑛</m:t>
                    </m:r>
                  </m:oMath>
                </a14:m>
                <a:endParaRPr lang="fr-BE" dirty="0"/>
              </a:p>
              <a:p>
                <a:r>
                  <a:rPr lang="fr-BE" dirty="0"/>
                  <a:t>Si on le coupe, on obtient : </a:t>
                </a:r>
                <a14:m>
                  <m:oMath xmlns:m="http://schemas.openxmlformats.org/officeDocument/2006/math">
                    <m:sSub>
                      <m:sSubPr>
                        <m:ctrlPr>
                          <a:rPr lang="fr-BE"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1</m:t>
                        </m:r>
                      </m:sub>
                    </m:sSub>
                    <m:r>
                      <a:rPr lang="fr-FR" b="0" i="1" smtClean="0">
                        <a:latin typeface="Cambria Math" panose="02040503050406030204" pitchFamily="18" charset="0"/>
                      </a:rPr>
                      <m:t>=</m:t>
                    </m:r>
                    <m:f>
                      <m:fPr>
                        <m:ctrlPr>
                          <a:rPr lang="fr-BE" i="1" smtClean="0">
                            <a:latin typeface="Cambria Math" panose="02040503050406030204" pitchFamily="18" charset="0"/>
                          </a:rPr>
                        </m:ctrlPr>
                      </m:fPr>
                      <m:num>
                        <m:r>
                          <a:rPr lang="fr-FR" b="0" i="1" smtClean="0">
                            <a:latin typeface="Cambria Math" panose="02040503050406030204" pitchFamily="18" charset="0"/>
                          </a:rPr>
                          <m:t>𝑛</m:t>
                        </m:r>
                      </m:num>
                      <m:den>
                        <m:r>
                          <a:rPr lang="fr-FR" b="0" i="1" smtClean="0">
                            <a:latin typeface="Cambria Math" panose="02040503050406030204" pitchFamily="18" charset="0"/>
                          </a:rPr>
                          <m:t>2</m:t>
                        </m:r>
                      </m:den>
                    </m:f>
                    <m:r>
                      <a:rPr lang="fr-FR" b="0" i="1" smtClean="0">
                        <a:latin typeface="Cambria Math" panose="02040503050406030204" pitchFamily="18" charset="0"/>
                      </a:rPr>
                      <m:t>,</m:t>
                    </m:r>
                    <m:sSub>
                      <m:sSubPr>
                        <m:ctrlPr>
                          <a:rPr lang="fr-BE" i="1">
                            <a:latin typeface="Cambria Math" panose="02040503050406030204" pitchFamily="18" charset="0"/>
                          </a:rPr>
                        </m:ctrlPr>
                      </m:sSubPr>
                      <m:e>
                        <m:r>
                          <a:rPr lang="fr-FR" i="1">
                            <a:latin typeface="Cambria Math" panose="02040503050406030204" pitchFamily="18" charset="0"/>
                          </a:rPr>
                          <m:t>𝑛</m:t>
                        </m:r>
                      </m:e>
                      <m:sub>
                        <m:r>
                          <a:rPr lang="fr-FR" b="0" i="1" smtClean="0">
                            <a:latin typeface="Cambria Math" panose="02040503050406030204" pitchFamily="18" charset="0"/>
                          </a:rPr>
                          <m:t>2</m:t>
                        </m:r>
                      </m:sub>
                    </m:sSub>
                    <m:r>
                      <a:rPr lang="fr-FR" i="1">
                        <a:latin typeface="Cambria Math" panose="02040503050406030204" pitchFamily="18" charset="0"/>
                      </a:rPr>
                      <m:t>=</m:t>
                    </m:r>
                    <m:f>
                      <m:fPr>
                        <m:ctrlPr>
                          <a:rPr lang="fr-BE" i="1">
                            <a:latin typeface="Cambria Math" panose="02040503050406030204" pitchFamily="18" charset="0"/>
                          </a:rPr>
                        </m:ctrlPr>
                      </m:fPr>
                      <m:num>
                        <m:sSub>
                          <m:sSubPr>
                            <m:ctrlPr>
                              <a:rPr lang="fr-BE"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1</m:t>
                            </m:r>
                          </m:sub>
                        </m:sSub>
                      </m:num>
                      <m:den>
                        <m:r>
                          <a:rPr lang="fr-FR" i="1">
                            <a:latin typeface="Cambria Math" panose="02040503050406030204" pitchFamily="18" charset="0"/>
                          </a:rPr>
                          <m:t>2</m:t>
                        </m:r>
                      </m:den>
                    </m:f>
                    <m:r>
                      <a:rPr lang="fr-FR" b="0" i="1" smtClean="0">
                        <a:latin typeface="Cambria Math" panose="02040503050406030204" pitchFamily="18" charset="0"/>
                      </a:rPr>
                      <m:t>…</m:t>
                    </m:r>
                  </m:oMath>
                </a14:m>
                <a:endParaRPr lang="fr-BE" dirty="0"/>
              </a:p>
              <a:p>
                <a:r>
                  <a:rPr lang="fr-BE" dirty="0"/>
                  <a:t>On va finir par avoir </a:t>
                </a:r>
                <a14:m>
                  <m:oMath xmlns:m="http://schemas.openxmlformats.org/officeDocument/2006/math">
                    <m:sSub>
                      <m:sSubPr>
                        <m:ctrlPr>
                          <a:rPr lang="fr-BE"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𝑖</m:t>
                        </m:r>
                      </m:sub>
                    </m:sSub>
                    <m:r>
                      <a:rPr lang="fr-FR" b="0" i="1" smtClean="0">
                        <a:latin typeface="Cambria Math" panose="02040503050406030204" pitchFamily="18" charset="0"/>
                      </a:rPr>
                      <m:t>=1</m:t>
                    </m:r>
                  </m:oMath>
                </a14:m>
                <a:endParaRPr lang="fr-BE" dirty="0"/>
              </a:p>
              <a:p>
                <a:r>
                  <a:rPr lang="fr-BE" dirty="0"/>
                  <a:t>On obtient alors : </a:t>
                </a:r>
                <a14:m>
                  <m:oMath xmlns:m="http://schemas.openxmlformats.org/officeDocument/2006/math">
                    <m:sSub>
                      <m:sSubPr>
                        <m:ctrlPr>
                          <a:rPr lang="fr-BE"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𝑖</m:t>
                        </m:r>
                      </m:sub>
                    </m:sSub>
                    <m:r>
                      <a:rPr lang="fr-FR" b="0" i="1" smtClean="0">
                        <a:latin typeface="Cambria Math" panose="02040503050406030204" pitchFamily="18" charset="0"/>
                      </a:rPr>
                      <m:t>=1=</m:t>
                    </m:r>
                    <m:f>
                      <m:fPr>
                        <m:ctrlPr>
                          <a:rPr lang="fr-BE" i="1" smtClean="0">
                            <a:latin typeface="Cambria Math" panose="02040503050406030204" pitchFamily="18" charset="0"/>
                          </a:rPr>
                        </m:ctrlPr>
                      </m:fPr>
                      <m:num>
                        <m:r>
                          <a:rPr lang="fr-FR" b="0" i="1" smtClean="0">
                            <a:latin typeface="Cambria Math" panose="02040503050406030204" pitchFamily="18" charset="0"/>
                          </a:rPr>
                          <m:t>𝑛</m:t>
                        </m:r>
                      </m:num>
                      <m:den>
                        <m:r>
                          <a:rPr lang="fr-FR" b="0" i="1" smtClean="0">
                            <a:latin typeface="Cambria Math" panose="02040503050406030204" pitchFamily="18" charset="0"/>
                          </a:rPr>
                          <m:t>2∗2∗2∗2∗2…∗2</m:t>
                        </m:r>
                      </m:den>
                    </m:f>
                    <m:r>
                      <a:rPr lang="fr-FR" b="0" i="1" smtClean="0">
                        <a:latin typeface="Cambria Math" panose="02040503050406030204" pitchFamily="18" charset="0"/>
                      </a:rPr>
                      <m:t>=</m:t>
                    </m:r>
                  </m:oMath>
                </a14:m>
                <a:r>
                  <a:rPr lang="fr-BE" dirty="0"/>
                  <a:t> </a:t>
                </a:r>
                <a14:m>
                  <m:oMath xmlns:m="http://schemas.openxmlformats.org/officeDocument/2006/math">
                    <m:f>
                      <m:fPr>
                        <m:ctrlPr>
                          <a:rPr lang="fr-BE" i="1">
                            <a:latin typeface="Cambria Math" panose="02040503050406030204" pitchFamily="18" charset="0"/>
                          </a:rPr>
                        </m:ctrlPr>
                      </m:fPr>
                      <m:num>
                        <m:r>
                          <a:rPr lang="fr-FR" b="0" i="1" smtClean="0">
                            <a:latin typeface="Cambria Math" panose="02040503050406030204" pitchFamily="18" charset="0"/>
                          </a:rPr>
                          <m:t>𝑛</m:t>
                        </m:r>
                      </m:num>
                      <m:den>
                        <m:sSup>
                          <m:sSupPr>
                            <m:ctrlPr>
                              <a:rPr lang="fr-FR" i="1" smtClean="0">
                                <a:latin typeface="Cambria Math" panose="02040503050406030204" pitchFamily="18" charset="0"/>
                              </a:rPr>
                            </m:ctrlPr>
                          </m:sSupPr>
                          <m:e>
                            <m:r>
                              <a:rPr lang="fr-FR" b="0" i="1" smtClean="0">
                                <a:latin typeface="Cambria Math" panose="02040503050406030204" pitchFamily="18" charset="0"/>
                              </a:rPr>
                              <m:t>2</m:t>
                            </m:r>
                          </m:e>
                          <m:sup>
                            <m:r>
                              <a:rPr lang="fr-FR" b="0" i="1" smtClean="0">
                                <a:latin typeface="Cambria Math" panose="02040503050406030204" pitchFamily="18" charset="0"/>
                              </a:rPr>
                              <m:t>𝑎</m:t>
                            </m:r>
                          </m:sup>
                        </m:sSup>
                      </m:den>
                    </m:f>
                    <m:r>
                      <a:rPr lang="fr-FR"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𝑎</m:t>
                    </m:r>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𝑙𝑜𝑔</m:t>
                        </m:r>
                      </m:e>
                      <m:sub>
                        <m:r>
                          <a:rPr lang="fr-FR" b="0" i="1" smtClean="0">
                            <a:latin typeface="Cambria Math" panose="02040503050406030204" pitchFamily="18" charset="0"/>
                            <a:ea typeface="Cambria Math" panose="02040503050406030204" pitchFamily="18" charset="0"/>
                          </a:rPr>
                          <m:t>2</m:t>
                        </m:r>
                      </m:sub>
                    </m:sSub>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𝑛</m:t>
                    </m:r>
                    <m:r>
                      <a:rPr lang="fr-FR" b="0" i="1" smtClean="0">
                        <a:latin typeface="Cambria Math" panose="02040503050406030204" pitchFamily="18" charset="0"/>
                        <a:ea typeface="Cambria Math" panose="02040503050406030204" pitchFamily="18" charset="0"/>
                      </a:rPr>
                      <m:t>)</m:t>
                    </m:r>
                  </m:oMath>
                </a14:m>
                <a:endParaRPr lang="fr-BE" dirty="0"/>
              </a:p>
              <a:p>
                <a:r>
                  <a:rPr lang="fr-BE" dirty="0"/>
                  <a:t>La complexité temporelle est donc : </a:t>
                </a:r>
                <a14:m>
                  <m:oMath xmlns:m="http://schemas.openxmlformats.org/officeDocument/2006/math">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𝑂</m:t>
                        </m:r>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𝑙𝑜𝑔</m:t>
                        </m:r>
                      </m:e>
                      <m:sub>
                        <m:r>
                          <a:rPr lang="fr-FR" b="0" i="1" smtClean="0">
                            <a:latin typeface="Cambria Math" panose="02040503050406030204" pitchFamily="18" charset="0"/>
                            <a:ea typeface="Cambria Math" panose="02040503050406030204" pitchFamily="18" charset="0"/>
                          </a:rPr>
                          <m:t>2</m:t>
                        </m:r>
                      </m:sub>
                    </m:sSub>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𝑛</m:t>
                    </m:r>
                    <m:r>
                      <a:rPr lang="fr-FR" b="0" i="1" smtClean="0">
                        <a:latin typeface="Cambria Math" panose="02040503050406030204" pitchFamily="18" charset="0"/>
                        <a:ea typeface="Cambria Math" panose="02040503050406030204" pitchFamily="18" charset="0"/>
                      </a:rPr>
                      <m:t>))</m:t>
                    </m:r>
                  </m:oMath>
                </a14:m>
                <a:endParaRPr lang="fr-BE" dirty="0"/>
              </a:p>
              <a:p>
                <a:endParaRPr lang="fr-BE" dirty="0"/>
              </a:p>
            </p:txBody>
          </p:sp>
        </mc:Choice>
        <mc:Fallback xmlns="">
          <p:sp>
            <p:nvSpPr>
              <p:cNvPr id="2" name="Espace réservé du contenu 1">
                <a:extLst>
                  <a:ext uri="{FF2B5EF4-FFF2-40B4-BE49-F238E27FC236}">
                    <a16:creationId xmlns:a16="http://schemas.microsoft.com/office/drawing/2014/main" id="{96A225A9-560D-46B5-9922-82E7397CE34D}"/>
                  </a:ext>
                </a:extLst>
              </p:cNvPr>
              <p:cNvSpPr>
                <a:spLocks noGrp="1" noRot="1" noChangeAspect="1" noMove="1" noResize="1" noEditPoints="1" noAdjustHandles="1" noChangeArrowheads="1" noChangeShapeType="1" noTextEdit="1"/>
              </p:cNvSpPr>
              <p:nvPr>
                <p:ph idx="1"/>
              </p:nvPr>
            </p:nvSpPr>
            <p:spPr>
              <a:blipFill>
                <a:blip r:embed="rId2"/>
                <a:stretch>
                  <a:fillRect l="-2926"/>
                </a:stretch>
              </a:blipFill>
            </p:spPr>
            <p:txBody>
              <a:bodyPr/>
              <a:lstStyle/>
              <a:p>
                <a:r>
                  <a:rPr lang="fr-BE">
                    <a:noFill/>
                  </a:rPr>
                  <a:t> </a:t>
                </a:r>
              </a:p>
            </p:txBody>
          </p:sp>
        </mc:Fallback>
      </mc:AlternateContent>
      <p:sp>
        <p:nvSpPr>
          <p:cNvPr id="3" name="Titre 2">
            <a:extLst>
              <a:ext uri="{FF2B5EF4-FFF2-40B4-BE49-F238E27FC236}">
                <a16:creationId xmlns:a16="http://schemas.microsoft.com/office/drawing/2014/main" id="{4B7B0B26-5689-4CAF-8CBE-E9193D5B596E}"/>
              </a:ext>
            </a:extLst>
          </p:cNvPr>
          <p:cNvSpPr>
            <a:spLocks noGrp="1"/>
          </p:cNvSpPr>
          <p:nvPr>
            <p:ph type="title"/>
          </p:nvPr>
        </p:nvSpPr>
        <p:spPr>
          <a:xfrm>
            <a:off x="4068662" y="228600"/>
            <a:ext cx="4789588" cy="962247"/>
          </a:xfrm>
        </p:spPr>
        <p:txBody>
          <a:bodyPr>
            <a:normAutofit fontScale="90000"/>
          </a:bodyPr>
          <a:lstStyle/>
          <a:p>
            <a:r>
              <a:rPr lang="fr-FR" dirty="0"/>
              <a:t>Cas pratique – Recherche dichotomique</a:t>
            </a:r>
            <a:endParaRPr lang="fr-BE" dirty="0"/>
          </a:p>
        </p:txBody>
      </p:sp>
      <p:sp>
        <p:nvSpPr>
          <p:cNvPr id="4" name="Espace réservé du numéro de diapositive 3">
            <a:extLst>
              <a:ext uri="{FF2B5EF4-FFF2-40B4-BE49-F238E27FC236}">
                <a16:creationId xmlns:a16="http://schemas.microsoft.com/office/drawing/2014/main" id="{66B1371F-ED90-4D32-AFBA-A2BEA1365455}"/>
              </a:ext>
            </a:extLst>
          </p:cNvPr>
          <p:cNvSpPr>
            <a:spLocks noGrp="1"/>
          </p:cNvSpPr>
          <p:nvPr>
            <p:ph type="sldNum" sz="quarter" idx="10"/>
          </p:nvPr>
        </p:nvSpPr>
        <p:spPr/>
        <p:txBody>
          <a:bodyPr/>
          <a:lstStyle/>
          <a:p>
            <a:fld id="{26DF9506-C750-44C3-8E12-610AD4C8F1FD}" type="slidenum">
              <a:rPr lang="fr-BE" smtClean="0"/>
              <a:t>32</a:t>
            </a:fld>
            <a:endParaRPr lang="fr-BE"/>
          </a:p>
        </p:txBody>
      </p:sp>
    </p:spTree>
    <p:extLst>
      <p:ext uri="{BB962C8B-B14F-4D97-AF65-F5344CB8AC3E}">
        <p14:creationId xmlns:p14="http://schemas.microsoft.com/office/powerpoint/2010/main" val="3830566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ersonnalisé 1">
      <a:majorFont>
        <a:latin typeface="Roboto"/>
        <a:ea typeface=""/>
        <a:cs typeface=""/>
      </a:majorFont>
      <a:minorFont>
        <a:latin typeface="Roboto"/>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de-presentation-HEHbe--Sciences-et-technologies--2020" id="{A498BD53-F83B-4021-AAB3-AA6C29EFDC9D}" vid="{7280D352-7A7E-41A1-9B4F-543AFC5CCCBC}"/>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7509</TotalTime>
  <Words>1273</Words>
  <Application>Microsoft Office PowerPoint</Application>
  <PresentationFormat>Affichage à l'écran (4:3)</PresentationFormat>
  <Paragraphs>233</Paragraphs>
  <Slides>32</Slides>
  <Notes>0</Notes>
  <HiddenSlides>0</HiddenSlides>
  <MMClips>0</MMClips>
  <ScaleCrop>false</ScaleCrop>
  <HeadingPairs>
    <vt:vector size="6" baseType="variant">
      <vt:variant>
        <vt:lpstr>Polices utilisées</vt:lpstr>
      </vt:variant>
      <vt:variant>
        <vt:i4>14</vt:i4>
      </vt:variant>
      <vt:variant>
        <vt:lpstr>Thème</vt:lpstr>
      </vt:variant>
      <vt:variant>
        <vt:i4>1</vt:i4>
      </vt:variant>
      <vt:variant>
        <vt:lpstr>Titres des diapositives</vt:lpstr>
      </vt:variant>
      <vt:variant>
        <vt:i4>32</vt:i4>
      </vt:variant>
    </vt:vector>
  </HeadingPairs>
  <TitlesOfParts>
    <vt:vector size="47" baseType="lpstr">
      <vt:lpstr>Arial</vt:lpstr>
      <vt:lpstr>Calibri</vt:lpstr>
      <vt:lpstr>Cambria Math</vt:lpstr>
      <vt:lpstr>LMMathSymbols10-Regular</vt:lpstr>
      <vt:lpstr>LMMathSymbols8-Regular</vt:lpstr>
      <vt:lpstr>LMSans10-Bold-Identity-H</vt:lpstr>
      <vt:lpstr>LMSans10-Oblique-Identity-H</vt:lpstr>
      <vt:lpstr>LMSans10-Regular</vt:lpstr>
      <vt:lpstr>LMSans10-Regular-Identity-H</vt:lpstr>
      <vt:lpstr>LMSans8-Oblique-Identity-H</vt:lpstr>
      <vt:lpstr>LMSans8-Regular-Identity-H</vt:lpstr>
      <vt:lpstr>Roboto</vt:lpstr>
      <vt:lpstr>Roboto </vt:lpstr>
      <vt:lpstr>Roboto Condensed</vt:lpstr>
      <vt:lpstr>Thème Office</vt:lpstr>
      <vt:lpstr>Mathématiques appliquées à l'informatique</vt:lpstr>
      <vt:lpstr>Informations pratiques</vt:lpstr>
      <vt:lpstr>Conseils</vt:lpstr>
      <vt:lpstr>Pourquoi ?</vt:lpstr>
      <vt:lpstr>Pourquoi ?</vt:lpstr>
      <vt:lpstr>Présentation PowerPoint</vt:lpstr>
      <vt:lpstr>Rappel ?</vt:lpstr>
      <vt:lpstr>Exemple</vt:lpstr>
      <vt:lpstr>Tour du voisin le plus proche</vt:lpstr>
      <vt:lpstr>Présentation PowerPoint</vt:lpstr>
      <vt:lpstr>Autre solution</vt:lpstr>
      <vt:lpstr>Recherche exhaustive</vt:lpstr>
      <vt:lpstr>Recherche exhaustive</vt:lpstr>
      <vt:lpstr>Oui, mais ma machine…</vt:lpstr>
      <vt:lpstr>Frontier</vt:lpstr>
      <vt:lpstr>Le voyageur de commerce</vt:lpstr>
      <vt:lpstr>On fait quoi avec tout ça ?</vt:lpstr>
      <vt:lpstr>Prouver qu’un algorithme est inexact</vt:lpstr>
      <vt:lpstr>Prouver qu’un algorithme est exact</vt:lpstr>
      <vt:lpstr>Prouver qu’un algorithme est exact</vt:lpstr>
      <vt:lpstr>L’efficacité</vt:lpstr>
      <vt:lpstr>Présentation PowerPoint</vt:lpstr>
      <vt:lpstr>La complexité</vt:lpstr>
      <vt:lpstr>Présentation PowerPoint</vt:lpstr>
      <vt:lpstr>Analyse asymptotique</vt:lpstr>
      <vt:lpstr>Comment le temps évolue ?</vt:lpstr>
      <vt:lpstr>En résumé</vt:lpstr>
      <vt:lpstr>Opération primitive</vt:lpstr>
      <vt:lpstr>La complexité temporelle</vt:lpstr>
      <vt:lpstr>Comment on la calcule ?</vt:lpstr>
      <vt:lpstr>Cas pratique – Recherche dichotomique</vt:lpstr>
      <vt:lpstr>Cas pratique – Recherche dichotomique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 de la présentation</dc:title>
  <dc:creator>DEPRETER Johan</dc:creator>
  <cp:lastModifiedBy>GILLARD Robin</cp:lastModifiedBy>
  <cp:revision>58</cp:revision>
  <dcterms:created xsi:type="dcterms:W3CDTF">2022-01-27T22:00:53Z</dcterms:created>
  <dcterms:modified xsi:type="dcterms:W3CDTF">2025-05-29T19:33:01Z</dcterms:modified>
</cp:coreProperties>
</file>