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handoutMasterIdLst>
    <p:handoutMasterId r:id="rId36"/>
  </p:handoutMasterIdLst>
  <p:sldIdLst>
    <p:sldId id="256" r:id="rId2"/>
    <p:sldId id="431" r:id="rId3"/>
    <p:sldId id="432" r:id="rId4"/>
    <p:sldId id="435" r:id="rId5"/>
    <p:sldId id="433" r:id="rId6"/>
    <p:sldId id="434" r:id="rId7"/>
    <p:sldId id="437" r:id="rId8"/>
    <p:sldId id="438" r:id="rId9"/>
    <p:sldId id="439" r:id="rId10"/>
    <p:sldId id="440" r:id="rId11"/>
    <p:sldId id="442" r:id="rId12"/>
    <p:sldId id="443" r:id="rId13"/>
    <p:sldId id="448" r:id="rId14"/>
    <p:sldId id="446" r:id="rId15"/>
    <p:sldId id="445" r:id="rId16"/>
    <p:sldId id="447" r:id="rId17"/>
    <p:sldId id="449" r:id="rId18"/>
    <p:sldId id="450" r:id="rId19"/>
    <p:sldId id="451" r:id="rId20"/>
    <p:sldId id="452" r:id="rId21"/>
    <p:sldId id="453" r:id="rId22"/>
    <p:sldId id="454" r:id="rId23"/>
    <p:sldId id="455" r:id="rId24"/>
    <p:sldId id="456" r:id="rId25"/>
    <p:sldId id="457" r:id="rId26"/>
    <p:sldId id="458" r:id="rId27"/>
    <p:sldId id="459" r:id="rId28"/>
    <p:sldId id="460" r:id="rId29"/>
    <p:sldId id="461" r:id="rId30"/>
    <p:sldId id="462" r:id="rId31"/>
    <p:sldId id="463" r:id="rId32"/>
    <p:sldId id="464" r:id="rId33"/>
    <p:sldId id="465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B4E7"/>
    <a:srgbClr val="C91317"/>
    <a:srgbClr val="2B2B2B"/>
    <a:srgbClr val="9E2E5A"/>
    <a:srgbClr val="D4641A"/>
    <a:srgbClr val="1573B6"/>
    <a:srgbClr val="243A90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Style foncé 2 - Accentuation 1/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7CE84F3-28C3-443E-9E96-99CF82512B78}" styleName="Style foncé 1 - Accentuation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623" autoAdjust="0"/>
    <p:restoredTop sz="71236" autoAdjust="0"/>
  </p:normalViewPr>
  <p:slideViewPr>
    <p:cSldViewPr snapToGrid="0">
      <p:cViewPr varScale="1">
        <p:scale>
          <a:sx n="96" d="100"/>
          <a:sy n="96" d="100"/>
        </p:scale>
        <p:origin x="74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241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8D3EB8-6AD6-4DF3-B16B-A9E0B517D683}" type="datetimeFigureOut">
              <a:rPr lang="fr-BE" smtClean="0"/>
              <a:t>29-05-25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D2A0B0-4FDA-48D8-A9AB-C715A138D15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959778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702AF6-C27A-47C0-BCF6-EC35CFE95046}" type="datetimeFigureOut">
              <a:rPr lang="fr-BE" smtClean="0"/>
              <a:t>28-05-25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2FF5F-0C64-4FEE-B2DF-F912BCEEA8E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57689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2FF5F-0C64-4FEE-B2DF-F912BCEEA8E0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50812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b="1" dirty="0"/>
              <a:t>Pourquoi l’image reste-t-elle dans S 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BE" dirty="0"/>
              <a:t>Comme </a:t>
            </a:r>
            <a:r>
              <a:rPr lang="fr-BE" dirty="0" err="1"/>
              <a:t>gcd</a:t>
            </a:r>
            <a:r>
              <a:rPr lang="fr-BE" dirty="0"/>
              <a:t>⁡(</a:t>
            </a:r>
            <a:r>
              <a:rPr lang="fr-BE" dirty="0" err="1"/>
              <a:t>a,n</a:t>
            </a:r>
            <a:r>
              <a:rPr lang="fr-BE" dirty="0"/>
              <a:t>)=1 et </a:t>
            </a:r>
            <a:r>
              <a:rPr lang="fr-BE" dirty="0" err="1"/>
              <a:t>gcd</a:t>
            </a:r>
            <a:r>
              <a:rPr lang="fr-BE" dirty="0"/>
              <a:t>⁡(</a:t>
            </a:r>
            <a:r>
              <a:rPr lang="fr-BE" dirty="0" err="1"/>
              <a:t>x,n</a:t>
            </a:r>
            <a:r>
              <a:rPr lang="fr-BE" dirty="0"/>
              <a:t>)=1, on a </a:t>
            </a:r>
            <a:r>
              <a:rPr lang="fr-BE" dirty="0" err="1"/>
              <a:t>gcd</a:t>
            </a:r>
            <a:r>
              <a:rPr lang="fr-BE" dirty="0"/>
              <a:t>⁡(</a:t>
            </a:r>
            <a:r>
              <a:rPr lang="fr-BE" dirty="0" err="1"/>
              <a:t>ax,n</a:t>
            </a:r>
            <a:r>
              <a:rPr lang="fr-BE" dirty="0"/>
              <a:t>)=1.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BE" dirty="0"/>
              <a:t>En effet, si p est un premier divisant n, alors p ne divise pas a ni x, donc il ne divise pas </a:t>
            </a:r>
            <a:r>
              <a:rPr lang="fr-BE" dirty="0" err="1"/>
              <a:t>ax</a:t>
            </a:r>
            <a:r>
              <a:rPr lang="fr-BE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BE" dirty="0"/>
              <a:t>Ainsi, pour tout </a:t>
            </a:r>
            <a:r>
              <a:rPr lang="fr-BE" dirty="0" err="1"/>
              <a:t>x∈S</a:t>
            </a:r>
            <a:r>
              <a:rPr lang="fr-BE" dirty="0"/>
              <a:t>, (</a:t>
            </a:r>
            <a:r>
              <a:rPr lang="fr-BE" dirty="0" err="1"/>
              <a:t>a⋅x</a:t>
            </a:r>
            <a:r>
              <a:rPr lang="fr-BE" dirty="0"/>
              <a:t>) mod n reste un élément </a:t>
            </a:r>
            <a:r>
              <a:rPr lang="fr-BE" dirty="0" err="1"/>
              <a:t>copremier</a:t>
            </a:r>
            <a:r>
              <a:rPr lang="fr-BE" dirty="0"/>
              <a:t> à 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BE" dirty="0"/>
              <a:t>Donc f(x)∈S. La fonction f est </a:t>
            </a:r>
            <a:r>
              <a:rPr lang="fr-BE" b="1" dirty="0"/>
              <a:t>bien définie</a:t>
            </a:r>
            <a:r>
              <a:rPr lang="fr-BE" dirty="0"/>
              <a:t> sur S.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2FF5F-0C64-4FEE-B2DF-F912BCEEA8E0}" type="slidenum">
              <a:rPr lang="fr-BE" smtClean="0"/>
              <a:t>25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56881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A2E52712-542C-4861-8486-8C858B7AC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581" y="2248912"/>
            <a:ext cx="7886700" cy="116969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algn="l"/>
            <a:r>
              <a:rPr lang="fr-FR" sz="4000" b="1">
                <a:solidFill>
                  <a:srgbClr val="2B2B2B"/>
                </a:solidFill>
                <a:latin typeface="Roboto" panose="02000000000000000000" pitchFamily="2" charset="0"/>
              </a:rPr>
              <a:t>Modifiez le style du titre</a:t>
            </a:r>
            <a:endParaRPr lang="fr-BE" sz="4000" b="1" dirty="0">
              <a:solidFill>
                <a:srgbClr val="2B2B2B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6A9EC390-C245-44B2-9757-6A655C8E38EA}"/>
              </a:ext>
            </a:extLst>
          </p:cNvPr>
          <p:cNvSpPr/>
          <p:nvPr userDrawn="1"/>
        </p:nvSpPr>
        <p:spPr>
          <a:xfrm>
            <a:off x="1266825" y="3652838"/>
            <a:ext cx="101699" cy="101699"/>
          </a:xfrm>
          <a:prstGeom prst="ellipse">
            <a:avLst/>
          </a:prstGeom>
          <a:solidFill>
            <a:srgbClr val="C913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5B2A0E2-6813-486D-9BFB-68658524FC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60938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977" y="1898361"/>
            <a:ext cx="8539273" cy="4076412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C94AA50C-7222-461E-8AD0-4AEDB98C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6DB69894-CF4A-49E7-AB8A-2E7987C06B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00281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5750" y="1825625"/>
            <a:ext cx="4094864" cy="4201102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825625"/>
            <a:ext cx="4286250" cy="4201102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8249BFAD-C788-41B2-BB4B-D7F32CD3D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0B86179-DD5C-452E-B116-146F34DEC1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57577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0500" y="1819386"/>
            <a:ext cx="4094864" cy="77818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00" b="1"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9" y="1819386"/>
            <a:ext cx="4286249" cy="77818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100" b="1"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C027A339-3B89-4CDB-9455-030617AAC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7587D5F-FDBB-4EB1-A522-C7E11E30E6C3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285750" y="2690037"/>
            <a:ext cx="4094864" cy="3336690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356E0546-6F03-4C97-9834-2DAEDD200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2690037"/>
            <a:ext cx="4286250" cy="3336690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3381CD9-00CC-417F-9EA9-ACF2A1414A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46532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C00A9C74-3B0E-442F-9551-373DA2D7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CF80F7D-B5F8-4569-9F90-3912FF9870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28852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3B3F24F-F9CE-48E5-8E78-0EAD4E00D7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17710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4020" y="1756064"/>
            <a:ext cx="3294999" cy="41129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0"/>
          </p:nvPr>
        </p:nvSpPr>
        <p:spPr>
          <a:xfrm>
            <a:off x="3782292" y="1756065"/>
            <a:ext cx="5077688" cy="4112924"/>
          </a:xfrm>
          <a:prstGeom prst="rect">
            <a:avLst/>
          </a:prstGeom>
        </p:spPr>
        <p:txBody>
          <a:bodyPr/>
          <a:lstStyle>
            <a:lvl1pPr>
              <a:buClr>
                <a:srgbClr val="C91317"/>
              </a:buClr>
              <a:buSzPct val="200000"/>
              <a:defRPr sz="1800"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>
              <a:buClr>
                <a:srgbClr val="C91317"/>
              </a:buClr>
              <a:buSzPct val="200000"/>
              <a:defRPr sz="1600">
                <a:solidFill>
                  <a:srgbClr val="2B2B2B"/>
                </a:solidFill>
                <a:latin typeface="Arial" panose="020B0604020202020204" pitchFamily="34" charset="0"/>
              </a:defRPr>
            </a:lvl2pPr>
            <a:lvl3pPr>
              <a:buClr>
                <a:srgbClr val="C91317"/>
              </a:buClr>
              <a:buSzPct val="200000"/>
              <a:defRPr sz="1600">
                <a:solidFill>
                  <a:srgbClr val="2B2B2B"/>
                </a:solidFill>
                <a:latin typeface="Arial" panose="020B0604020202020204" pitchFamily="34" charset="0"/>
              </a:defRPr>
            </a:lvl3pPr>
            <a:lvl4pPr>
              <a:buClr>
                <a:srgbClr val="C91317"/>
              </a:buClr>
              <a:buSzPct val="200000"/>
              <a:defRPr sz="1600">
                <a:solidFill>
                  <a:srgbClr val="2B2B2B"/>
                </a:solidFill>
                <a:latin typeface="Arial" panose="020B0604020202020204" pitchFamily="34" charset="0"/>
              </a:defRPr>
            </a:lvl4pPr>
            <a:lvl5pPr>
              <a:buClr>
                <a:srgbClr val="C91317"/>
              </a:buClr>
              <a:buSzPct val="200000"/>
              <a:defRPr sz="1400">
                <a:solidFill>
                  <a:srgbClr val="2B2B2B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B723936F-B140-4856-8235-EC2D80F47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1B9BBB8-6FF0-4B19-ABA7-E48EDDA4C8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0443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6000" y="1776845"/>
            <a:ext cx="6572250" cy="408420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400" i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751" y="1776845"/>
            <a:ext cx="1885950" cy="409214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1">
                <a:solidFill>
                  <a:srgbClr val="2B2B2B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F43EE628-A185-4A6D-BE88-14EFD8F49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228600"/>
            <a:ext cx="4286249" cy="962247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fr-FR" sz="2500">
                <a:solidFill>
                  <a:srgbClr val="2B2B2B"/>
                </a:solidFill>
                <a:latin typeface="Roboto "/>
              </a:rPr>
              <a:t>Modifiez le style du titre</a:t>
            </a:r>
            <a:endParaRPr lang="fr-BE" sz="2500" dirty="0">
              <a:solidFill>
                <a:srgbClr val="2B2B2B"/>
              </a:solidFill>
              <a:latin typeface="Roboto 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B18CF9C-FA09-400B-8A6D-3B4F71D1C4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35799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5142E7-FD62-4A3B-BA3B-F57F13E80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CDE9CF-4445-4195-AB8F-98D37C850D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17093D8-5537-49FE-9E58-DD113F96AA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85850" y="3109912"/>
            <a:ext cx="5553075" cy="63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01209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8DBFD8E-0DC8-4C60-850D-B6271FE2C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10343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A10DA80-EF2E-4A94-8BB7-3A6AF98E4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48475" y="608012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F9506-C750-44C3-8E12-610AD4C8F1FD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4631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70" r:id="rId8"/>
    <p:sldLayoutId id="2147483671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5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Roboto Condensed" panose="02000000000000000000" pitchFamily="2" charset="0"/>
          <a:ea typeface="Roboto Condensed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75EA5D-AC64-41C5-A86A-8CEC6C3E3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581" y="2248912"/>
            <a:ext cx="7886700" cy="1062699"/>
          </a:xfrm>
        </p:spPr>
        <p:txBody>
          <a:bodyPr>
            <a:normAutofit fontScale="90000"/>
          </a:bodyPr>
          <a:lstStyle/>
          <a:p>
            <a:r>
              <a:rPr lang="fr-FR" sz="4400" dirty="0"/>
              <a:t>Mathématiques appliquées à l'informatique</a:t>
            </a:r>
            <a:endParaRPr lang="fr-BE" sz="44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B893DFD-C04B-4489-8111-E1C33A2FF174}"/>
              </a:ext>
            </a:extLst>
          </p:cNvPr>
          <p:cNvSpPr txBox="1"/>
          <p:nvPr/>
        </p:nvSpPr>
        <p:spPr>
          <a:xfrm>
            <a:off x="1573427" y="3505200"/>
            <a:ext cx="7400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BA2 Informatique</a:t>
            </a:r>
          </a:p>
          <a:p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Johan </a:t>
            </a:r>
            <a:r>
              <a:rPr lang="fr-FR" dirty="0" err="1">
                <a:solidFill>
                  <a:schemeClr val="bg1">
                    <a:lumMod val="50000"/>
                  </a:schemeClr>
                </a:solidFill>
              </a:rPr>
              <a:t>Depréter</a:t>
            </a:r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 – johan.depreter@heh.be</a:t>
            </a:r>
            <a:endParaRPr lang="fr-BE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3B3C02-371C-4836-9681-7DD0EFCB39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33587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87B051-16F8-4B50-803C-8505DBE9E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9843" y="3110491"/>
            <a:ext cx="7886700" cy="1169698"/>
          </a:xfrm>
        </p:spPr>
        <p:txBody>
          <a:bodyPr/>
          <a:lstStyle/>
          <a:p>
            <a:r>
              <a:rPr lang="fr-FR" sz="4400" dirty="0"/>
              <a:t>Théorie des nombres - RSA</a:t>
            </a:r>
            <a:endParaRPr lang="fr-BE" sz="440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92B0AA5-3545-4384-864F-D1FEEA8C72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50105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FDB0263-16A1-49F3-A9B2-A1600402D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Chiffrement symétrique – Chiffrement asymétrique</a:t>
            </a:r>
            <a:endParaRPr lang="fr-BE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D0D9835-DA20-40D6-A831-60FEC97BC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Rappel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30FBA5-94B8-43A5-A0E0-EEFD364A97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3</a:t>
            </a:fld>
            <a:endParaRPr lang="fr-BE"/>
          </a:p>
        </p:txBody>
      </p:sp>
      <p:pic>
        <p:nvPicPr>
          <p:cNvPr id="5" name="Picture 2" descr="le chiffrement symétrique">
            <a:extLst>
              <a:ext uri="{FF2B5EF4-FFF2-40B4-BE49-F238E27FC236}">
                <a16:creationId xmlns:a16="http://schemas.microsoft.com/office/drawing/2014/main" id="{DC7B336C-32FB-484D-A41E-903304332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453" y="2612338"/>
            <a:ext cx="8083093" cy="2648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s://www.elysiria.fr/wp-content/uploads/2015/07/asymetrique2@2x.jpg">
            <a:extLst>
              <a:ext uri="{FF2B5EF4-FFF2-40B4-BE49-F238E27FC236}">
                <a16:creationId xmlns:a16="http://schemas.microsoft.com/office/drawing/2014/main" id="{05048EDD-F043-44A1-9821-CADEF9F93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643" y="2382294"/>
            <a:ext cx="7020711" cy="3880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3936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au 7">
            <a:extLst>
              <a:ext uri="{FF2B5EF4-FFF2-40B4-BE49-F238E27FC236}">
                <a16:creationId xmlns:a16="http://schemas.microsoft.com/office/drawing/2014/main" id="{5ED901F5-E395-4868-BED4-693D2E755A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9678489"/>
              </p:ext>
            </p:extLst>
          </p:nvPr>
        </p:nvGraphicFramePr>
        <p:xfrm>
          <a:off x="335756" y="2465482"/>
          <a:ext cx="8539162" cy="238083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269581">
                  <a:extLst>
                    <a:ext uri="{9D8B030D-6E8A-4147-A177-3AD203B41FA5}">
                      <a16:colId xmlns:a16="http://schemas.microsoft.com/office/drawing/2014/main" val="3487550724"/>
                    </a:ext>
                  </a:extLst>
                </a:gridCol>
                <a:gridCol w="4269581">
                  <a:extLst>
                    <a:ext uri="{9D8B030D-6E8A-4147-A177-3AD203B41FA5}">
                      <a16:colId xmlns:a16="http://schemas.microsoft.com/office/drawing/2014/main" val="976669947"/>
                    </a:ext>
                  </a:extLst>
                </a:gridCol>
              </a:tblGrid>
              <a:tr h="59520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dirty="0"/>
                        <a:t>Symétrique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dirty="0"/>
                        <a:t>Asymétrique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7530980"/>
                  </a:ext>
                </a:extLst>
              </a:tr>
              <a:tr h="59520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dirty="0"/>
                        <a:t>1 seule clé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dirty="0"/>
                        <a:t>2 clés (publique et privée)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316205"/>
                  </a:ext>
                </a:extLst>
              </a:tr>
              <a:tr h="59520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dirty="0"/>
                        <a:t>Rapide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dirty="0"/>
                        <a:t>Plus lent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268726"/>
                  </a:ext>
                </a:extLst>
              </a:tr>
              <a:tr h="59520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dirty="0"/>
                        <a:t>Problème de partage de clé</a:t>
                      </a:r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fr-FR" dirty="0"/>
                        <a:t>Résout le problème de partage de clés</a:t>
                      </a:r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209698"/>
                  </a:ext>
                </a:extLst>
              </a:tr>
            </a:tbl>
          </a:graphicData>
        </a:graphic>
      </p:graphicFrame>
      <p:sp>
        <p:nvSpPr>
          <p:cNvPr id="3" name="Titre 2">
            <a:extLst>
              <a:ext uri="{FF2B5EF4-FFF2-40B4-BE49-F238E27FC236}">
                <a16:creationId xmlns:a16="http://schemas.microsoft.com/office/drawing/2014/main" id="{CD0D9835-DA20-40D6-A831-60FEC97BC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Rappel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30FBA5-94B8-43A5-A0E0-EEFD364A97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68428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FFF8AD71-030D-464B-83C4-CB162C810C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388225"/>
                <a:ext cx="8539273" cy="458654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BE" dirty="0"/>
                  <a:t>Un chiffrement asymétrique va utiliser un couple de clés :</a:t>
                </a:r>
              </a:p>
              <a:p>
                <a:pPr marL="457200" lvl="1" indent="0">
                  <a:buNone/>
                </a:pPr>
                <a:r>
                  <a:rPr lang="fr-BE" dirty="0"/>
                  <a:t>Une clé publique </a:t>
                </a:r>
                <a:r>
                  <a:rPr lang="fr-BE" i="1" dirty="0"/>
                  <a:t>p</a:t>
                </a:r>
              </a:p>
              <a:p>
                <a:pPr marL="457200" lvl="1" indent="0">
                  <a:buNone/>
                </a:pPr>
                <a:r>
                  <a:rPr lang="fr-BE" dirty="0"/>
                  <a:t>Une clé privée </a:t>
                </a:r>
                <a:r>
                  <a:rPr lang="fr-BE" i="1" dirty="0"/>
                  <a:t>s</a:t>
                </a:r>
              </a:p>
              <a:p>
                <a:pPr marL="457200" lvl="1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La clé publique va permettre de chiffrer le message alors que la clé privée permettra de le déchiffrer</a:t>
                </a:r>
              </a:p>
              <a:p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Il y a donc une fonction de chiffrement f et une fonction de déchiffrement g :</a:t>
                </a:r>
              </a:p>
              <a:p>
                <a:endParaRPr lang="fr-BE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fr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fr-B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BE" b="0" i="1" smtClean="0">
                                  <a:latin typeface="Cambria Math" panose="02040503050406030204" pitchFamily="18" charset="0"/>
                                </a:rPr>
                                <m:t>𝑚𝑒𝑠𝑠𝑎𝑔𝑒</m:t>
                              </m:r>
                              <m:r>
                                <a:rPr lang="fr-BE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fr-BE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𝑚𝑒𝑠𝑠𝑎𝑔𝑒</m:t>
                      </m:r>
                    </m:oMath>
                  </m:oMathPara>
                </a14:m>
                <a:endParaRPr lang="fr-BE" dirty="0"/>
              </a:p>
              <a:p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FFF8AD71-030D-464B-83C4-CB162C810C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388225"/>
                <a:ext cx="8539273" cy="4586548"/>
              </a:xfrm>
              <a:blipFill>
                <a:blip r:embed="rId2"/>
                <a:stretch>
                  <a:fillRect l="-1071" t="-1729" r="-1071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39C2055D-4D15-4C68-B5C0-C5DAED20A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2866" y="228600"/>
            <a:ext cx="4635384" cy="962247"/>
          </a:xfrm>
        </p:spPr>
        <p:txBody>
          <a:bodyPr>
            <a:normAutofit fontScale="90000"/>
          </a:bodyPr>
          <a:lstStyle/>
          <a:p>
            <a:r>
              <a:rPr lang="fr-FR" dirty="0"/>
              <a:t>Chiffrement asymétrique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94C8D4C-64AC-4DCD-B8C9-533A2AB307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20571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D3848345-2DE4-4F63-A2EF-74E72FC318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BE" dirty="0"/>
                  <a:t>Rivest Shamir </a:t>
                </a:r>
                <a:r>
                  <a:rPr lang="fr-BE" dirty="0" err="1"/>
                  <a:t>Adleman</a:t>
                </a:r>
                <a:r>
                  <a:rPr lang="fr-BE" dirty="0"/>
                  <a:t> (RSA) est basé sur la difficulté de factoriser de grands nombres entiers en facteur premier.</a:t>
                </a:r>
              </a:p>
              <a:p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Pour générer une clé RSA :</a:t>
                </a:r>
              </a:p>
              <a:p>
                <a:pPr marL="457200" lvl="1" indent="0">
                  <a:buNone/>
                </a:pPr>
                <a:r>
                  <a:rPr lang="fr-BE" dirty="0"/>
                  <a:t>On choisit 2 nombres premiers distincts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BE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BE" dirty="0"/>
                  <a:t>et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fr-BE" dirty="0"/>
              </a:p>
              <a:p>
                <a:pPr marL="457200" lvl="1" indent="0">
                  <a:buNone/>
                </a:pPr>
                <a:r>
                  <a:rPr lang="fr-BE" dirty="0"/>
                  <a:t>On calcule le module de chiffrement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BE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BE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fr-BE" dirty="0"/>
              </a:p>
              <a:p>
                <a:pPr marL="457200" lvl="1" indent="0">
                  <a:buNone/>
                </a:pPr>
                <a:r>
                  <a:rPr lang="fr-BE" dirty="0"/>
                  <a:t>On calcule l’indicatrice d’Euler : </a:t>
                </a:r>
                <a14:m>
                  <m:oMath xmlns:m="http://schemas.openxmlformats.org/officeDocument/2006/math">
                    <m:r>
                      <a:rPr lang="fr-B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fr-B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B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−1)(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</m:t>
                    </m:r>
                  </m:oMath>
                </a14:m>
                <a:endParaRPr lang="fr-BE" dirty="0"/>
              </a:p>
              <a:p>
                <a:pPr marL="457200" lvl="1" indent="0">
                  <a:buNone/>
                </a:pPr>
                <a:r>
                  <a:rPr lang="fr-BE" dirty="0"/>
                  <a:t>On choisit un nombre premier </a:t>
                </a:r>
                <a14:m>
                  <m:oMath xmlns:m="http://schemas.openxmlformats.org/officeDocument/2006/math">
                    <m:r>
                      <a:rPr lang="fr-BE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BE" b="0" i="1" smtClean="0">
                        <a:latin typeface="Cambria Math" panose="02040503050406030204" pitchFamily="18" charset="0"/>
                      </a:rPr>
                      <m:t>&lt; 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fr-B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B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fr-BE" dirty="0"/>
                  <a:t> premier avec </a:t>
                </a:r>
                <a14:m>
                  <m:oMath xmlns:m="http://schemas.openxmlformats.org/officeDocument/2006/math">
                    <m:r>
                      <a:rPr lang="fr-B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fr-BE" dirty="0"/>
              </a:p>
              <a:p>
                <a:pPr marL="457200" lvl="1" indent="0">
                  <a:buNone/>
                </a:pPr>
                <a:r>
                  <a:rPr lang="fr-BE" dirty="0"/>
                  <a:t>On calcule le nombre entier </a:t>
                </a:r>
                <a14:m>
                  <m:oMath xmlns:m="http://schemas.openxmlformats.org/officeDocument/2006/math">
                    <m:r>
                      <a:rPr lang="fr-BE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fr-BE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fr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fr-BE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fr-B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BE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fr-B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D3848345-2DE4-4F63-A2EF-74E72FC318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1943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7EF7FAE7-3693-4E79-92DB-1096A5306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RSA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1080947-5F36-4499-A633-A2E668E5AD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1101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AA446371-5C35-4348-ABC3-BCAB8B776A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521229"/>
                <a:ext cx="8539273" cy="445354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Théorème : Tout entier positif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fr-FR" dirty="0"/>
                  <a:t> s’écrit comme produit de nombres premiers et ce produit est unique.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Case de base :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fr-F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2=2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qui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est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un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nombre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premier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Hypothèse de récurrence :</a:t>
                </a:r>
              </a:p>
              <a:p>
                <a:pPr marL="0" indent="0">
                  <a:buNone/>
                </a:pPr>
                <a:r>
                  <a:rPr lang="fr-BE" dirty="0"/>
                  <a:t>On a un entier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On suppose que pour tout entier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fr-BE" dirty="0"/>
                  <a:t> tel que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2≤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fr-BE" dirty="0"/>
                  <a:t>, on peut écrire m comme un produit de nombres premiers</a:t>
                </a:r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AA446371-5C35-4348-ABC3-BCAB8B776A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521229"/>
                <a:ext cx="8539273" cy="4453544"/>
              </a:xfrm>
              <a:blipFill>
                <a:blip r:embed="rId2"/>
                <a:stretch>
                  <a:fillRect l="-1071" t="-1781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2AE8ED18-1256-448B-88CA-A60BCD2A1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Factorisation en nombres premiers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33D148-71D7-4B11-A354-6D4E460433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4726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3D53636C-A328-4AE1-B54B-C5FAAE078D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438102"/>
                <a:ext cx="8539273" cy="453667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Cas 1 :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fr-FR" dirty="0"/>
                  <a:t> est premier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𝑝𝑟𝑜𝑑𝑢𝑖𝑡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𝑢𝑛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𝑛𝑜𝑚𝑏𝑟𝑒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𝑝𝑟𝑒𝑚𝑖𝑒𝑟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Cas 2 :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fr-BE" dirty="0"/>
                  <a:t> est composite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fr-BE" dirty="0"/>
                  <a:t> n’est pas premier donc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𝑎𝑣𝑒𝑐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1&lt;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𝑡𝑒𝑙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𝑞𝑢𝑒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𝑎𝑣𝑒𝑐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1&lt;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Par l’hypothèse de récurrence, on va pouvoir dire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∗…∗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é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𝑡𝑎𝑛𝑡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𝑝𝑟𝑒𝑚𝑖𝑒𝑟𝑠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∗…∗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é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𝑡𝑎𝑛𝑡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𝑝𝑟𝑒𝑚𝑖𝑒𝑟𝑠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3D53636C-A328-4AE1-B54B-C5FAAE078D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438102"/>
                <a:ext cx="8539273" cy="4536671"/>
              </a:xfrm>
              <a:blipFill>
                <a:blip r:embed="rId2"/>
                <a:stretch>
                  <a:fillRect l="-1071" t="-1747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4E1DAFC2-D40D-43A8-9C74-3F23974F4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Factorisation en nombres premiers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3BC3BF6-E4E3-464C-A848-0B3B6E4C16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64439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B6D82535-88D4-42B2-A1AE-79831AE4CC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Donc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∗…∗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∗…∗</m:t>
                          </m:r>
                          <m:sSub>
                            <m:sSub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B6D82535-88D4-42B2-A1AE-79831AE4CC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1943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3182900F-B7DA-4151-8886-7703D285A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Factorisation en nombres premiers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10C7AB9-7E8C-4A82-B5F0-C5099AD51A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9</a:t>
            </a:fld>
            <a:endParaRPr lang="fr-BE"/>
          </a:p>
        </p:txBody>
      </p:sp>
      <p:pic>
        <p:nvPicPr>
          <p:cNvPr id="3074" name="Picture 2" descr="a man in a red shirt is dancing in a kitchen while another man watches .">
            <a:extLst>
              <a:ext uri="{FF2B5EF4-FFF2-40B4-BE49-F238E27FC236}">
                <a16:creationId xmlns:a16="http://schemas.microsoft.com/office/drawing/2014/main" id="{D965D439-9445-4956-9C4F-E87ECA53CEF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275" y="3080616"/>
            <a:ext cx="474345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896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E5852119-8B1A-4D07-B4B8-BA484D32CC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729047"/>
                <a:ext cx="8539273" cy="424572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Reste à prouver l’unicité à l’ordre près des facteurs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𝑆𝑖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∗…∗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𝑠𝑖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∗…∗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Alors il faut montrer que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fr-FR" dirty="0"/>
                  <a:t> 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fr-FR" dirty="0"/>
                  <a:t> sont les mêmes ensembles de nombres premiers à l’ordre près.</a:t>
                </a:r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On peut aussi écrire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∗…∗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∗…∗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FR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E5852119-8B1A-4D07-B4B8-BA484D32CC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729047"/>
                <a:ext cx="8539273" cy="4245726"/>
              </a:xfrm>
              <a:blipFill>
                <a:blip r:embed="rId2"/>
                <a:stretch>
                  <a:fillRect l="-1071" t="-1868" r="-1927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5962D485-C14D-4D73-88A6-BB9F74417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Factorisation en nombres premiers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6787EB-A51D-453F-8666-E6D55411D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03882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F1554605-705B-4153-8DB7-4C562942A0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546167"/>
                <a:ext cx="8539273" cy="4428606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∗…∗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∗…∗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Ce qui veut dire que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fr-FR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∗…∗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Utilisation du lemme d’Euclide : </a:t>
                </a:r>
                <a:r>
                  <a:rPr lang="fr-FR" dirty="0"/>
                  <a:t>si un nombre premier 𝑝 divise un produit 𝑎𝑏, alors il divise 𝑎 ou il divise 𝑏.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Ici, on peut donc en déduire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BE" dirty="0"/>
                  <a:t> divise un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fr-FR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Or, on sait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fr-BE" dirty="0"/>
                  <a:t> est premier donc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F1554605-705B-4153-8DB7-4C562942A0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546167"/>
                <a:ext cx="8539273" cy="4428606"/>
              </a:xfrm>
              <a:blipFill>
                <a:blip r:embed="rId2"/>
                <a:stretch>
                  <a:fillRect l="-1071" r="-1784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99ABC850-EBBA-426A-A7F6-CB7DD27F6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Factorisation en nombres premiers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F95FA2-6753-41D9-A9E8-BD753763E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04480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64AE5531-9910-424A-A104-BDB0FBFD7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On peut alors simplifier l’égalité en supprimant le facteur commun.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On peut reproduire l’opération 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3, …</m:t>
                        </m:r>
                      </m:sub>
                    </m:sSub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fr-BE" dirty="0"/>
                  <a:t> et donc on montre que tous 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BE" dirty="0"/>
                  <a:t> sont égaux à 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𝐶𝑄𝐹𝐷</m:t>
                      </m:r>
                    </m:oMath>
                  </m:oMathPara>
                </a14:m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64AE5531-9910-424A-A104-BDB0FBFD7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A160D92F-E443-4C45-A0AD-6E2BDBA84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Factorisation en nombres premiers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206F4AF-400A-41DD-A287-6604D2F877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82665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49756958-8579-4DEF-A43C-67C177004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EDE418B-67C3-455A-A85C-DB142E6CF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13</a:t>
            </a:fld>
            <a:endParaRPr lang="fr-BE"/>
          </a:p>
        </p:txBody>
      </p:sp>
      <p:pic>
        <p:nvPicPr>
          <p:cNvPr id="5" name="Picture 2" descr="le chiffrement symétrique">
            <a:extLst>
              <a:ext uri="{FF2B5EF4-FFF2-40B4-BE49-F238E27FC236}">
                <a16:creationId xmlns:a16="http://schemas.microsoft.com/office/drawing/2014/main" id="{9E00C855-C2E3-4740-AB5E-1D744D91CC9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73" y="2277687"/>
            <a:ext cx="9002454" cy="2949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5249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0B935F2-E5C5-4A63-9FDA-395255C24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257A0F5D-83CA-4649-B5BB-81BF0BAFD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65DEF30-8208-44BB-9006-78FFCD11A3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14</a:t>
            </a:fld>
            <a:endParaRPr lang="fr-BE"/>
          </a:p>
        </p:txBody>
      </p:sp>
      <p:pic>
        <p:nvPicPr>
          <p:cNvPr id="4098" name="Picture 2" descr="undefined">
            <a:extLst>
              <a:ext uri="{FF2B5EF4-FFF2-40B4-BE49-F238E27FC236}">
                <a16:creationId xmlns:a16="http://schemas.microsoft.com/office/drawing/2014/main" id="{9225D9DD-AB19-4CEB-83C9-00A3400C3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876" y="1186218"/>
            <a:ext cx="4222247" cy="5443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5722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312E5C6F-5819-4937-B5E3-A25BEA8DB4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587731"/>
                <a:ext cx="8539273" cy="438704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Message :</a:t>
                </a:r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Clé :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fr-BE" dirty="0"/>
                  <a:t> un nombre premier</a:t>
                </a:r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Message chiffré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312E5C6F-5819-4937-B5E3-A25BEA8DB4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587731"/>
                <a:ext cx="8539273" cy="4387042"/>
              </a:xfrm>
              <a:blipFill>
                <a:blip r:embed="rId2"/>
                <a:stretch>
                  <a:fillRect l="-1071" t="-1806" b="-139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9F391B13-7FC6-4DAA-86EB-F3E25A91E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Code de Turing v1.0 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B1C0DE0-DD2B-4E6B-A391-951429722D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15</a:t>
            </a:fld>
            <a:endParaRPr lang="fr-BE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227ED16-CD1D-4EDA-AF89-7C0A3466C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130" y="1587731"/>
            <a:ext cx="4476966" cy="258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547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72E13F39-F847-42F4-A8A6-7F87BD03C7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554480"/>
                <a:ext cx="8539273" cy="442029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Si on choisis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 = 22801763489</m:t>
                    </m:r>
                  </m:oMath>
                </a14:m>
                <a:r>
                  <a:rPr lang="fr-BE" dirty="0"/>
                  <a:t> comme clé avec le message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 = 2209032015182513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  <m:oMath xmlns:m="http://schemas.openxmlformats.org/officeDocument/2006/math"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=2209032015182513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22801763489</m:t>
                      </m:r>
                    </m:oMath>
                    <m:oMath xmlns:m="http://schemas.openxmlformats.org/officeDocument/2006/math">
                      <m:r>
                        <a:rPr lang="fr-FR" b="0" i="0" dirty="0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fr-BE" i="1" dirty="0" smtClean="0">
                          <a:latin typeface="Cambria Math" panose="02040503050406030204" pitchFamily="18" charset="0"/>
                        </a:rPr>
                        <m:t>= 50369825549820718594667857</m:t>
                      </m:r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:endParaRPr lang="fr-FR" b="0" dirty="0"/>
              </a:p>
              <a:p>
                <a:pPr marL="0" indent="0">
                  <a:buNone/>
                </a:pPr>
                <a:r>
                  <a:rPr lang="fr-FR" dirty="0"/>
                  <a:t>Si on connaît la clé, alors c’est simple :</a:t>
                </a:r>
              </a:p>
              <a:p>
                <a:pPr marL="0" indent="0">
                  <a:buNone/>
                </a:pPr>
                <a:endParaRPr lang="fr-F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fr-FR" b="0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72E13F39-F847-42F4-A8A6-7F87BD03C7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554480"/>
                <a:ext cx="8539273" cy="4420293"/>
              </a:xfrm>
              <a:blipFill>
                <a:blip r:embed="rId2"/>
                <a:stretch>
                  <a:fillRect l="-1071" t="-1793" r="-1356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EE9B117F-311D-4F12-B6B5-73C986E85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Code de Turing v1.0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46DA5A-F5DC-47DE-A990-2D452D74F7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45935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3B037214-925C-45A2-8B60-F502A91238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679171"/>
                <a:ext cx="8539273" cy="429560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Par contre, si on ne connaît que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fr-BE" dirty="0"/>
                  <a:t> …</a:t>
                </a:r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Vraiment ?</a:t>
                </a:r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Supposons qu’on intercepte 2 messages chiffrés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B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B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fr-FR" b="0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Alors 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𝑝𝑔𝑐𝑑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B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fr-B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3B037214-925C-45A2-8B60-F502A91238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679171"/>
                <a:ext cx="8539273" cy="4295602"/>
              </a:xfrm>
              <a:blipFill>
                <a:blip r:embed="rId2"/>
                <a:stretch>
                  <a:fillRect l="-1071" t="-1844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F3E1B2A3-2F76-42D7-A440-5CC175F48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Code de Turing v1.0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9BD164-22CC-439D-A587-45E59F4D6A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94200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09370199-44D5-417A-90B0-7B6EAE7433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429789"/>
                <a:ext cx="8539273" cy="4544984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fr-FR" dirty="0"/>
                  <a:t>Clé secrète :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fr-BE" dirty="0"/>
                  <a:t> (nombre premier)</a:t>
                </a:r>
              </a:p>
              <a:p>
                <a:pPr marL="0" indent="0" algn="ctr">
                  <a:buNone/>
                </a:pPr>
                <a:endParaRPr lang="fr-BE" dirty="0"/>
              </a:p>
              <a:p>
                <a:pPr marL="0" indent="0" algn="ctr">
                  <a:buNone/>
                </a:pPr>
                <a:r>
                  <a:rPr lang="fr-BE" dirty="0"/>
                  <a:t>Clé publique :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fr-BE" dirty="0"/>
                  <a:t> (nombre premier)</a:t>
                </a:r>
              </a:p>
              <a:p>
                <a:pPr marL="0" indent="0" algn="ctr">
                  <a:buNone/>
                </a:pPr>
                <a:endParaRPr lang="fr-BE" dirty="0"/>
              </a:p>
              <a:p>
                <a:pPr marL="0" indent="0" algn="ctr">
                  <a:buNone/>
                </a:pPr>
                <a:r>
                  <a:rPr lang="fr-BE" dirty="0"/>
                  <a:t>Message :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∈{0,1,…, 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endParaRPr lang="fr-BE" dirty="0"/>
              </a:p>
              <a:p>
                <a:pPr marL="0" indent="0" algn="ctr">
                  <a:buNone/>
                </a:pPr>
                <a:endParaRPr lang="fr-BE" dirty="0"/>
              </a:p>
              <a:p>
                <a:pPr marL="0" indent="0" algn="ctr">
                  <a:buNone/>
                </a:pPr>
                <a:r>
                  <a:rPr lang="fr-BE" dirty="0"/>
                  <a:t>Message chiffré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𝑟𝑒𝑠𝑡𝑒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𝑚𝑘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fr-FR" b="0" dirty="0"/>
              </a:p>
              <a:p>
                <a:pPr marL="0" indent="0" algn="ctr">
                  <a:buNone/>
                </a:pPr>
                <a:r>
                  <a:rPr lang="fr-FR" b="0" dirty="0"/>
                  <a:t>Autrement dit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𝑚𝑘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b="0" dirty="0"/>
              </a:p>
              <a:p>
                <a:pPr marL="0" indent="0" algn="ctr">
                  <a:buNone/>
                </a:pPr>
                <a:endParaRPr lang="fr-FR" dirty="0"/>
              </a:p>
              <a:p>
                <a:pPr marL="0" indent="0" algn="ctr">
                  <a:buNone/>
                </a:pPr>
                <a:r>
                  <a:rPr lang="fr-FR" b="0" dirty="0"/>
                  <a:t>Et pour déchiffrer ?</a:t>
                </a:r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09370199-44D5-417A-90B0-7B6EAE7433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429789"/>
                <a:ext cx="8539273" cy="4544984"/>
              </a:xfrm>
              <a:blipFill>
                <a:blip r:embed="rId2"/>
                <a:stretch>
                  <a:fillRect t="-1745" b="-2819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BA555C22-5B87-4D48-9CD5-46201E6AB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Code de Turing v2.0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BCEAD2B-FC6F-4B0C-AC62-D35E60851E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10807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4CC8ED8D-6BB2-40C3-B2EA-52C54E6C16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Définition : </a:t>
                </a:r>
                <a:endParaRPr lang="fr-F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𝑆𝑜𝑖𝑒𝑛𝑡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𝑒𝑡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fr-F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ℕ</m:t>
                          </m:r>
                        </m:e>
                        <m:sub>
                          <m:r>
                            <a:rPr lang="fr-FR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𝑠𝑖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|(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𝑠𝑖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</m:oMath>
                  </m:oMathPara>
                </a14:m>
                <a:endParaRPr lang="fr-FR" b="0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b="0" dirty="0"/>
                  <a:t>On va dire que </a:t>
                </a:r>
                <a14:m>
                  <m:oMath xmlns:m="http://schemas.openxmlformats.org/officeDocument/2006/math"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fr-FR" b="0" dirty="0"/>
                  <a:t> est congru à </a:t>
                </a:r>
                <a14:m>
                  <m:oMath xmlns:m="http://schemas.openxmlformats.org/officeDocument/2006/math"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fr-FR" b="0" dirty="0"/>
                  <a:t> modulo </a:t>
                </a:r>
                <a14:m>
                  <m:oMath xmlns:m="http://schemas.openxmlformats.org/officeDocument/2006/math"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fr-FR" b="0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b="0" dirty="0"/>
                  <a:t>Exemple : </a:t>
                </a:r>
                <a:endParaRPr lang="fr-FR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31≡16 </m:t>
                      </m:r>
                      <m:d>
                        <m:d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5</m:t>
                          </m:r>
                        </m:e>
                      </m:d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𝑐𝑎𝑟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31−16=15∈5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:endParaRPr lang="fr-FR" b="0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4CC8ED8D-6BB2-40C3-B2EA-52C54E6C16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1943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F00BCCC6-3335-4B32-BE27-0DA49F751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8874" y="228600"/>
            <a:ext cx="4369376" cy="962247"/>
          </a:xfrm>
        </p:spPr>
        <p:txBody>
          <a:bodyPr>
            <a:normAutofit fontScale="90000"/>
          </a:bodyPr>
          <a:lstStyle/>
          <a:p>
            <a:r>
              <a:rPr lang="fr-FR" dirty="0"/>
              <a:t>Arithmétique modulaire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0DE64B-3227-40D3-9634-1E14E20D48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19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98446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57D245A4-239A-46AA-809C-D4FBFA973D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762297"/>
                <a:ext cx="8539273" cy="42124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Définition : </a:t>
                </a:r>
              </a:p>
              <a:p>
                <a:pPr marL="0" indent="0">
                  <a:buNone/>
                </a:pPr>
                <a:r>
                  <a:rPr lang="fr-FR" dirty="0"/>
                  <a:t>Si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fr-FR" b="0" i="0" smtClean="0">
                        <a:latin typeface="Cambria Math" panose="02040503050406030204" pitchFamily="18" charset="0"/>
                      </a:rPr>
                      <m:t>1 (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fr-F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fr-FR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BE" dirty="0"/>
                  <a:t>, on appelle y l’inverse multiplicatif de x modulo n, et on note 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fr-FR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fr-FR">
                        <a:latin typeface="Cambria Math" panose="02040503050406030204" pitchFamily="18" charset="0"/>
                      </a:rPr>
                      <m:t>mod</m:t>
                    </m:r>
                    <m:r>
                      <a:rPr lang="fr-FR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>
                        <a:latin typeface="Cambria Math" panose="02040503050406030204" pitchFamily="18" charset="0"/>
                      </a:rPr>
                      <m:t>n</m:t>
                    </m:r>
                    <m:r>
                      <a:rPr lang="fr-FR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Rappel : </a:t>
                </a:r>
                <a14:m>
                  <m:oMath xmlns:m="http://schemas.openxmlformats.org/officeDocument/2006/math">
                    <m:r>
                      <a:rPr lang="fr-BE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br>
                  <a:rPr lang="fr-FR" b="0" dirty="0"/>
                </a:br>
                <a:endParaRPr lang="fr-FR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𝑝𝑔𝑐𝑑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⁡{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ℕ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fr-BE" dirty="0"/>
                        <m:t>∃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Si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fr-FR" dirty="0"/>
                  <a:t> et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fr-FR" dirty="0"/>
                  <a:t> sont premiers entre eux,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𝑝𝑔𝑐𝑑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FR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57D245A4-239A-46AA-809C-D4FBFA973D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762297"/>
                <a:ext cx="8539273" cy="4212475"/>
              </a:xfrm>
              <a:blipFill>
                <a:blip r:embed="rId2"/>
                <a:stretch>
                  <a:fillRect l="-1071" t="-1881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945D6F53-2083-49CE-A6C6-408BC980C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Inverse multiplicatif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0177CBC-68CA-4B2F-8F9E-4D538FFF06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13796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6074F9DE-7B0C-43E9-BA11-F6FAEDB849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Donc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1=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i="1" dirty="0" err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𝑏</m:t>
                      </m:r>
                      <m:groupChr>
                        <m:groupChrPr>
                          <m:chr m:val="⇒"/>
                          <m:vertJc m:val="bot"/>
                          <m:ctrlPr>
                            <a:rPr lang="fr-FR" i="1" dirty="0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fr-FR" b="0" dirty="0"/>
              </a:p>
              <a:p>
                <a:pPr marL="0" indent="0">
                  <a:buNone/>
                </a:pPr>
                <a:br>
                  <a:rPr lang="fr-FR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vertJc m:val="bot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≡1 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:br>
                  <a:rPr lang="fr-FR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vertJc m:val="bot"/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r>
                        <a:rPr lang="fr-FR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fr-FR" i="1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6074F9DE-7B0C-43E9-BA11-F6FAEDB849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1943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48E87FD3-B4BA-48DE-B874-B27EE8DDF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Inverse multiplicatif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1CE2C2-BDE8-48FD-A9A2-67D20ED43B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55410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C1A3699C-B397-4C62-8BE8-38B6271983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330036"/>
                <a:ext cx="8539273" cy="464473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BE" dirty="0"/>
                  <a:t>Théorème :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fr-BE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possède un inverse multiplicatif modulo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fr-BE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</m:t>
                    </m:r>
                    <m:sSub>
                      <m:sSubPr>
                        <m:ctrlPr>
                          <a:rPr lang="fr-BE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B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b>
                        <m:r>
                          <a:rPr lang="fr-B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BE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fr-BE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ssi</a:t>
                </a:r>
                <a:r>
                  <a:rPr lang="fr-BE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𝑝𝑔𝑐𝑑</m:t>
                    </m:r>
                    <m:r>
                      <a:rPr lang="fr-BE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fr-BE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lang="fr-BE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Démo : On vient de vérifier que un des sens, vérifions l’autre.</a:t>
                </a:r>
              </a:p>
              <a:p>
                <a:pPr marL="0" indent="0">
                  <a:buNone/>
                </a:pPr>
                <a:endParaRPr lang="fr-F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B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fr-B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≡1 (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⇔"/>
                          <m:vertJc m:val="bot"/>
                          <m:ctrlPr>
                            <a:rPr lang="fr-BE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B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fr-B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fr-BE" i="1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B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fr-B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=1+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⇔"/>
                          <m:vertJc m:val="bot"/>
                          <m:ctrlPr>
                            <a:rPr lang="fr-BE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B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fr-B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fr-BE" i="1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B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fr-B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fr-F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 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⇔"/>
                          <m:vertJc m:val="bot"/>
                          <m:ctrlPr>
                            <a:rPr lang="fr-BE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𝑝𝑔𝑐𝑑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C1A3699C-B397-4C62-8BE8-38B6271983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330036"/>
                <a:ext cx="8539273" cy="4644737"/>
              </a:xfrm>
              <a:blipFill>
                <a:blip r:embed="rId2"/>
                <a:stretch>
                  <a:fillRect l="-1071" t="-1837" r="-71" b="-6430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17A5E1E3-1A07-4805-909B-5939306B8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Inverse multiplicatif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C9A98A-E3E5-4441-AE98-AF0A6A5F3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65336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BDC8C32E-C40C-4B53-BF21-0D257F4397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Clé secrète :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fr-BE" dirty="0"/>
                  <a:t> 	Message : </a:t>
                </a:r>
                <a14:m>
                  <m:oMath xmlns:m="http://schemas.openxmlformats.org/officeDocument/2006/math">
                    <m:r>
                      <a:rPr lang="fr-BE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BE" i="1" dirty="0">
                        <a:latin typeface="Cambria Math" panose="02040503050406030204" pitchFamily="18" charset="0"/>
                      </a:rPr>
                      <m:t>∈{0,1,…, </m:t>
                    </m:r>
                    <m:r>
                      <a:rPr lang="fr-FR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FR" i="1" dirty="0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Clé publique :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fr-BE" dirty="0"/>
                  <a:t> 	Message chiffré 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𝑟𝑒𝑠𝑡𝑒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𝑚𝑘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Déchiffrement :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𝑝𝑔𝑐𝑑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fr-BE" dirty="0"/>
                  <a:t> donc </a:t>
                </a:r>
                <a14:m>
                  <m:oMath xmlns:m="http://schemas.openxmlformats.org/officeDocument/2006/math">
                    <m:r>
                      <a:rPr lang="fr-BE" i="1" smtClean="0">
                        <a:latin typeface="Cambria Math" panose="02040503050406030204" pitchFamily="18" charset="0"/>
                      </a:rPr>
                      <m:t>∃</m:t>
                    </m:r>
                    <m:sSup>
                      <m:sSupPr>
                        <m:ctrlPr>
                          <a:rPr lang="fr-BE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fr-F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vertJc m:val="bot"/>
                          <m:ctrlPr>
                            <a:rPr lang="fr-BE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fr-B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fr-FR" i="1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vertJc m:val="bot"/>
                          <m:ctrlPr>
                            <a:rPr lang="fr-BE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fr-B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vertJc m:val="bot"/>
                          <m:ctrlPr>
                            <a:rPr lang="fr-BE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𝑟𝑒𝑠𝑡𝑒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fr-B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BDC8C32E-C40C-4B53-BF21-0D257F4397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1943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AC57899F-8B36-45F3-8820-71974D3C2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Code de Turing v2.0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A7CC45-5BA5-41DA-85E9-2BF91870CE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0584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970530E2-C319-4EFD-8F69-BC50627056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Définition :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𝑃𝑜𝑢𝑟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fr-FR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fr-FR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l-GR" i="1" dirty="0" smtClean="0">
                              <a:latin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≔</m:t>
                          </m:r>
                          <m:r>
                            <m:rPr>
                              <m:lit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#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𝑒𝑛𝑡𝑖𝑒𝑟𝑠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𝑑𝑎𝑛𝑠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1, 2, 3, …,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𝑟𝑒𝑙𝑎𝑡𝑖𝑣𝑒𝑚𝑒𝑛𝑡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𝑝𝑟𝑒𝑚𝑖𝑒𝑟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𝑎𝑣𝑒𝑐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eqArr>
                    </m:oMath>
                  </m:oMathPara>
                </a14:m>
                <a:br>
                  <a:rPr lang="fr-FR" b="0" i="1" dirty="0">
                    <a:latin typeface="Cambria Math" panose="02040503050406030204" pitchFamily="18" charset="0"/>
                  </a:rPr>
                </a:br>
                <a:endParaRPr lang="fr-FR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Exemples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     {</m:t>
                      </m:r>
                      <m:r>
                        <a:rPr lang="fr-F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,2,3,4,</m:t>
                      </m:r>
                      <m:r>
                        <a:rPr lang="fr-F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,6,</m:t>
                      </m:r>
                      <m:r>
                        <a:rPr lang="fr-F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,8,9,10,</m:t>
                      </m:r>
                      <m:r>
                        <a:rPr lang="fr-F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11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=8     {</m:t>
                      </m:r>
                      <m:r>
                        <a:rPr lang="fr-F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,3,</m:t>
                      </m:r>
                      <m:r>
                        <a:rPr lang="fr-F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,6,</m:t>
                      </m:r>
                      <m:r>
                        <a:rPr lang="fr-F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,9,10,</m:t>
                      </m:r>
                      <m:r>
                        <a:rPr lang="fr-F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11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,12,</m:t>
                      </m:r>
                      <m:r>
                        <a:rPr lang="fr-F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13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−1   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𝑠𝑖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𝑒𝑠𝑡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𝑝𝑟𝑒𝑚𝑖𝑒𝑟</m:t>
                      </m:r>
                    </m:oMath>
                  </m:oMathPara>
                </a14:m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970530E2-C319-4EFD-8F69-BC50627056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1943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re 2">
                <a:extLst>
                  <a:ext uri="{FF2B5EF4-FFF2-40B4-BE49-F238E27FC236}">
                    <a16:creationId xmlns:a16="http://schemas.microsoft.com/office/drawing/2014/main" id="{E93F6224-6652-47C6-B46E-A8197ADD8A1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fr-FR" dirty="0"/>
                  <a:t>Fonction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fr-FR" dirty="0"/>
                  <a:t> d’Euler</a:t>
                </a:r>
                <a:endParaRPr lang="fr-BE" dirty="0"/>
              </a:p>
            </p:txBody>
          </p:sp>
        </mc:Choice>
        <mc:Fallback xmlns="">
          <p:sp>
            <p:nvSpPr>
              <p:cNvPr id="3" name="Titre 2">
                <a:extLst>
                  <a:ext uri="{FF2B5EF4-FFF2-40B4-BE49-F238E27FC236}">
                    <a16:creationId xmlns:a16="http://schemas.microsoft.com/office/drawing/2014/main" id="{E93F6224-6652-47C6-B46E-A8197ADD8A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4125" b="-3185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D0D344-56CA-4A02-8916-58F0F4E8D0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1356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6C895790-0FF4-43DB-8652-D9AEC2A003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421476"/>
                <a:ext cx="8539273" cy="455329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BE" dirty="0"/>
                  <a:t>Soient 𝑛 un entier positif et 𝑎 un entier tel que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𝑝𝑔𝑐𝑑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fr-BE" dirty="0"/>
                  <a:t>. Alors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BE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l-GR" i="1" dirty="0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l-GR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BE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r>
                      <a:rPr lang="fr-BE" i="1" dirty="0" smtClean="0">
                        <a:latin typeface="Cambria Math" panose="02040503050406030204" pitchFamily="18" charset="0"/>
                      </a:rPr>
                      <m:t>≡1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fr-B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BE" i="1" dirty="0" err="1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BE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Démonstration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∈{1,2,…,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−1}∣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𝑝𝑔𝑐𝑑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)=1}.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La cardinalité de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fr-BE" dirty="0"/>
                  <a:t> vaut par définition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On va considérer la fonction suivante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𝑆</m:t>
                      </m:r>
                      <m:groupChr>
                        <m:groupChrPr>
                          <m:chr m:val="→"/>
                          <m:pos m:val="top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On prouve assez facilement que c’est une injection et une bijection</a:t>
                </a:r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6C895790-0FF4-43DB-8652-D9AEC2A003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421476"/>
                <a:ext cx="8539273" cy="4553297"/>
              </a:xfrm>
              <a:blipFill>
                <a:blip r:embed="rId3"/>
                <a:stretch>
                  <a:fillRect l="-1071" t="-1874" r="-1213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AA4A2BF6-1477-40A5-88EC-997E2CE6B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Théorème d’Euler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E1DC6BC-62CE-459E-8EC9-3D2C2BC51A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0181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BF7CCE45-15BC-4482-B8F8-4D5C65573B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BE" b="1" dirty="0"/>
                  <a:t>Injection</a:t>
                </a:r>
                <a:r>
                  <a:rPr lang="fr-BE" dirty="0"/>
                  <a:t> :</a:t>
                </a:r>
              </a:p>
              <a:p>
                <a:pPr marL="0" indent="0">
                  <a:buNone/>
                </a:pPr>
                <a:r>
                  <a:rPr lang="fr-BE" dirty="0"/>
                  <a:t>Si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1)=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2), </m:t>
                    </m:r>
                  </m:oMath>
                </a14:m>
                <a:r>
                  <a:rPr lang="fr-BE" dirty="0"/>
                  <a:t>cela signifie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1) 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 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  =  (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2) 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 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BE" dirty="0"/>
                  <a:t>. </a:t>
                </a:r>
              </a:p>
              <a:p>
                <a:pPr marL="0" indent="0">
                  <a:buNone/>
                </a:pPr>
                <a:r>
                  <a:rPr lang="fr-BE" dirty="0"/>
                  <a:t>Autrement dit,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1≡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2(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</a:rPr>
                      <m:t>𝑚𝑜𝑑𝑛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Or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𝑝𝑔𝑐𝑑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)=1 </m:t>
                    </m:r>
                  </m:oMath>
                </a14:m>
                <a:r>
                  <a:rPr lang="fr-BE" dirty="0"/>
                  <a:t>implique que l’on peut “diviser” par a modulo n.</a:t>
                </a:r>
                <a:br>
                  <a:rPr lang="fr-BE" dirty="0"/>
                </a:br>
                <a:r>
                  <a:rPr lang="fr-BE" dirty="0"/>
                  <a:t>Donc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1≡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2(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</a:rPr>
                      <m:t>𝑚𝑜𝑑𝑛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Comme x1et x2​ sont dans l’intervalle [1,n−1], on conclut x1=x2</a:t>
                </a:r>
              </a:p>
              <a:p>
                <a:pPr marL="0" indent="0">
                  <a:buNone/>
                </a:pPr>
                <a:r>
                  <a:rPr lang="fr-BE" dirty="0"/>
                  <a:t>Donc f est </a:t>
                </a:r>
                <a:r>
                  <a:rPr lang="fr-BE" b="1" dirty="0"/>
                  <a:t>injective</a:t>
                </a:r>
                <a:r>
                  <a:rPr lang="fr-BE" dirty="0"/>
                  <a:t>.</a:t>
                </a:r>
              </a:p>
              <a:p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BF7CCE45-15BC-4482-B8F8-4D5C65573B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1943" r="-2070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A55C81A7-576E-4E2F-9CB0-CEE4C50B9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Théorème d’Euler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ED6355-13A2-4AC9-A65E-163128FA35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055437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345E1A20-7D51-4EF1-9302-09EA3E4F39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434517"/>
                <a:ext cx="8539273" cy="454025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Il s’agit donc d’une permutation</a:t>
                </a:r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Soit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pt-BR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fr-BE" dirty="0"/>
                  <a:t>, on considère le produit de tous les éléments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Comme il s’agit d’une permutation,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fr-F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pt-B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BE" dirty="0"/>
                  <a:t> est le même ensemble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′=</m:t>
                      </m:r>
                      <m:sSub>
                        <m:sSub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)∗(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)∗(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fr-FR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b>
                      </m:sSub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≡</m:t>
                      </m:r>
                      <m:d>
                        <m:dPr>
                          <m:ctrlPr>
                            <a:rPr lang="pt-B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i="1" dirty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d>
                                <m:dPr>
                                  <m:ctrlPr>
                                    <a:rPr lang="pt-BR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pt-B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pt-B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pt-B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∗…∗</m:t>
                          </m:r>
                          <m:sSub>
                            <m:sSubPr>
                              <m:ctrlPr>
                                <a:rPr lang="pt-B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d>
                                <m:dPr>
                                  <m:ctrlPr>
                                    <a:rPr lang="fr-FR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b>
                          </m:sSub>
                        </m:e>
                      </m:d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B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 dirty="0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pt-BR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⟺</m:t>
                      </m:r>
                    </m:oMath>
                  </m:oMathPara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pt-BR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pt-BR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345E1A20-7D51-4EF1-9302-09EA3E4F39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434517"/>
                <a:ext cx="8539273" cy="4540256"/>
              </a:xfrm>
              <a:blipFill>
                <a:blip r:embed="rId2"/>
                <a:stretch>
                  <a:fillRect l="-1071" t="-1745" r="-785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E91F8719-96C7-49C9-9C98-EA0A62824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Théorème d’Euler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2CF36AB-AA27-4FF4-8A26-5E308D4AB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5713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E5706A48-B15D-47C4-A0A5-C2BD25F6E8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Comme c’est une permutation on peut aussi écrire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pt-BR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pos m:val="top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</m:oMath>
                  </m:oMathPara>
                </a14:m>
                <a:endParaRPr lang="fr-F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pt-BR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  <m:r>
                        <a:rPr lang="fr-FR" i="1" dirty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Si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fr-BE" dirty="0"/>
                  <a:t> est premier avec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BE" dirty="0"/>
                  <a:t>, on peut diviser par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fr-BE" dirty="0"/>
                  <a:t> dans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On peut aussi affirmer que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𝑝𝑔𝑐𝑑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BE" i="1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groupChr>
                            <m:groupChrPr>
                              <m:chr m:val="⇒"/>
                              <m:pos m:val="top"/>
                              <m:ctrlPr>
                                <a:rPr lang="pt-BR" i="1" dirty="0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/>
                          </m:groupChr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pt-BR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  <m:r>
                        <a:rPr lang="pt-BR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E5706A48-B15D-47C4-A0A5-C2BD25F6E8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1943" b="-448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375D0507-96F2-4628-9E77-30D9540D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Théorème d’Euler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4A8FAF-CE2F-4E1C-9E45-FB3183FBF0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9390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BF85DB15-AA66-4BD5-9566-C054CE49C9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Cas particulier du théorème d’Euler :</a:t>
                </a:r>
              </a:p>
              <a:p>
                <a:pPr marL="0" indent="0">
                  <a:buNone/>
                </a:pPr>
                <a:r>
                  <a:rPr lang="fr-FR" dirty="0"/>
                  <a:t>Si n = p (premier) on sait que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fr-FR" b="0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pt-BR" i="1" dirty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1  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BF85DB15-AA66-4BD5-9566-C054CE49C9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DFC15C78-D832-4C4C-902B-6412A7D60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8328" y="228600"/>
            <a:ext cx="4839922" cy="962247"/>
          </a:xfrm>
        </p:spPr>
        <p:txBody>
          <a:bodyPr>
            <a:normAutofit fontScale="90000"/>
          </a:bodyPr>
          <a:lstStyle/>
          <a:p>
            <a:r>
              <a:rPr lang="fr-FR" dirty="0"/>
              <a:t>Petit théorème de Fermat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63E6580-F04F-4CC9-864F-49E590528F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29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8558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64B51D4C-3169-4353-A285-C83DF8F469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476462"/>
                <a:ext cx="8539273" cy="44983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BE" dirty="0"/>
                  <a:t>On choisit 2 nombres premiers distincts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BE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BE" dirty="0"/>
                  <a:t>et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On calcule le module de chiffrement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BE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BE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On calcule la fonction d’Euler : </a:t>
                </a:r>
                <a14:m>
                  <m:oMath xmlns:m="http://schemas.openxmlformats.org/officeDocument/2006/math">
                    <m:r>
                      <a:rPr lang="fr-B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fr-B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B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−1)(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On choisit un nombre premier </a:t>
                </a:r>
                <a14:m>
                  <m:oMath xmlns:m="http://schemas.openxmlformats.org/officeDocument/2006/math">
                    <m:r>
                      <a:rPr lang="fr-BE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fr-BE" dirty="0"/>
                  <a:t> premier avec </a:t>
                </a:r>
                <a14:m>
                  <m:oMath xmlns:m="http://schemas.openxmlformats.org/officeDocument/2006/math">
                    <m:r>
                      <a:rPr lang="fr-B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fr-B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BE" dirty="0"/>
                  <a:t> donc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𝑝𝑔𝑐𝑑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On détermine d tel que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≡1 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Autrement dit 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≡ </m:t>
                      </m:r>
                      <m:sSup>
                        <m:sSupPr>
                          <m:ctrlPr>
                            <a:rPr lang="fr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B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d>
                        <m:dPr>
                          <m:ctrlP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B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On le calcule via Euclide étendu</a:t>
                </a:r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64B51D4C-3169-4353-A285-C83DF8F46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476462"/>
                <a:ext cx="8539273" cy="4498311"/>
              </a:xfrm>
              <a:blipFill>
                <a:blip r:embed="rId2"/>
                <a:stretch>
                  <a:fillRect l="-1071" t="-1762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EBD110B5-6213-469C-A014-727F4BDD0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RSA - Génération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07923D8-91BA-4B0F-85B0-35E94FBCBA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30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49411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7BC6E944-1EBE-438C-B0EA-9BC24D8F8E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On obtient les deux clés :</a:t>
                </a:r>
              </a:p>
              <a:p>
                <a:pPr marL="0" indent="0">
                  <a:buNone/>
                </a:pPr>
                <a:r>
                  <a:rPr lang="fr-FR" dirty="0"/>
                  <a:t>Clé publique :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i="1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i="1" dirty="0" err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Clé privée :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Pour chiffrer un message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fr-BE" dirty="0"/>
                  <a:t> (un entier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fr-BE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BE" dirty="0"/>
                  <a:t>)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Pour déchiffrer, en connaissant </a:t>
                </a:r>
                <a14:m>
                  <m:oMath xmlns:m="http://schemas.openxmlformats.org/officeDocument/2006/math">
                    <m:r>
                      <a:rPr lang="fr-BE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fr-BE" dirty="0"/>
                  <a:t>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7BC6E944-1EBE-438C-B0EA-9BC24D8F8E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1" t="-1943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E9F633FB-4445-4B2C-B0AA-E0B184368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RSA - Suite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30324DC-4B5C-47B0-8BAF-6D653AF787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31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09672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3721EFFE-D366-46D1-96AC-DA30F7CBDA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988191"/>
                <a:ext cx="8539273" cy="398658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On va montrer que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p>
                        </m:s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fr-FR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fr-FR" b="0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On sait que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≡1 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fr-F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On a alors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fr-FR" b="0" dirty="0"/>
              </a:p>
              <a:p>
                <a:pPr marL="0" indent="0">
                  <a:buNone/>
                </a:pPr>
                <a:endParaRPr lang="fr-BE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3721EFFE-D366-46D1-96AC-DA30F7CBDA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988191"/>
                <a:ext cx="8539273" cy="3986582"/>
              </a:xfrm>
              <a:blipFill>
                <a:blip r:embed="rId2"/>
                <a:stretch>
                  <a:fillRect l="-1071" t="-1835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9EF43111-187E-4A01-BB2E-B7B702C32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Pourquoi ça marche ?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3477FF1-F055-48E4-8EAC-117960F536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32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8130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2A989FE1-370D-49AD-947E-F0C90C72A3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8977" y="1468073"/>
                <a:ext cx="8539273" cy="45067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On utilise maintenant le théorème d’Euler :</a:t>
                </a:r>
              </a:p>
              <a:p>
                <a:pPr marL="0" indent="0">
                  <a:buNone/>
                </a:pPr>
                <a:r>
                  <a:rPr lang="fr-FR" dirty="0"/>
                  <a:t>Si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</a:rPr>
                      <m:t>𝑝𝑔𝑐𝑑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i="1" dirty="0" err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FR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i="1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fr-FR" dirty="0"/>
                  <a:t>, alors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≡1 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BE" dirty="0"/>
              </a:p>
              <a:p>
                <a:pPr marL="0" indent="0">
                  <a:buNone/>
                </a:pPr>
                <a:r>
                  <a:rPr lang="fr-BE" dirty="0"/>
                  <a:t>Donc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𝜑</m:t>
                          </m:r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d>
                                <m:d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≡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≡1  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fr-BE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⇒"/>
                          <m:vertJc m:val="bot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</m:oMath>
                  </m:oMathPara>
                </a14:m>
                <a:endParaRPr lang="fr-F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∗1≡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b="0" dirty="0"/>
              </a:p>
              <a:p>
                <a:pPr marL="0" indent="0">
                  <a:buNone/>
                </a:pPr>
                <a:endParaRPr lang="fr-F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p>
                          </m:s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fr-FR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𝑚𝑜𝑑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fr-FR" b="0" dirty="0"/>
              </a:p>
              <a:p>
                <a:pPr marL="0" indent="0">
                  <a:buNone/>
                </a:pPr>
                <a:endParaRPr lang="fr-F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𝐶𝑄𝐹𝐷</m:t>
                      </m:r>
                    </m:oMath>
                  </m:oMathPara>
                </a14:m>
                <a:endParaRPr lang="fr-FR" b="0" dirty="0"/>
              </a:p>
            </p:txBody>
          </p:sp>
        </mc:Choice>
        <mc:Fallback xmlns="">
          <p:sp>
            <p:nvSpPr>
              <p:cNvPr id="2" name="Espace réservé du contenu 1">
                <a:extLst>
                  <a:ext uri="{FF2B5EF4-FFF2-40B4-BE49-F238E27FC236}">
                    <a16:creationId xmlns:a16="http://schemas.microsoft.com/office/drawing/2014/main" id="{2A989FE1-370D-49AD-947E-F0C90C72A3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8977" y="1468073"/>
                <a:ext cx="8539273" cy="4506700"/>
              </a:xfrm>
              <a:blipFill>
                <a:blip r:embed="rId2"/>
                <a:stretch>
                  <a:fillRect l="-1071" t="-1759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re 2">
            <a:extLst>
              <a:ext uri="{FF2B5EF4-FFF2-40B4-BE49-F238E27FC236}">
                <a16:creationId xmlns:a16="http://schemas.microsoft.com/office/drawing/2014/main" id="{67024858-FD36-44E5-B641-D9D79D8D9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Pourquoi ça marche ?</a:t>
            </a: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551C81-AB78-40A6-8064-30679F6457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DF9506-C750-44C3-8E12-610AD4C8F1FD}" type="slidenum">
              <a:rPr lang="fr-BE" smtClean="0"/>
              <a:t>33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02462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nalisé 1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e-de-presentation-HEHbe--Sciences-et-technologies--2020" id="{A498BD53-F83B-4021-AAB3-AA6C29EFDC9D}" vid="{7280D352-7A7E-41A1-9B4F-543AFC5CCCB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14889</TotalTime>
  <Words>1914</Words>
  <Application>Microsoft Office PowerPoint</Application>
  <PresentationFormat>Affichage à l'écran (4:3)</PresentationFormat>
  <Paragraphs>297</Paragraphs>
  <Slides>33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Cambria Math</vt:lpstr>
      <vt:lpstr>Roboto</vt:lpstr>
      <vt:lpstr>Roboto </vt:lpstr>
      <vt:lpstr>Roboto Condensed</vt:lpstr>
      <vt:lpstr>Thème Office</vt:lpstr>
      <vt:lpstr>Mathématiques appliquées à l'informatique</vt:lpstr>
      <vt:lpstr>Théorie des nombres - RSA</vt:lpstr>
      <vt:lpstr>Rappel</vt:lpstr>
      <vt:lpstr>Rappel</vt:lpstr>
      <vt:lpstr>Chiffrement asymétrique</vt:lpstr>
      <vt:lpstr>RSA</vt:lpstr>
      <vt:lpstr>Factorisation en nombres premiers</vt:lpstr>
      <vt:lpstr>Factorisation en nombres premiers</vt:lpstr>
      <vt:lpstr>Factorisation en nombres premiers</vt:lpstr>
      <vt:lpstr>Factorisation en nombres premiers</vt:lpstr>
      <vt:lpstr>Factorisation en nombres premiers</vt:lpstr>
      <vt:lpstr>Factorisation en nombres premiers</vt:lpstr>
      <vt:lpstr>Présentation PowerPoint</vt:lpstr>
      <vt:lpstr>Présentation PowerPoint</vt:lpstr>
      <vt:lpstr>Code de Turing v1.0 </vt:lpstr>
      <vt:lpstr>Code de Turing v1.0</vt:lpstr>
      <vt:lpstr>Code de Turing v1.0</vt:lpstr>
      <vt:lpstr>Code de Turing v2.0</vt:lpstr>
      <vt:lpstr>Arithmétique modulaire</vt:lpstr>
      <vt:lpstr>Inverse multiplicatif</vt:lpstr>
      <vt:lpstr>Inverse multiplicatif</vt:lpstr>
      <vt:lpstr>Inverse multiplicatif</vt:lpstr>
      <vt:lpstr>Code de Turing v2.0</vt:lpstr>
      <vt:lpstr>Fonction φ d’Euler</vt:lpstr>
      <vt:lpstr>Théorème d’Euler</vt:lpstr>
      <vt:lpstr>Théorème d’Euler</vt:lpstr>
      <vt:lpstr>Théorème d’Euler</vt:lpstr>
      <vt:lpstr>Théorème d’Euler</vt:lpstr>
      <vt:lpstr>Petit théorème de Fermat</vt:lpstr>
      <vt:lpstr>RSA - Génération</vt:lpstr>
      <vt:lpstr>RSA - Suite</vt:lpstr>
      <vt:lpstr>Pourquoi ça marche ?</vt:lpstr>
      <vt:lpstr>Pourquoi ça marche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Titre de la présentation</dc:title>
  <dc:creator>DEPRETER Johan</dc:creator>
  <cp:lastModifiedBy>GILLARD Robin</cp:lastModifiedBy>
  <cp:revision>138</cp:revision>
  <dcterms:created xsi:type="dcterms:W3CDTF">2022-01-27T22:00:53Z</dcterms:created>
  <dcterms:modified xsi:type="dcterms:W3CDTF">2025-05-29T19:21:33Z</dcterms:modified>
</cp:coreProperties>
</file>