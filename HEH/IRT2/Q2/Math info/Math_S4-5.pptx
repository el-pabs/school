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431" r:id="rId3"/>
    <p:sldId id="445" r:id="rId4"/>
    <p:sldId id="432" r:id="rId5"/>
    <p:sldId id="434" r:id="rId6"/>
    <p:sldId id="435" r:id="rId7"/>
    <p:sldId id="433" r:id="rId8"/>
    <p:sldId id="436" r:id="rId9"/>
    <p:sldId id="437" r:id="rId10"/>
    <p:sldId id="438" r:id="rId11"/>
    <p:sldId id="439" r:id="rId12"/>
    <p:sldId id="440" r:id="rId13"/>
    <p:sldId id="441" r:id="rId14"/>
    <p:sldId id="444" r:id="rId15"/>
    <p:sldId id="446" r:id="rId16"/>
    <p:sldId id="447" r:id="rId17"/>
    <p:sldId id="448" r:id="rId18"/>
    <p:sldId id="450" r:id="rId19"/>
    <p:sldId id="451" r:id="rId20"/>
    <p:sldId id="449" r:id="rId21"/>
    <p:sldId id="452" r:id="rId22"/>
    <p:sldId id="453" r:id="rId23"/>
    <p:sldId id="457" r:id="rId24"/>
    <p:sldId id="458" r:id="rId25"/>
    <p:sldId id="459" r:id="rId26"/>
    <p:sldId id="460" r:id="rId27"/>
    <p:sldId id="454" r:id="rId28"/>
    <p:sldId id="455" r:id="rId29"/>
    <p:sldId id="461" r:id="rId30"/>
    <p:sldId id="462" r:id="rId31"/>
    <p:sldId id="463" r:id="rId32"/>
    <p:sldId id="464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B4E7"/>
    <a:srgbClr val="C91317"/>
    <a:srgbClr val="2B2B2B"/>
    <a:srgbClr val="9E2E5A"/>
    <a:srgbClr val="D4641A"/>
    <a:srgbClr val="1573B6"/>
    <a:srgbClr val="243A9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81236" autoAdjust="0"/>
  </p:normalViewPr>
  <p:slideViewPr>
    <p:cSldViewPr snapToGrid="0">
      <p:cViewPr varScale="1">
        <p:scale>
          <a:sx n="119" d="100"/>
          <a:sy n="119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4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D3EB8-6AD6-4DF3-B16B-A9E0B517D683}" type="datetimeFigureOut">
              <a:rPr lang="fr-BE" smtClean="0"/>
              <a:t>10-03-25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2A0B0-4FDA-48D8-A9AB-C715A138D15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95977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AF6-C27A-47C0-BCF6-EC35CFE95046}" type="datetimeFigureOut">
              <a:rPr lang="fr-BE" smtClean="0"/>
              <a:t>10-03-25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2FF5F-0C64-4FEE-B2DF-F912BCEEA8E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68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i="1" dirty="0"/>
              <a:t>Ensembles</a:t>
            </a:r>
            <a:r>
              <a:rPr lang="fr-FR" dirty="0"/>
              <a:t> : pour gérer des collections, vérifier des inclusions, intersections.</a:t>
            </a:r>
          </a:p>
          <a:p>
            <a:r>
              <a:rPr lang="fr-FR" i="1" dirty="0"/>
              <a:t>Relations</a:t>
            </a:r>
            <a:r>
              <a:rPr lang="fr-FR" dirty="0"/>
              <a:t> : modéliser des liens en base de données, graphes (réseaux sociaux, etc.).</a:t>
            </a:r>
          </a:p>
          <a:p>
            <a:r>
              <a:rPr lang="fr-FR" i="1" dirty="0"/>
              <a:t>Logique</a:t>
            </a:r>
            <a:r>
              <a:rPr lang="fr-FR" dirty="0"/>
              <a:t> : exprimer des conditions, faire des preuves de correction.</a:t>
            </a:r>
          </a:p>
          <a:p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2813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i="1" dirty="0"/>
              <a:t>Ensembles</a:t>
            </a:r>
            <a:r>
              <a:rPr lang="fr-FR" dirty="0"/>
              <a:t> : pour gérer des collections, vérifier des inclusions, intersections.</a:t>
            </a:r>
          </a:p>
          <a:p>
            <a:r>
              <a:rPr lang="fr-FR" i="1" dirty="0"/>
              <a:t>Relations</a:t>
            </a:r>
            <a:r>
              <a:rPr lang="fr-FR" dirty="0"/>
              <a:t> : modéliser des liens en base de données, graphes (réseaux sociaux, etc.).</a:t>
            </a:r>
          </a:p>
          <a:p>
            <a:r>
              <a:rPr lang="fr-FR" i="1" dirty="0"/>
              <a:t>Logique</a:t>
            </a:r>
            <a:r>
              <a:rPr lang="fr-FR" dirty="0"/>
              <a:t> : exprimer des conditions, faire des preuves de correction.</a:t>
            </a:r>
          </a:p>
          <a:p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02801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9337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A2E52712-542C-4861-8486-8C858B7A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16969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l"/>
            <a:r>
              <a:rPr lang="fr-FR" sz="4000" b="1">
                <a:solidFill>
                  <a:srgbClr val="2B2B2B"/>
                </a:solidFill>
                <a:latin typeface="Roboto" panose="02000000000000000000" pitchFamily="2" charset="0"/>
              </a:rPr>
              <a:t>Modifiez le style du titre</a:t>
            </a:r>
            <a:endParaRPr lang="fr-BE" sz="4000" b="1" dirty="0">
              <a:solidFill>
                <a:srgbClr val="2B2B2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A9EC390-C245-44B2-9757-6A655C8E38EA}"/>
              </a:ext>
            </a:extLst>
          </p:cNvPr>
          <p:cNvSpPr/>
          <p:nvPr userDrawn="1"/>
        </p:nvSpPr>
        <p:spPr>
          <a:xfrm>
            <a:off x="1266825" y="3652838"/>
            <a:ext cx="101699" cy="101699"/>
          </a:xfrm>
          <a:prstGeom prst="ellipse">
            <a:avLst/>
          </a:prstGeom>
          <a:solidFill>
            <a:srgbClr val="C9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5B2A0E2-6813-486D-9BFB-68658524F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093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977" y="1898361"/>
            <a:ext cx="8539273" cy="407641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94AA50C-7222-461E-8AD0-4AEDB98C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DB69894-CF4A-49E7-AB8A-2E7987C06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028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825625"/>
            <a:ext cx="4094864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825625"/>
            <a:ext cx="4286250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249BFAD-C788-41B2-BB4B-D7F32CD3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B86179-DD5C-452E-B116-146F34DEC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5757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500" y="1819386"/>
            <a:ext cx="4094864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819386"/>
            <a:ext cx="4286249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027A339-3B89-4CDB-9455-030617AA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587D5F-FDBB-4EB1-A522-C7E11E30E6C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85750" y="2690037"/>
            <a:ext cx="4094864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56E0546-6F03-4C97-9834-2DAEDD20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2690037"/>
            <a:ext cx="4286250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381CD9-00CC-417F-9EA9-ACF2A1414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653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00A9C74-3B0E-442F-9551-373DA2D7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CF80F7D-B5F8-4569-9F90-3912FF987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885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B3F24F-F9CE-48E5-8E78-0EAD4E00D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771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4020" y="1756064"/>
            <a:ext cx="3294999" cy="4112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0"/>
          </p:nvPr>
        </p:nvSpPr>
        <p:spPr>
          <a:xfrm>
            <a:off x="3782292" y="1756065"/>
            <a:ext cx="5077688" cy="4112924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 sz="1800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 sz="1400"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723936F-B140-4856-8235-EC2D80F4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1B9BBB8-6FF0-4B19-ABA7-E48EDDA4C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443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6000" y="1776845"/>
            <a:ext cx="6572250" cy="40842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 i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751" y="1776845"/>
            <a:ext cx="1885950" cy="40921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43EE628-A185-4A6D-BE88-14EFD8F4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B18CF9C-FA09-400B-8A6D-3B4F71D1C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579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142E7-FD62-4A3B-BA3B-F57F13E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CDE9CF-4445-4195-AB8F-98D37C850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7093D8-5537-49FE-9E58-DD113F96A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850" y="3109912"/>
            <a:ext cx="5553075" cy="63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120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DBFD8E-0DC8-4C60-850D-B6271FE2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10343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10DA80-EF2E-4A94-8BB7-3A6AF98E4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8475" y="60801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631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5EA5D-AC64-41C5-A86A-8CEC6C3E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062699"/>
          </a:xfrm>
        </p:spPr>
        <p:txBody>
          <a:bodyPr>
            <a:normAutofit fontScale="90000"/>
          </a:bodyPr>
          <a:lstStyle/>
          <a:p>
            <a:r>
              <a:rPr lang="fr-FR" sz="4400" dirty="0"/>
              <a:t>Mathématiques appliquées à l'informatique</a:t>
            </a:r>
            <a:endParaRPr lang="fr-BE" sz="4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893DFD-C04B-4489-8111-E1C33A2FF174}"/>
              </a:ext>
            </a:extLst>
          </p:cNvPr>
          <p:cNvSpPr txBox="1"/>
          <p:nvPr/>
        </p:nvSpPr>
        <p:spPr>
          <a:xfrm>
            <a:off x="1573427" y="3505200"/>
            <a:ext cx="7400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BA2 Informatique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Johan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Depréter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– johan.depreter@heh.be</a:t>
            </a:r>
            <a:endParaRPr lang="fr-B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3B3C02-371C-4836-9681-7DD0EFCB3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358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>
            <a:normAutofit fontScale="90000"/>
          </a:bodyPr>
          <a:lstStyle/>
          <a:p>
            <a:r>
              <a:rPr lang="fr-FR" sz="4400" dirty="0"/>
              <a:t>Structures discrètes I :</a:t>
            </a:r>
            <a:br>
              <a:rPr lang="fr-FR" sz="4400" dirty="0"/>
            </a:br>
            <a:r>
              <a:rPr lang="fr-FR" sz="4400" dirty="0"/>
              <a:t>Ensembles, relations, logique de base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010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>
            <a:normAutofit/>
          </a:bodyPr>
          <a:lstStyle/>
          <a:p>
            <a:r>
              <a:rPr lang="fr-FR" sz="4400" dirty="0"/>
              <a:t>Les ensembles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61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2636103-E2BD-43E6-A45A-33BDE9342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96181"/>
            <a:ext cx="8539273" cy="4578592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Un ensemble est une collection non ordonnée d'éléments distincts. L'ordre dans lequel les éléments sont listés n'a pas d'importance, et les doublons ne sont pas autorisés.</a:t>
            </a:r>
          </a:p>
          <a:p>
            <a:endParaRPr lang="fr-BE" dirty="0"/>
          </a:p>
          <a:p>
            <a:pPr marL="0" indent="0">
              <a:buNone/>
            </a:pPr>
            <a:r>
              <a:rPr lang="fr-FR" dirty="0"/>
              <a:t>On utilise souvent la notation en extension (ex: A = {1, 2, 3}), en compréhension (ex: {x | x est un nombre pair}), ainsi que des symboles spéciaux comme ℕ (entiers naturels), ℤ (entiers relatifs), ℝ (réels), etc.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Ex: Soit A l'ensemble des nombres premiers inférieurs à 10: A = {2, 3, 5, 7}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0CE6421-E000-48C4-9E74-929FF582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29ED04-F0BE-47E0-B481-D006D31FB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690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6C8E5B2-73D5-4937-9A0E-91743EA110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a un ensemble A et un ensemble B</a:t>
                </a:r>
              </a:p>
              <a:p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⊆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Exemple 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{1,2}, 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{1,2,3} ⇒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FR" dirty="0"/>
                  <a:t>A = B ⇔ A ⊆ B ∧ B ⊆ A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6C8E5B2-73D5-4937-9A0E-91743EA110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ACDB12F-EAC6-4752-9DC0-E1F37064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Inclusion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E8A540-B090-41C3-BAF7-4B2F21FFB9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5</a:t>
            </a:fld>
            <a:endParaRPr lang="fr-BE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ED6D8196-021E-4B2C-A80E-92E742E3F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743" y="1898361"/>
            <a:ext cx="2428568" cy="242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27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66B6DF1-06FC-49EF-85B5-474222802C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⊆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66B6DF1-06FC-49EF-85B5-474222802C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A790447-EF7E-41CF-89BC-4F2D6AC2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Inclusion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28E235-570B-40F2-8D5A-EFBA74391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6</a:t>
            </a:fld>
            <a:endParaRPr lang="fr-BE"/>
          </a:p>
        </p:txBody>
      </p:sp>
      <p:pic>
        <p:nvPicPr>
          <p:cNvPr id="3074" name="Picture 2" descr="A est un sous-ensemble strict de B">
            <a:extLst>
              <a:ext uri="{FF2B5EF4-FFF2-40B4-BE49-F238E27FC236}">
                <a16:creationId xmlns:a16="http://schemas.microsoft.com/office/drawing/2014/main" id="{E4A5DD13-89FE-499E-9D85-5BDA01476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7" y="2570986"/>
            <a:ext cx="3578327" cy="273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 est un sous-ensemble mais pas un sous-ensemble strict de B.">
            <a:extLst>
              <a:ext uri="{FF2B5EF4-FFF2-40B4-BE49-F238E27FC236}">
                <a16:creationId xmlns:a16="http://schemas.microsoft.com/office/drawing/2014/main" id="{4C8CC50E-09ED-4C5F-BF08-C034C0992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698" y="2379406"/>
            <a:ext cx="3729877" cy="292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17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CA2AFE2-9829-4F0E-A37B-11B1C6646C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6" y="4924490"/>
                <a:ext cx="8539273" cy="152076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𝐸𝑥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: {1,2} ∩ {2,3} = {2}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CA2AFE2-9829-4F0E-A37B-11B1C6646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6" y="4924490"/>
                <a:ext cx="8539273" cy="15207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15DA90F8-33CB-4228-A385-C64C2DCD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Intersection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D9D909-1651-4B90-8BCD-D8DEB8ADD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7</a:t>
            </a:fld>
            <a:endParaRPr lang="fr-BE"/>
          </a:p>
        </p:txBody>
      </p:sp>
      <p:pic>
        <p:nvPicPr>
          <p:cNvPr id="1026" name="Picture 2" descr="Principe d'inclusion-exclusion — Wikipédia">
            <a:extLst>
              <a:ext uri="{FF2B5EF4-FFF2-40B4-BE49-F238E27FC236}">
                <a16:creationId xmlns:a16="http://schemas.microsoft.com/office/drawing/2014/main" id="{A1CB4B47-704B-412D-91B0-C9D116442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565" y="1380147"/>
            <a:ext cx="4178095" cy="334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62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A425004-E0B2-4B44-B7B9-00F94E75A3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6099" y="4746008"/>
                <a:ext cx="8539273" cy="157975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𝐸𝑥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: {1,2} ∪ {2,3} = {1,2,3}</m:t>
                      </m:r>
                    </m:oMath>
                  </m:oMathPara>
                </a14:m>
                <a:endParaRPr lang="fr-BE" dirty="0"/>
              </a:p>
              <a:p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A425004-E0B2-4B44-B7B9-00F94E75A3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099" y="4746008"/>
                <a:ext cx="8539273" cy="157975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19EECED-8F88-4A6F-BB6E-20E7C8E5F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FA3EE5-0BED-4B7F-8FD1-7893D7771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8</a:t>
            </a:fld>
            <a:endParaRPr lang="fr-BE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F5BB9DC4-58F4-458D-BC75-F1BD319E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610" y="1541837"/>
            <a:ext cx="4286249" cy="280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48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D03DBE8-7111-4D57-A536-96EDDA25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Python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38BBA4-BB26-4EC5-A896-BBB8CF1A0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9</a:t>
            </a:fld>
            <a:endParaRPr lang="fr-BE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29DB2DE-8960-4C07-A3D0-1F5CC83C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090" y="1791633"/>
            <a:ext cx="4055818" cy="226189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4A84FAC-615F-4C0F-9DFB-D5BC755EB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58" y="4654317"/>
            <a:ext cx="7044083" cy="82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9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AB19ACC-536A-43FB-917D-25C979A01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𝐸𝑥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: {1,2,3}\{2,3} = {1}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AB19ACC-536A-43FB-917D-25C979A01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D7D651C-FA5A-4FBD-B813-0B2EF13A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différence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5E1032-7B24-43AE-BB4E-61301D4F7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10</a:t>
            </a:fld>
            <a:endParaRPr lang="fr-BE"/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7588801A-7648-46FD-B7A7-062284BBD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645" y="3153696"/>
            <a:ext cx="3637936" cy="268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49613AA-C10E-468D-A37F-EDA8C918C26A}"/>
              </a:ext>
            </a:extLst>
          </p:cNvPr>
          <p:cNvSpPr txBox="1"/>
          <p:nvPr/>
        </p:nvSpPr>
        <p:spPr>
          <a:xfrm>
            <a:off x="3442579" y="4216491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</a:t>
            </a:r>
            <a:endParaRPr lang="fr-BE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E3536D-C488-4208-96A4-B616B6BF4A2A}"/>
              </a:ext>
            </a:extLst>
          </p:cNvPr>
          <p:cNvSpPr txBox="1"/>
          <p:nvPr/>
        </p:nvSpPr>
        <p:spPr>
          <a:xfrm>
            <a:off x="5366075" y="421649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9206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BAD9320-5A3A-49FF-AA82-E22C153FA6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fr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BE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𝑜𝑢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𝑑𝑎𝑛𝑠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𝑢𝑛𝑖𝑣𝑒𝑟𝑠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𝑆𝑖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={1,2,3,4},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={1,2},</m:t>
                      </m:r>
                      <m:sSup>
                        <m:sSupPr>
                          <m:ctrlPr>
                            <a:rPr lang="fr-BE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BAD9320-5A3A-49FF-AA82-E22C153FA6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DCD02D33-CEA7-4082-B223-10B68D094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complémenaire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1A184F-1E99-4FEA-9003-6EBDFF807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11</a:t>
            </a:fld>
            <a:endParaRPr lang="fr-BE"/>
          </a:p>
        </p:txBody>
      </p:sp>
      <p:pic>
        <p:nvPicPr>
          <p:cNvPr id="6146" name="Picture 2" descr="An unfilled circle inside a square. The area inside the square not covered by the circle is filled with red. The borders of both the circle and the square are black.">
            <a:extLst>
              <a:ext uri="{FF2B5EF4-FFF2-40B4-BE49-F238E27FC236}">
                <a16:creationId xmlns:a16="http://schemas.microsoft.com/office/drawing/2014/main" id="{D8EA5AA5-556C-45A9-9D02-D4B03BD59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697" y="3731617"/>
            <a:ext cx="2295832" cy="229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B3AAABD-5A33-4588-8AE7-EABDAB002219}"/>
              </a:ext>
            </a:extLst>
          </p:cNvPr>
          <p:cNvSpPr txBox="1"/>
          <p:nvPr/>
        </p:nvSpPr>
        <p:spPr>
          <a:xfrm>
            <a:off x="4404326" y="4694867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</a:t>
            </a:r>
            <a:endParaRPr lang="fr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30EA18E-9146-473B-BFE3-6ECE0DA49F52}"/>
                  </a:ext>
                </a:extLst>
              </p:cNvPr>
              <p:cNvSpPr txBox="1"/>
              <p:nvPr/>
            </p:nvSpPr>
            <p:spPr>
              <a:xfrm>
                <a:off x="3569110" y="3936567"/>
                <a:ext cx="4858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BE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30EA18E-9146-473B-BFE3-6ECE0DA49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110" y="3936567"/>
                <a:ext cx="48583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54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80B86F70-4F0A-410E-B425-86E523E08D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= {(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 |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{1,2} × {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} = {(1,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),(1,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),(2,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),(2,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Non-commutatif et non associatif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80B86F70-4F0A-410E-B425-86E523E08D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58FFCBDC-2627-42B7-A51F-C1D6BB2B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Produit cartésien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B23FA0-B58A-4775-A390-32FE5C6F3B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340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E25B688-D6BA-408D-9F2D-E398FD789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55174"/>
                <a:ext cx="8539273" cy="451959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54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BE" sz="54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BE" sz="5400" i="1" dirty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fr-BE" sz="5400" dirty="0"/>
              </a:p>
              <a:p>
                <a:pPr marL="0" indent="0">
                  <a:buNone/>
                </a:pPr>
                <a:r>
                  <a:rPr lang="fr-BE" dirty="0"/>
                  <a:t>La cardinalité est le nombre d’éléments d’un ensemble fini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|{</m:t>
                      </m:r>
                      <m:r>
                        <a:rPr lang="fr-BE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BE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BE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BE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BE" i="1" dirty="0" err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}| = 3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540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fr-BE" sz="5400" dirty="0"/>
              </a:p>
              <a:p>
                <a:pPr marL="0" indent="0">
                  <a:buNone/>
                </a:pPr>
                <a:r>
                  <a:rPr lang="fr-BE" dirty="0"/>
                  <a:t>Dénombrable ou indénombrable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ℕ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𝑠𝑜𝑛𝑡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𝑛𝑜𝑚𝑏𝑟𝑎𝑏𝑙𝑒𝑠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𝑒𝑠𝑡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𝑖𝑛𝑑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𝑛𝑜𝑚𝑏𝑟𝑎𝑏𝑙𝑒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E25B688-D6BA-408D-9F2D-E398FD789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55174"/>
                <a:ext cx="8539273" cy="4519599"/>
              </a:xfrm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0E35353A-C918-4E6C-917F-A46CB2C1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710" y="228600"/>
            <a:ext cx="4679539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Ensembles finis et infinis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819A43-175C-492F-B0FE-E854232F3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6236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1E35A9E-2341-4452-899E-F3FD45D36BF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Opérations clés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𝑈𝑛𝑖𝑜𝑛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𝐼𝑛𝑡𝑒𝑟𝑠𝑒𝑐𝑡𝑖𝑜𝑛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lit/>
                        </m:rP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𝐷𝑖𝑓𝑓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𝑟𝑒𝑛𝑐𝑒</m:t>
                      </m:r>
                      <m:r>
                        <m:rPr>
                          <m:lit/>
                        </m:rPr>
                        <a:rPr lang="fr-FR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𝑃𝑟𝑜𝑑𝑢𝑖𝑡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𝑐𝑎𝑟𝑡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𝑠𝑖𝑒𝑛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Inclusion, cardinalité et complémentarité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1E35A9E-2341-4452-899E-F3FD45D36B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81" t="-188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052FF9-E17F-4F6C-B761-295F2F7D26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Importants pour les bases de données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Relations fortement basées sur le produit cartésien</a:t>
            </a:r>
            <a:endParaRPr lang="fr-BE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0E37950-173C-4E79-B3E9-E04A7B93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Récap’</a:t>
            </a:r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7B8B06-D785-4538-9ED6-68492A6BF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4089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>
            <a:normAutofit/>
          </a:bodyPr>
          <a:lstStyle/>
          <a:p>
            <a:r>
              <a:rPr lang="fr-FR" sz="4400" dirty="0"/>
              <a:t>Les relations binaires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60243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82FFADC9-FF36-4F48-BB51-3526278A93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53497"/>
                <a:ext cx="8539273" cy="442127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Une relation binaire R d’un ensemble A et d’un ensemble B est un sous-ensemble tel que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Exemple: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1, 2, 3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𝑒𝑠𝑡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𝑟𝑒𝑙𝑎𝑡𝑖𝑜𝑛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𝑣𝑒𝑟𝑠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On peut faire la même chose avec A et 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1, 2, 3, 4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𝑑𝑖𝑣𝑖𝑠𝑖𝑏𝑙𝑒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𝑝𝑎𝑟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1, 3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1, 4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2, 2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2, 4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3, 3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4, 4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82FFADC9-FF36-4F48-BB51-3526278A9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53497"/>
                <a:ext cx="8539273" cy="4421276"/>
              </a:xfrm>
              <a:blipFill>
                <a:blip r:embed="rId2"/>
                <a:stretch>
                  <a:fillRect l="-1071" t="-179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CFDBA47-5CB3-409B-B4B4-EB81F44A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Notions de base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A61F3F-2934-4BA8-93EE-0D41EDB35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3463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94D04EE-643D-4C50-8B2D-6BD6B1732F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La relation de division sur </a:t>
                </a:r>
                <a:r>
                  <a:rPr lang="fr-F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ℤ</a:t>
                </a:r>
              </a:p>
              <a:p>
                <a:pPr marL="0" indent="0">
                  <a:buNone/>
                </a:pPr>
                <a:endParaRPr lang="fr-F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Ami de » dans les réseaux sociaux</a:t>
                </a:r>
              </a:p>
              <a:p>
                <a:pPr marL="0" indent="0">
                  <a:buNone/>
                </a:pPr>
                <a:endParaRPr lang="fr-F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Schéma relationnel du type : table ⊆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1​×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2​×…</m:t>
                    </m:r>
                  </m:oMath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94D04EE-643D-4C50-8B2D-6BD6B1732F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209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8577184-E5FB-444A-90A3-C633AA6E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concrets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3780D7-0AF1-43F8-BF2D-6DED10760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17</a:t>
            </a:fld>
            <a:endParaRPr lang="fr-BE"/>
          </a:p>
        </p:txBody>
      </p:sp>
      <p:pic>
        <p:nvPicPr>
          <p:cNvPr id="8194" name="Picture 2" descr="Social relationship network diagram | Download Scientific Diagram">
            <a:extLst>
              <a:ext uri="{FF2B5EF4-FFF2-40B4-BE49-F238E27FC236}">
                <a16:creationId xmlns:a16="http://schemas.microsoft.com/office/drawing/2014/main" id="{B46BF457-4B36-4307-BFBB-460AF707B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61" y="1898361"/>
            <a:ext cx="3599662" cy="254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omprendre le produit cartésien en SQL">
            <a:extLst>
              <a:ext uri="{FF2B5EF4-FFF2-40B4-BE49-F238E27FC236}">
                <a16:creationId xmlns:a16="http://schemas.microsoft.com/office/drawing/2014/main" id="{999F18C7-6E15-413B-98E2-43F7FF481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190847"/>
            <a:ext cx="8241803" cy="488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42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CDE24F3-CB62-4E0D-9586-80747DF43B8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Réflexive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Chaque élément est en relation avec lui-même.</a:t>
                </a:r>
              </a:p>
              <a:p>
                <a:pPr marL="0" indent="0">
                  <a:buNone/>
                </a:pPr>
                <a:r>
                  <a:rPr lang="fr-FR" dirty="0"/>
                  <a:t>Exemple: "être égal à" - chaque nombre est égal à lui-même.</a:t>
                </a: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CDE24F3-CB62-4E0D-9586-80747DF43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81" t="-188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7990905-F68E-4B7C-9F4C-9EBB54746B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Symétrique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⟹ 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Si x est lié à y, alors y est aussi lié à x.</a:t>
                </a:r>
              </a:p>
              <a:p>
                <a:pPr marL="0" indent="0">
                  <a:buNone/>
                </a:pPr>
                <a:r>
                  <a:rPr lang="fr-FR" dirty="0"/>
                  <a:t>Exemple: "être ami avec" - si A est ami de B, B est ami de A.</a:t>
                </a:r>
                <a:endParaRPr lang="fr-BE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7990905-F68E-4B7C-9F4C-9EBB54746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34" t="-188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re 3">
            <a:extLst>
              <a:ext uri="{FF2B5EF4-FFF2-40B4-BE49-F238E27FC236}">
                <a16:creationId xmlns:a16="http://schemas.microsoft.com/office/drawing/2014/main" id="{635D4B86-E08C-4E27-AE45-F0DD6770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Propriétés de base</a:t>
            </a:r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0B2D82-3507-43E9-8A88-12DB2D474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700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AC7DC71-D301-4787-B246-C1696650567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Antisymétrique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∧ 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⟹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Si x est lié à y et inversement, alors x et y sont identiques.</a:t>
                </a:r>
              </a:p>
              <a:p>
                <a:pPr marL="0" indent="0">
                  <a:buNone/>
                </a:pPr>
                <a:r>
                  <a:rPr lang="fr-FR" dirty="0"/>
                  <a:t>Exemple: "≤" - si </a:t>
                </a:r>
                <a:r>
                  <a:rPr lang="fr-FR" dirty="0" err="1"/>
                  <a:t>a≤b</a:t>
                </a:r>
                <a:r>
                  <a:rPr lang="fr-FR" dirty="0"/>
                  <a:t> et </a:t>
                </a:r>
                <a:r>
                  <a:rPr lang="fr-FR" dirty="0" err="1"/>
                  <a:t>b≤a</a:t>
                </a:r>
                <a:r>
                  <a:rPr lang="fr-FR" dirty="0"/>
                  <a:t>, alors nécessairement a=b.</a:t>
                </a: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AC7DC71-D301-4787-B246-C16966505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81" t="-1884" r="-2232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3EE9532-6271-4391-B9FC-C6F9B1CBBC5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Transitive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∧ 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⟹ (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Si x est lié à y et y à z, alors x est lié à z.</a:t>
                </a:r>
              </a:p>
              <a:p>
                <a:pPr marL="0" indent="0">
                  <a:buNone/>
                </a:pPr>
                <a:r>
                  <a:rPr lang="fr-FR" dirty="0"/>
                  <a:t>Exemple: "plus grand que" - si a&gt;b et b&gt;c, alors a&gt;c.</a:t>
                </a:r>
                <a:endParaRPr lang="fr-BE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3EE9532-6271-4391-B9FC-C6F9B1CBB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34" t="-1884" r="-35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re 3">
            <a:extLst>
              <a:ext uri="{FF2B5EF4-FFF2-40B4-BE49-F238E27FC236}">
                <a16:creationId xmlns:a16="http://schemas.microsoft.com/office/drawing/2014/main" id="{FA40D3E7-49B5-4945-B4AA-E04D32AF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Propriétés de base</a:t>
            </a:r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8279ED6-D6B3-4BF6-B0A4-22420C352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0380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E4571D5-DFAD-4835-9F05-67C4DE504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Une relation est dite </a:t>
            </a:r>
            <a:r>
              <a:rPr lang="fr-FR" b="1" dirty="0"/>
              <a:t>équivalente</a:t>
            </a:r>
            <a:r>
              <a:rPr lang="fr-FR" dirty="0"/>
              <a:t> si elle est :</a:t>
            </a:r>
          </a:p>
          <a:p>
            <a:pPr marL="0" indent="0">
              <a:buNone/>
            </a:pPr>
            <a:r>
              <a:rPr lang="fr-FR" dirty="0"/>
              <a:t>	- réflexive</a:t>
            </a:r>
          </a:p>
          <a:p>
            <a:pPr marL="0" indent="0">
              <a:buNone/>
            </a:pPr>
            <a:r>
              <a:rPr lang="fr-FR" dirty="0"/>
              <a:t>	- symétrique</a:t>
            </a:r>
          </a:p>
          <a:p>
            <a:pPr marL="0" indent="0">
              <a:buNone/>
            </a:pPr>
            <a:r>
              <a:rPr lang="fr-FR" dirty="0"/>
              <a:t>	- transitive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BE" dirty="0"/>
              <a:t>Exemples :</a:t>
            </a:r>
          </a:p>
          <a:p>
            <a:pPr marL="0" indent="0">
              <a:buNone/>
            </a:pPr>
            <a:r>
              <a:rPr lang="fr-BE" dirty="0"/>
              <a:t>	- l’égalité dans </a:t>
            </a:r>
            <a:r>
              <a:rPr lang="fr-BE" dirty="0">
                <a:latin typeface="Cambria Math" panose="02040503050406030204" pitchFamily="18" charset="0"/>
                <a:ea typeface="Cambria Math" panose="02040503050406030204" pitchFamily="18" charset="0"/>
              </a:rPr>
              <a:t>ℕ, dans ℤ</a:t>
            </a:r>
            <a:endParaRPr lang="fr-BE" dirty="0"/>
          </a:p>
          <a:p>
            <a:pPr marL="0" indent="0">
              <a:buNone/>
            </a:pPr>
            <a:r>
              <a:rPr lang="fr-BE" dirty="0"/>
              <a:t>	- avoir le même âge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CF8FD3B-6712-4559-B9B9-678CA2DD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Equivalence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307D52-C19A-4B54-B7F0-7FA136DCB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2489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E299620-190E-4044-A204-E7A2656C9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Une relation est dite </a:t>
            </a:r>
            <a:r>
              <a:rPr lang="fr-FR" b="1" dirty="0"/>
              <a:t>d’ordre partiel</a:t>
            </a:r>
            <a:r>
              <a:rPr lang="fr-FR" dirty="0"/>
              <a:t> si elle est :</a:t>
            </a:r>
          </a:p>
          <a:p>
            <a:pPr marL="0" indent="0">
              <a:buNone/>
            </a:pPr>
            <a:r>
              <a:rPr lang="fr-BE" dirty="0"/>
              <a:t>	- réflexive</a:t>
            </a:r>
          </a:p>
          <a:p>
            <a:pPr marL="0" indent="0">
              <a:buNone/>
            </a:pPr>
            <a:r>
              <a:rPr lang="fr-BE" dirty="0"/>
              <a:t>	- antisymétrique</a:t>
            </a:r>
          </a:p>
          <a:p>
            <a:pPr marL="0" indent="0">
              <a:buNone/>
            </a:pPr>
            <a:r>
              <a:rPr lang="fr-BE" dirty="0"/>
              <a:t>	- transitive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Exemples :</a:t>
            </a:r>
          </a:p>
          <a:p>
            <a:pPr marL="0" indent="0">
              <a:buNone/>
            </a:pPr>
            <a:r>
              <a:rPr lang="fr-BE" dirty="0"/>
              <a:t>	- </a:t>
            </a:r>
            <a:r>
              <a:rPr lang="fr-FR" dirty="0"/>
              <a:t>≤ sur les entiers</a:t>
            </a:r>
          </a:p>
          <a:p>
            <a:pPr marL="0" indent="0">
              <a:buNone/>
            </a:pPr>
            <a:r>
              <a:rPr lang="fr-FR" dirty="0"/>
              <a:t>	- l’inclusion dans un ensemble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F580947-1C45-432C-B545-4AD28AB7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Relation d’ordre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2A9A1B-7931-4034-8F2A-151C49460B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837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8E0A8D7-CF27-472E-A17D-BA03B6D5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4E038D-9B00-48FF-95F2-5BEFF1398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22</a:t>
            </a:fld>
            <a:endParaRPr lang="fr-BE"/>
          </a:p>
        </p:txBody>
      </p:sp>
      <p:pic>
        <p:nvPicPr>
          <p:cNvPr id="1026" name="Picture 2" descr="a man is standing in front of a blackboard and says `` i never see such math enthusiasm ''">
            <a:extLst>
              <a:ext uri="{FF2B5EF4-FFF2-40B4-BE49-F238E27FC236}">
                <a16:creationId xmlns:a16="http://schemas.microsoft.com/office/drawing/2014/main" id="{8A10ECD2-A0F5-429B-A961-A12138A71848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00" y="1607699"/>
            <a:ext cx="5540400" cy="405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80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4118823-AB3F-49B3-8511-B8F2F45F31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858297"/>
                <a:ext cx="8539273" cy="411647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a un univers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−3≤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≤6}</m:t>
                    </m:r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BE" dirty="0"/>
                  <a:t>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={−3,  −2,  −1,  0,  1,  2,  3,  4,  5,  6}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a 3 sous ensembles : </a:t>
                </a:r>
              </a:p>
              <a:p>
                <a:pPr marL="0" indent="0">
                  <a:buNone/>
                </a:pPr>
                <a:r>
                  <a:rPr lang="fr-BE" dirty="0"/>
                  <a:t>	1.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≥0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𝑒𝑠𝑡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𝑝𝑎𝑖𝑟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fr-FR" b="0" dirty="0"/>
              </a:p>
              <a:p>
                <a:pPr marL="0" indent="0">
                  <a:buNone/>
                </a:pPr>
                <a:r>
                  <a:rPr lang="fr-BE" dirty="0"/>
                  <a:t>	2.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fr-FR" i="1" dirty="0" err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≤2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	3.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≤9}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4118823-AB3F-49B3-8511-B8F2F45F31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858297"/>
                <a:ext cx="8539273" cy="4116476"/>
              </a:xfrm>
              <a:blipFill>
                <a:blip r:embed="rId2"/>
                <a:stretch>
                  <a:fillRect l="-1071" t="-192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BDB4F7C1-7F49-48CC-B78C-3B46EF9A6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03FFB3-FE6D-4CA7-94C7-17FB7D2C9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393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012F32C-1FCB-40EF-9E48-D2B29265A2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347019"/>
                <a:ext cx="8539273" cy="46277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1. Lister explicitement 𝐴,𝐵,𝐶.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2. Calculer: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)∩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3. Vérifier les relations d’inclusion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dirty="0"/>
                  <a:t>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dirty="0"/>
                  <a:t>?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4. Discuter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dirty="0"/>
                  <a:t>?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012F32C-1FCB-40EF-9E48-D2B29265A2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347019"/>
                <a:ext cx="8539273" cy="4627754"/>
              </a:xfrm>
              <a:blipFill>
                <a:blip r:embed="rId3"/>
                <a:stretch>
                  <a:fillRect l="-1071" t="-184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6776433E-18C8-4EB6-9A5A-85E33F87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A65A92-0DFF-444F-AE02-F56171986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29907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046136C-4DF8-488B-A343-DEA61664E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2133601"/>
                <a:ext cx="8539273" cy="38411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On considère l’alphabet binaire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={0,1}. 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BE" dirty="0"/>
                  <a:t>On définit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∣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≤2}. 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∣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𝑐𝑜𝑚𝑚𝑒𝑛𝑐𝑒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0}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∣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𝑡𝑒𝑟𝑚𝑖𝑛𝑒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 1}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046136C-4DF8-488B-A343-DEA61664E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2133601"/>
                <a:ext cx="8539273" cy="3841172"/>
              </a:xfrm>
              <a:blipFill>
                <a:blip r:embed="rId2"/>
                <a:stretch>
                  <a:fillRect l="-1071" t="-206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CC0E8EC4-C6A3-4398-AE70-64CC259C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E1E340-7D0B-4AE4-9ED5-30BB540B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80335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D18B73E-B18F-4A97-AF41-98904FC0E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06013"/>
                <a:ext cx="8539273" cy="45687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1. Lister (explicitement) tous les mots de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dirty="0"/>
                  <a:t>. Puis déterminer lesquels appartiennent aussi à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fr-FR" dirty="0"/>
                  <a:t>, et lesquels à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fr-FR" dirty="0"/>
                  <a:t>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2. Calculer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3. Décrire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fr-FR" dirty="0"/>
                  <a:t> : que signifie “commencer par 0 ou finir par 1” ?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4. Qu’est-ce que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fr-FR" dirty="0"/>
                  <a:t> ? Donner un exemple de mot qui y appartient et un exemple qui n’y appartient pas.</a:t>
                </a: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D18B73E-B18F-4A97-AF41-98904FC0E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06013"/>
                <a:ext cx="8539273" cy="4568760"/>
              </a:xfrm>
              <a:blipFill>
                <a:blip r:embed="rId2"/>
                <a:stretch>
                  <a:fillRect l="-1071" t="-173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579D3367-DBD7-4F32-9858-72190299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D62906-A6A0-4FDC-82D3-F72108689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7785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17BCE44-720E-4271-AB58-FEA54B8E4E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Sur l’ensemble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={1,2,3,4}, </m:t>
                    </m:r>
                  </m:oMath>
                </a14:m>
                <a:r>
                  <a:rPr lang="fr-BE" dirty="0"/>
                  <a:t>on définit la relation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fr-BE" dirty="0"/>
                  <a:t> par :</a:t>
                </a:r>
              </a:p>
              <a:p>
                <a:pPr marL="0" indent="0">
                  <a:buNone/>
                </a:pP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⟺(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2)=(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2).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1. Que signifie concrètement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2)=(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2).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2. Vérifier si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fr-BE" dirty="0"/>
                  <a:t> est réflexive, symétrique, transitive.</a:t>
                </a:r>
              </a:p>
              <a:p>
                <a:pPr marL="0" indent="0">
                  <a:buNone/>
                </a:pPr>
                <a:r>
                  <a:rPr lang="fr-BE" dirty="0"/>
                  <a:t>3. Conclure si ∼ définit une équivalence, un ordre partiel, ou aucun des deux.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17BCE44-720E-4271-AB58-FEA54B8E4E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B366FA0-A4FD-4E19-AA66-998234D9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3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038E3B-45D3-4484-96EC-7D0A2ED29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3156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0EF844C-5626-4F76-AD1C-9489D83F24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Soit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={1,2,3,4,6}. </m:t>
                    </m:r>
                  </m:oMath>
                </a14:m>
                <a:r>
                  <a:rPr lang="fr-FR" dirty="0"/>
                  <a:t>On définit la relation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fr-FR" dirty="0"/>
                  <a:t> par :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𝑎𝑅𝑏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𝑑𝑖𝑣𝑖𝑠𝑒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1. Écrire les couples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dirty="0"/>
                  <a:t>qui appartiennent à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fr-FR" dirty="0"/>
                  <a:t>. </a:t>
                </a:r>
              </a:p>
              <a:p>
                <a:pPr marL="0" indent="0">
                  <a:buNone/>
                </a:pPr>
                <a:r>
                  <a:rPr lang="fr-FR" dirty="0"/>
                  <a:t>2. Vérifier la réflexivité, antisymétrie, transitivité, symétrie.</a:t>
                </a:r>
              </a:p>
              <a:p>
                <a:pPr marL="0" indent="0">
                  <a:buNone/>
                </a:pPr>
                <a:r>
                  <a:rPr lang="fr-FR" dirty="0"/>
                  <a:t>3. Conclusion : Est-ce une relation d’équivalence ou un ordre partiel ? Justifier.</a:t>
                </a: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0EF844C-5626-4F76-AD1C-9489D83F24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71" t="-1943" r="-78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75046F6-F69A-4AC7-AABF-CE2D7AA9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F428FD-35D8-4E27-9C11-485C94193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8358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24B675A-859F-4320-9B0F-927B2FB92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BE4F727-81BC-46A8-8745-DC3EE3F56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7E3246-F5EF-4573-96A5-AFD3E071A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74165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3A35A36-59F9-4799-A09B-AA159486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7106DE-0879-469B-B0B9-A1D3AA632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30</a:t>
            </a:fld>
            <a:endParaRPr lang="fr-BE"/>
          </a:p>
        </p:txBody>
      </p:sp>
      <p:pic>
        <p:nvPicPr>
          <p:cNvPr id="3074" name="Picture 2" descr="a man in a blue tie dye sweatshirt says really long time ago">
            <a:extLst>
              <a:ext uri="{FF2B5EF4-FFF2-40B4-BE49-F238E27FC236}">
                <a16:creationId xmlns:a16="http://schemas.microsoft.com/office/drawing/2014/main" id="{D8121CB2-CE99-4074-8D7D-C1CAAF85A03D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632" y="1429390"/>
            <a:ext cx="4650735" cy="465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496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F77214F-6D84-46E2-B063-EEDEF1A19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Graphe orienté est représenté par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𝑎𝑣𝑒𝑐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𝑎𝑟𝑐</m:t>
                      </m:r>
                      <m:d>
                        <m:dPr>
                          <m:ctrlPr>
                            <a:rPr lang="fr-B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BE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BE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𝑑𝑎𝑛𝑠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𝑙𝑒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𝑔𝑟𝑎𝑝h𝑒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⟷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𝑐𝑜𝑢𝑝𝑙𝑒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𝑑𝑎𝑛𝑠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𝑟𝑒𝑙𝑎𝑡𝑖𝑜𝑛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peut vérifier les propriétés des relations dans les graphes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Exemples pratiques :</a:t>
                </a:r>
              </a:p>
              <a:p>
                <a:pPr marL="0" indent="0">
                  <a:buNone/>
                </a:pPr>
                <a:r>
                  <a:rPr lang="fr-BE" dirty="0"/>
                  <a:t>	- Réseau social</a:t>
                </a:r>
              </a:p>
              <a:p>
                <a:pPr marL="0" indent="0">
                  <a:buNone/>
                </a:pPr>
                <a:r>
                  <a:rPr lang="fr-BE" dirty="0"/>
                  <a:t>	- Accès à l’information</a:t>
                </a:r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F77214F-6D84-46E2-B063-EEDEF1A19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 b="-14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4AA196D-F24D-4E91-BF35-C8D752B4F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graphes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AA1681-B0EA-4C01-9F89-648F9A599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9917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3A33F33-1C02-476B-96B5-3B410E688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00EFF6D-051D-43D3-83DE-41A1DBC6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C9766A-F35B-4809-BD80-989D44860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2246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-de-presentation-HEHbe--Sciences-et-technologies--2020" id="{A498BD53-F83B-4021-AAB3-AA6C29EFDC9D}" vid="{7280D352-7A7E-41A1-9B4F-543AFC5CCCB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11729</TotalTime>
  <Words>1395</Words>
  <Application>Microsoft Office PowerPoint</Application>
  <PresentationFormat>Affichage à l'écran (4:3)</PresentationFormat>
  <Paragraphs>234</Paragraphs>
  <Slides>32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Cambria Math</vt:lpstr>
      <vt:lpstr>Roboto</vt:lpstr>
      <vt:lpstr>Roboto </vt:lpstr>
      <vt:lpstr>Roboto Condensed</vt:lpstr>
      <vt:lpstr>Thème Office</vt:lpstr>
      <vt:lpstr>Mathématiques appliquées à l'informatique</vt:lpstr>
      <vt:lpstr>Structures discrètes I : Ensembles, relations, logique de base</vt:lpstr>
      <vt:lpstr>Les ensembles</vt:lpstr>
      <vt:lpstr>Définition</vt:lpstr>
      <vt:lpstr>Inclusion</vt:lpstr>
      <vt:lpstr>Inclusion</vt:lpstr>
      <vt:lpstr>Intersection</vt:lpstr>
      <vt:lpstr>Union</vt:lpstr>
      <vt:lpstr>Exemple Python</vt:lpstr>
      <vt:lpstr>La différence</vt:lpstr>
      <vt:lpstr>Le complémenaire</vt:lpstr>
      <vt:lpstr>Produit cartésien</vt:lpstr>
      <vt:lpstr>Ensembles finis et infinis</vt:lpstr>
      <vt:lpstr>Récap’</vt:lpstr>
      <vt:lpstr>Les relations binaires</vt:lpstr>
      <vt:lpstr>Notions de base</vt:lpstr>
      <vt:lpstr>Exemples concrets</vt:lpstr>
      <vt:lpstr>Propriétés de base</vt:lpstr>
      <vt:lpstr>Propriétés de base</vt:lpstr>
      <vt:lpstr>Equivalence</vt:lpstr>
      <vt:lpstr>Relation d’ordre</vt:lpstr>
      <vt:lpstr>Exercices</vt:lpstr>
      <vt:lpstr>Exercice 1</vt:lpstr>
      <vt:lpstr>Exercice 1</vt:lpstr>
      <vt:lpstr>Exercice 2</vt:lpstr>
      <vt:lpstr>Exercice 2</vt:lpstr>
      <vt:lpstr>Exercice 3</vt:lpstr>
      <vt:lpstr>Exercice 4</vt:lpstr>
      <vt:lpstr>Présentation PowerPoint</vt:lpstr>
      <vt:lpstr>Présentation PowerPoint</vt:lpstr>
      <vt:lpstr>Les graphes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DEPRETER Johan</dc:creator>
  <cp:lastModifiedBy>DEPRETER Johan</cp:lastModifiedBy>
  <cp:revision>124</cp:revision>
  <dcterms:created xsi:type="dcterms:W3CDTF">2022-01-27T22:00:53Z</dcterms:created>
  <dcterms:modified xsi:type="dcterms:W3CDTF">2025-03-10T07:27:44Z</dcterms:modified>
</cp:coreProperties>
</file>